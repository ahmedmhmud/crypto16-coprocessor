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4" r:id="rId17"/>
    <p:sldId id="270" r:id="rId18"/>
    <p:sldId id="271" r:id="rId19"/>
    <p:sldId id="272" r:id="rId20"/>
  </p:sldIdLst>
  <p:sldSz cx="18288000" cy="10287000"/>
  <p:notesSz cx="6858000" cy="9144000"/>
  <p:embeddedFontLst>
    <p:embeddedFont>
      <p:font typeface="Antonio" panose="020B0604020202020204" charset="0"/>
      <p:regular r:id="rId22"/>
    </p:embeddedFont>
    <p:embeddedFont>
      <p:font typeface="Calibri (MS)" panose="020B0604020202020204" charset="0"/>
      <p:regular r:id="rId23"/>
    </p:embeddedFont>
    <p:embeddedFont>
      <p:font typeface="Calibri (MS) Bold" panose="020B0604020202020204" charset="0"/>
      <p:regular r:id="rId24"/>
    </p:embeddedFont>
    <p:embeddedFont>
      <p:font typeface="Calibri (MS) Bold Italics" panose="020B0604020202020204" charset="0"/>
      <p:regular r:id="rId25"/>
    </p:embeddedFont>
    <p:embeddedFont>
      <p:font typeface="Calibri (MS) Italics" panose="020B0604020202020204" charset="0"/>
      <p:regular r:id="rId26"/>
    </p:embeddedFont>
    <p:embeddedFont>
      <p:font typeface="Calibri (MS) Light" panose="020B0604020202020204" charset="0"/>
      <p:regular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Consolas Bold" panose="020B0709020204030204" pitchFamily="49" charset="0"/>
      <p:regular r:id="rId32"/>
      <p:bold r:id="rId33"/>
    </p:embeddedFont>
    <p:embeddedFont>
      <p:font typeface="Inter Bold" panose="020B0604020202020204" charset="0"/>
      <p:regular r:id="rId34"/>
    </p:embeddedFont>
    <p:embeddedFont>
      <p:font typeface="Inter Light Italics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8DFD-841F-B69F-8FDE-86EBB42F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EBC5CE-8618-1E01-C782-837B50DF09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1BFA0-245E-3E61-599E-993789A6B5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ECD4E62-3C6E-593B-61F6-2C6C5ABDC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6067D5-EA48-3586-7FEF-424936A40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B1F3C-DBE8-D17C-05F4-49CEDCEBE5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55772-6582-43F7-C040-171E2AACA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6982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6CCA-032B-8F7C-B9A4-FD6460ED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813596-85FD-1694-B828-AC09E1010D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833A8-B711-9B03-C460-84A52968BF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C8612C-F678-7F03-1288-34252E466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6DE1E9-E13E-1C2E-83B9-F3D7D0690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44C74-4B86-4A78-2698-591083C806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CC137-AFAE-9398-E0A3-254282D2F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795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244859" cy="10312403"/>
            <a:chOff x="0" y="0"/>
            <a:chExt cx="326479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92608" cy="13715999"/>
            </a:xfrm>
            <a:custGeom>
              <a:avLst/>
              <a:gdLst/>
              <a:ahLst/>
              <a:cxnLst/>
              <a:rect l="l" t="t" r="r" b="b"/>
              <a:pathLst>
                <a:path w="292608" h="13715999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26390" cy="13749782"/>
            </a:xfrm>
            <a:custGeom>
              <a:avLst/>
              <a:gdLst/>
              <a:ahLst/>
              <a:cxnLst/>
              <a:rect l="l" t="t" r="r" b="b"/>
              <a:pathLst>
                <a:path w="326390" h="13749782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0"/>
            <a:ext cx="16824960" cy="2900660"/>
            <a:chOff x="0" y="0"/>
            <a:chExt cx="22433280" cy="3867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33280" cy="3867547"/>
            </a:xfrm>
            <a:custGeom>
              <a:avLst/>
              <a:gdLst/>
              <a:ahLst/>
              <a:cxnLst/>
              <a:rect l="l" t="t" r="r" b="b"/>
              <a:pathLst>
                <a:path w="22433280" h="3867547">
                  <a:moveTo>
                    <a:pt x="0" y="0"/>
                  </a:moveTo>
                  <a:lnTo>
                    <a:pt x="22433280" y="0"/>
                  </a:lnTo>
                  <a:lnTo>
                    <a:pt x="22433280" y="3867547"/>
                  </a:lnTo>
                  <a:lnTo>
                    <a:pt x="0" y="38675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887" b="-5715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0"/>
              <a:ext cx="22433280" cy="41532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80"/>
                </a:lnSpc>
              </a:pPr>
              <a:r>
                <a:rPr lang="en-US" sz="1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Crypto16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1520" y="3383280"/>
            <a:ext cx="16824960" cy="2011680"/>
            <a:chOff x="0" y="0"/>
            <a:chExt cx="22433280" cy="2682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33280" cy="2682240"/>
            </a:xfrm>
            <a:custGeom>
              <a:avLst/>
              <a:gdLst/>
              <a:ahLst/>
              <a:cxnLst/>
              <a:rect l="l" t="t" r="r" b="b"/>
              <a:pathLst>
                <a:path w="22433280" h="2682240">
                  <a:moveTo>
                    <a:pt x="0" y="0"/>
                  </a:moveTo>
                  <a:lnTo>
                    <a:pt x="22433280" y="0"/>
                  </a:lnTo>
                  <a:lnTo>
                    <a:pt x="22433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965" b="-11296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09550"/>
              <a:ext cx="22433280" cy="2891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480"/>
                </a:lnSpc>
              </a:pPr>
              <a:r>
                <a:rPr lang="en-US" sz="10400">
                  <a:solidFill>
                    <a:srgbClr val="00C6D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Coprocessor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5577840"/>
            <a:ext cx="14630400" cy="1097280"/>
            <a:chOff x="0" y="0"/>
            <a:chExt cx="1950720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0" cy="1463040"/>
            </a:xfrm>
            <a:custGeom>
              <a:avLst/>
              <a:gdLst/>
              <a:ahLst/>
              <a:cxnLst/>
              <a:rect l="l" t="t" r="r" b="b"/>
              <a:pathLst>
                <a:path w="19507200" h="146304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950720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16-Bit Hardware Datapath for Cryptographic Operations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8823" y="6845303"/>
            <a:ext cx="10998203" cy="80267"/>
            <a:chOff x="0" y="0"/>
            <a:chExt cx="14664271" cy="107023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4630399" cy="73152"/>
            </a:xfrm>
            <a:custGeom>
              <a:avLst/>
              <a:gdLst/>
              <a:ahLst/>
              <a:cxnLst/>
              <a:rect l="l" t="t" r="r" b="b"/>
              <a:pathLst>
                <a:path w="14630399" h="73152">
                  <a:moveTo>
                    <a:pt x="0" y="0"/>
                  </a:moveTo>
                  <a:lnTo>
                    <a:pt x="14630399" y="0"/>
                  </a:lnTo>
                  <a:lnTo>
                    <a:pt x="146303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4664182" cy="106936"/>
            </a:xfrm>
            <a:custGeom>
              <a:avLst/>
              <a:gdLst/>
              <a:ahLst/>
              <a:cxnLst/>
              <a:rect l="l" t="t" r="r" b="b"/>
              <a:pathLst>
                <a:path w="14664182" h="106936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90043"/>
                  </a:lnTo>
                  <a:cubicBezTo>
                    <a:pt x="14664182" y="99441"/>
                    <a:pt x="14656563" y="106934"/>
                    <a:pt x="146472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4647290" y="73152"/>
                  </a:lnTo>
                  <a:lnTo>
                    <a:pt x="14647290" y="90043"/>
                  </a:lnTo>
                  <a:lnTo>
                    <a:pt x="14630400" y="900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31520" y="7223760"/>
            <a:ext cx="16824960" cy="731520"/>
            <a:chOff x="0" y="0"/>
            <a:chExt cx="22433280" cy="9753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433280" cy="975360"/>
            </a:xfrm>
            <a:custGeom>
              <a:avLst/>
              <a:gdLst/>
              <a:ahLst/>
              <a:cxnLst/>
              <a:rect l="l" t="t" r="r" b="b"/>
              <a:pathLst>
                <a:path w="22433280" h="97536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8155" b="-39815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43328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Course: CSE 226 — Hardware Design  |  Zagazig University — Faculty of Engineering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1520" y="8321040"/>
            <a:ext cx="16824960" cy="1097280"/>
            <a:chOff x="0" y="0"/>
            <a:chExt cx="2243328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433280" cy="1463040"/>
            </a:xfrm>
            <a:custGeom>
              <a:avLst/>
              <a:gdLst/>
              <a:ahLst/>
              <a:cxnLst/>
              <a:rect l="l" t="t" r="r" b="b"/>
              <a:pathLst>
                <a:path w="22433280" h="146304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24332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520"/>
                </a:lnSpc>
              </a:pPr>
              <a:r>
                <a:rPr lang="en-US" sz="2100" dirty="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Ahmed Mahmoud Abdel Fattah    •   Ibraheem Shaaban Abdel Nabi   </a:t>
              </a:r>
            </a:p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 Ahmed Abdel Fattah </a:t>
              </a:r>
              <a:r>
                <a:rPr lang="en-US" sz="2100" dirty="0" err="1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Elmallah</a:t>
              </a:r>
              <a:r>
                <a:rPr lang="en-US" sz="2100" dirty="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•   Ahmed Salah Abdel Majeed   </a:t>
              </a:r>
            </a:p>
            <a:p>
              <a:pPr>
                <a:lnSpc>
                  <a:spcPts val="2520"/>
                </a:lnSpc>
              </a:pPr>
              <a:r>
                <a:rPr lang="en-US" sz="2100" dirty="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 Ahmed Tharwat Salah                   •   Wateen Walid Mohamed Baree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87400" y="973835"/>
            <a:ext cx="4257037" cy="4257037"/>
            <a:chOff x="0" y="0"/>
            <a:chExt cx="5676049" cy="5676049"/>
          </a:xfrm>
        </p:grpSpPr>
        <p:sp>
          <p:nvSpPr>
            <p:cNvPr id="24" name="Freeform 24"/>
            <p:cNvSpPr/>
            <p:nvPr/>
          </p:nvSpPr>
          <p:spPr>
            <a:xfrm>
              <a:off x="33909" y="33909"/>
              <a:ext cx="5608320" cy="5608320"/>
            </a:xfrm>
            <a:custGeom>
              <a:avLst/>
              <a:gdLst/>
              <a:ahLst/>
              <a:cxnLst/>
              <a:rect l="l" t="t" r="r" b="b"/>
              <a:pathLst>
                <a:path w="5608320" h="5608320">
                  <a:moveTo>
                    <a:pt x="0" y="2804160"/>
                  </a:moveTo>
                  <a:cubicBezTo>
                    <a:pt x="0" y="1255522"/>
                    <a:pt x="1255522" y="0"/>
                    <a:pt x="2804160" y="0"/>
                  </a:cubicBezTo>
                  <a:cubicBezTo>
                    <a:pt x="4352798" y="0"/>
                    <a:pt x="5608320" y="1255522"/>
                    <a:pt x="5608320" y="2804160"/>
                  </a:cubicBezTo>
                  <a:cubicBezTo>
                    <a:pt x="5608320" y="4352798"/>
                    <a:pt x="4352798" y="5608320"/>
                    <a:pt x="2804160" y="5608320"/>
                  </a:cubicBezTo>
                  <a:cubicBezTo>
                    <a:pt x="1255522" y="5608320"/>
                    <a:pt x="0" y="4352798"/>
                    <a:pt x="0" y="2804160"/>
                  </a:cubicBez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5676011" cy="5676138"/>
            </a:xfrm>
            <a:custGeom>
              <a:avLst/>
              <a:gdLst/>
              <a:ahLst/>
              <a:cxnLst/>
              <a:rect l="l" t="t" r="r" b="b"/>
              <a:pathLst>
                <a:path w="5676011" h="5676138">
                  <a:moveTo>
                    <a:pt x="0" y="2838069"/>
                  </a:moveTo>
                  <a:cubicBezTo>
                    <a:pt x="0" y="1270635"/>
                    <a:pt x="1270635" y="0"/>
                    <a:pt x="2838069" y="0"/>
                  </a:cubicBezTo>
                  <a:lnTo>
                    <a:pt x="2838069" y="33909"/>
                  </a:lnTo>
                  <a:lnTo>
                    <a:pt x="2838069" y="0"/>
                  </a:lnTo>
                  <a:cubicBezTo>
                    <a:pt x="4405376" y="0"/>
                    <a:pt x="5676011" y="1270635"/>
                    <a:pt x="5676011" y="2838069"/>
                  </a:cubicBezTo>
                  <a:lnTo>
                    <a:pt x="5642102" y="2838069"/>
                  </a:lnTo>
                  <a:lnTo>
                    <a:pt x="5676011" y="2838069"/>
                  </a:lnTo>
                  <a:cubicBezTo>
                    <a:pt x="5676011" y="4405503"/>
                    <a:pt x="4405376" y="5676138"/>
                    <a:pt x="2837942" y="5676138"/>
                  </a:cubicBezTo>
                  <a:lnTo>
                    <a:pt x="2837942" y="5642229"/>
                  </a:lnTo>
                  <a:lnTo>
                    <a:pt x="2837942" y="5676138"/>
                  </a:lnTo>
                  <a:cubicBezTo>
                    <a:pt x="1270635" y="5676011"/>
                    <a:pt x="0" y="4405376"/>
                    <a:pt x="0" y="2838069"/>
                  </a:cubicBezTo>
                  <a:lnTo>
                    <a:pt x="33909" y="2838069"/>
                  </a:lnTo>
                  <a:lnTo>
                    <a:pt x="67691" y="2838069"/>
                  </a:lnTo>
                  <a:lnTo>
                    <a:pt x="33909" y="2838069"/>
                  </a:lnTo>
                  <a:lnTo>
                    <a:pt x="0" y="2838069"/>
                  </a:lnTo>
                  <a:moveTo>
                    <a:pt x="67691" y="2838069"/>
                  </a:moveTo>
                  <a:cubicBezTo>
                    <a:pt x="67691" y="2856738"/>
                    <a:pt x="52578" y="2871978"/>
                    <a:pt x="33782" y="2871978"/>
                  </a:cubicBezTo>
                  <a:cubicBezTo>
                    <a:pt x="14986" y="2871978"/>
                    <a:pt x="0" y="2856738"/>
                    <a:pt x="0" y="2838069"/>
                  </a:cubicBezTo>
                  <a:cubicBezTo>
                    <a:pt x="0" y="2819400"/>
                    <a:pt x="15113" y="2804160"/>
                    <a:pt x="33909" y="2804160"/>
                  </a:cubicBezTo>
                  <a:cubicBezTo>
                    <a:pt x="52705" y="2804160"/>
                    <a:pt x="67818" y="2819273"/>
                    <a:pt x="67818" y="2838069"/>
                  </a:cubicBezTo>
                  <a:cubicBezTo>
                    <a:pt x="67818" y="4368038"/>
                    <a:pt x="1308100" y="5608320"/>
                    <a:pt x="2838069" y="5608320"/>
                  </a:cubicBezTo>
                  <a:cubicBezTo>
                    <a:pt x="4368038" y="5608320"/>
                    <a:pt x="5608320" y="4368038"/>
                    <a:pt x="5608320" y="2838069"/>
                  </a:cubicBezTo>
                  <a:cubicBezTo>
                    <a:pt x="5608320" y="1308100"/>
                    <a:pt x="4368038" y="67818"/>
                    <a:pt x="2838069" y="67818"/>
                  </a:cubicBezTo>
                  <a:lnTo>
                    <a:pt x="2838069" y="33909"/>
                  </a:lnTo>
                  <a:lnTo>
                    <a:pt x="2838069" y="67691"/>
                  </a:lnTo>
                  <a:cubicBezTo>
                    <a:pt x="1307973" y="67691"/>
                    <a:pt x="67691" y="1307973"/>
                    <a:pt x="67691" y="2838069"/>
                  </a:cubicBez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462064" y="2468880"/>
            <a:ext cx="4295012" cy="1213597"/>
            <a:chOff x="-1070101" y="0"/>
            <a:chExt cx="5726683" cy="1618129"/>
          </a:xfrm>
        </p:grpSpPr>
        <p:sp>
          <p:nvSpPr>
            <p:cNvPr id="27" name="Freeform 27"/>
            <p:cNvSpPr/>
            <p:nvPr/>
          </p:nvSpPr>
          <p:spPr>
            <a:xfrm>
              <a:off x="-1070101" y="0"/>
              <a:ext cx="5608320" cy="1463040"/>
            </a:xfrm>
            <a:custGeom>
              <a:avLst/>
              <a:gdLst/>
              <a:ahLst/>
              <a:cxnLst/>
              <a:rect l="l" t="t" r="r" b="b"/>
              <a:pathLst>
                <a:path w="5608320" h="146304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-951738" y="78889"/>
              <a:ext cx="5608320" cy="1539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VHDL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48640"/>
            <a:ext cx="16459200" cy="1371600"/>
            <a:chOff x="0" y="0"/>
            <a:chExt cx="21945600" cy="182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828800"/>
            </a:xfrm>
            <a:custGeom>
              <a:avLst/>
              <a:gdLst/>
              <a:ahLst/>
              <a:cxnLst/>
              <a:rect l="l" t="t" r="r" b="b"/>
              <a:pathLst>
                <a:path w="21945600" h="18288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21945600" cy="198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120"/>
                </a:lnSpc>
              </a:pPr>
              <a:r>
                <a:rPr lang="en-US" sz="7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99898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01703" y="2273303"/>
            <a:ext cx="8072123" cy="1525019"/>
            <a:chOff x="0" y="0"/>
            <a:chExt cx="10762831" cy="203335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2273303"/>
            <a:ext cx="939803" cy="1525019"/>
            <a:chOff x="0" y="0"/>
            <a:chExt cx="1253071" cy="20333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14400" y="2468880"/>
            <a:ext cx="914400" cy="1097280"/>
            <a:chOff x="0" y="0"/>
            <a:chExt cx="1219200" cy="1463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75104" y="2359152"/>
            <a:ext cx="6858000" cy="658368"/>
            <a:chOff x="0" y="0"/>
            <a:chExt cx="9144000" cy="8778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75104" y="3054096"/>
            <a:ext cx="6858000" cy="585216"/>
            <a:chOff x="0" y="0"/>
            <a:chExt cx="914400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do we need a crypto coprocessor?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14183" y="2273303"/>
            <a:ext cx="8072123" cy="1525019"/>
            <a:chOff x="0" y="0"/>
            <a:chExt cx="10762831" cy="203335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314183" y="2273303"/>
            <a:ext cx="939803" cy="1525019"/>
            <a:chOff x="0" y="0"/>
            <a:chExt cx="1253071" cy="203335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326880" y="2468880"/>
            <a:ext cx="914400" cy="1097280"/>
            <a:chOff x="0" y="0"/>
            <a:chExt cx="121920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87584" y="2359152"/>
            <a:ext cx="6858000" cy="658368"/>
            <a:chOff x="0" y="0"/>
            <a:chExt cx="9144000" cy="8778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87584" y="3054096"/>
            <a:ext cx="6858000" cy="585216"/>
            <a:chOff x="0" y="0"/>
            <a:chExt cx="9144000" cy="7802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 picture — how all blocks connect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4047239"/>
            <a:ext cx="8072123" cy="1525019"/>
            <a:chOff x="0" y="0"/>
            <a:chExt cx="10762831" cy="203335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01703" y="4047239"/>
            <a:ext cx="939803" cy="1525019"/>
            <a:chOff x="0" y="0"/>
            <a:chExt cx="1253071" cy="2033359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14400" y="4242816"/>
            <a:ext cx="914400" cy="1097280"/>
            <a:chOff x="0" y="0"/>
            <a:chExt cx="1219200" cy="14630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975104" y="4133088"/>
            <a:ext cx="6858000" cy="658368"/>
            <a:chOff x="0" y="0"/>
            <a:chExt cx="9144000" cy="87782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Unit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75104" y="4828032"/>
            <a:ext cx="6858000" cy="585216"/>
            <a:chOff x="0" y="0"/>
            <a:chExt cx="9144000" cy="7802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brain: decoding 4-bit CTRL signals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314183" y="4047239"/>
            <a:ext cx="8072123" cy="1525019"/>
            <a:chOff x="0" y="0"/>
            <a:chExt cx="10762831" cy="2033359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314183" y="4047239"/>
            <a:ext cx="939803" cy="1525019"/>
            <a:chOff x="0" y="0"/>
            <a:chExt cx="1253071" cy="2033359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326880" y="4242816"/>
            <a:ext cx="914400" cy="1097280"/>
            <a:chOff x="0" y="0"/>
            <a:chExt cx="1219200" cy="14630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387584" y="4133088"/>
            <a:ext cx="6858000" cy="658368"/>
            <a:chOff x="0" y="0"/>
            <a:chExt cx="9144000" cy="87782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387584" y="4828032"/>
            <a:ext cx="6858000" cy="585216"/>
            <a:chOff x="0" y="0"/>
            <a:chExt cx="9144000" cy="78028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arithmetic &amp; logic operations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01703" y="5821175"/>
            <a:ext cx="8072123" cy="1525019"/>
            <a:chOff x="0" y="0"/>
            <a:chExt cx="10762831" cy="2033359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01703" y="5821175"/>
            <a:ext cx="939803" cy="1525019"/>
            <a:chOff x="0" y="0"/>
            <a:chExt cx="1253071" cy="2033359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914400" y="6016752"/>
            <a:ext cx="914400" cy="1097280"/>
            <a:chOff x="0" y="0"/>
            <a:chExt cx="1219200" cy="14630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975104" y="5907024"/>
            <a:ext cx="6858000" cy="658368"/>
            <a:chOff x="0" y="0"/>
            <a:chExt cx="9144000" cy="87782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Shifter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975104" y="6601968"/>
            <a:ext cx="6858000" cy="585216"/>
            <a:chOff x="0" y="0"/>
            <a:chExt cx="9144000" cy="78028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ROR8, ROR4, SLL8 transformations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314183" y="5821175"/>
            <a:ext cx="8072123" cy="1525019"/>
            <a:chOff x="0" y="0"/>
            <a:chExt cx="10762831" cy="2033359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9314183" y="5821175"/>
            <a:ext cx="939803" cy="1525019"/>
            <a:chOff x="0" y="0"/>
            <a:chExt cx="1253071" cy="2033359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9326880" y="6016752"/>
            <a:ext cx="914400" cy="1097280"/>
            <a:chOff x="0" y="0"/>
            <a:chExt cx="1219200" cy="14630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387584" y="5907024"/>
            <a:ext cx="6858000" cy="658368"/>
            <a:chOff x="0" y="0"/>
            <a:chExt cx="9144000" cy="87782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Nonlinear LUT (S-Box)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387584" y="6601968"/>
            <a:ext cx="6858000" cy="585216"/>
            <a:chOff x="0" y="0"/>
            <a:chExt cx="9144000" cy="78028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heart of cryptographic security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1703" y="7595111"/>
            <a:ext cx="8072123" cy="1525019"/>
            <a:chOff x="0" y="0"/>
            <a:chExt cx="10762831" cy="2033359"/>
          </a:xfrm>
        </p:grpSpPr>
        <p:sp>
          <p:nvSpPr>
            <p:cNvPr id="99" name="Freeform 99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901703" y="7595111"/>
            <a:ext cx="939803" cy="1525019"/>
            <a:chOff x="0" y="0"/>
            <a:chExt cx="1253071" cy="2033359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914400" y="7790688"/>
            <a:ext cx="914400" cy="1097280"/>
            <a:chOff x="0" y="0"/>
            <a:chExt cx="1219200" cy="14630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975104" y="7680960"/>
            <a:ext cx="6858000" cy="658368"/>
            <a:chOff x="0" y="0"/>
            <a:chExt cx="9144000" cy="877824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Combinational Block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975104" y="8375904"/>
            <a:ext cx="6858000" cy="585216"/>
            <a:chOff x="0" y="0"/>
            <a:chExt cx="9144000" cy="78028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MUX, result selection &amp; integration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314183" y="7595111"/>
            <a:ext cx="8072123" cy="1525019"/>
            <a:chOff x="0" y="0"/>
            <a:chExt cx="10762831" cy="2033359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10728960" cy="1999488"/>
            </a:xfrm>
            <a:custGeom>
              <a:avLst/>
              <a:gdLst/>
              <a:ahLst/>
              <a:cxnLst/>
              <a:rect l="l" t="t" r="r" b="b"/>
              <a:pathLst>
                <a:path w="10728960" h="1999488">
                  <a:moveTo>
                    <a:pt x="0" y="0"/>
                  </a:moveTo>
                  <a:lnTo>
                    <a:pt x="10728960" y="0"/>
                  </a:lnTo>
                  <a:lnTo>
                    <a:pt x="10728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10762742" cy="2033270"/>
            </a:xfrm>
            <a:custGeom>
              <a:avLst/>
              <a:gdLst/>
              <a:ahLst/>
              <a:cxnLst/>
              <a:rect l="l" t="t" r="r" b="b"/>
              <a:pathLst>
                <a:path w="10762742" h="2033270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16379"/>
                  </a:lnTo>
                  <a:cubicBezTo>
                    <a:pt x="10762742" y="2025777"/>
                    <a:pt x="10755122" y="2033270"/>
                    <a:pt x="10745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745851" y="1999488"/>
                  </a:lnTo>
                  <a:lnTo>
                    <a:pt x="10745851" y="2016379"/>
                  </a:lnTo>
                  <a:lnTo>
                    <a:pt x="10728960" y="20163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9314183" y="7595111"/>
            <a:ext cx="939803" cy="1525019"/>
            <a:chOff x="0" y="0"/>
            <a:chExt cx="1253071" cy="2033359"/>
          </a:xfrm>
        </p:grpSpPr>
        <p:sp>
          <p:nvSpPr>
            <p:cNvPr id="117" name="Freeform 117"/>
            <p:cNvSpPr/>
            <p:nvPr/>
          </p:nvSpPr>
          <p:spPr>
            <a:xfrm>
              <a:off x="16891" y="16891"/>
              <a:ext cx="1219200" cy="1999488"/>
            </a:xfrm>
            <a:custGeom>
              <a:avLst/>
              <a:gdLst/>
              <a:ahLst/>
              <a:cxnLst/>
              <a:rect l="l" t="t" r="r" b="b"/>
              <a:pathLst>
                <a:path w="1219200" h="1999488">
                  <a:moveTo>
                    <a:pt x="0" y="0"/>
                  </a:moveTo>
                  <a:lnTo>
                    <a:pt x="1219200" y="0"/>
                  </a:lnTo>
                  <a:lnTo>
                    <a:pt x="12192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1252982" cy="2033270"/>
            </a:xfrm>
            <a:custGeom>
              <a:avLst/>
              <a:gdLst/>
              <a:ahLst/>
              <a:cxnLst/>
              <a:rect l="l" t="t" r="r" b="b"/>
              <a:pathLst>
                <a:path w="1252982" h="203327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2016379"/>
                  </a:lnTo>
                  <a:cubicBezTo>
                    <a:pt x="1252982" y="2025777"/>
                    <a:pt x="1245362" y="2033270"/>
                    <a:pt x="12360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236091" y="1999488"/>
                  </a:lnTo>
                  <a:lnTo>
                    <a:pt x="1236091" y="2016379"/>
                  </a:lnTo>
                  <a:lnTo>
                    <a:pt x="1219200" y="201637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9326880" y="7790688"/>
            <a:ext cx="914400" cy="1097280"/>
            <a:chOff x="0" y="0"/>
            <a:chExt cx="1219200" cy="146304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57150"/>
              <a:ext cx="12192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0387584" y="7680960"/>
            <a:ext cx="6858000" cy="658368"/>
            <a:chOff x="0" y="0"/>
            <a:chExt cx="9144000" cy="87782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9144000" cy="877824"/>
            </a:xfrm>
            <a:custGeom>
              <a:avLst/>
              <a:gdLst/>
              <a:ahLst/>
              <a:cxnLst/>
              <a:rect l="l" t="t" r="r" b="b"/>
              <a:pathLst>
                <a:path w="9144000" h="877824">
                  <a:moveTo>
                    <a:pt x="0" y="0"/>
                  </a:moveTo>
                  <a:lnTo>
                    <a:pt x="9144000" y="0"/>
                  </a:lnTo>
                  <a:lnTo>
                    <a:pt x="9144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969" b="-152969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57150"/>
              <a:ext cx="91440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&amp; Testing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387584" y="8375904"/>
            <a:ext cx="6858000" cy="585216"/>
            <a:chOff x="0" y="0"/>
            <a:chExt cx="9144000" cy="78028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9144000" cy="780288"/>
            </a:xfrm>
            <a:custGeom>
              <a:avLst/>
              <a:gdLst/>
              <a:ahLst/>
              <a:cxnLst/>
              <a:rect l="l" t="t" r="r" b="b"/>
              <a:pathLst>
                <a:path w="9144000" h="780288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340" b="-178340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Verification strategy &amp; waveforms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371600"/>
            <a:chOff x="0" y="0"/>
            <a:chExt cx="21945600" cy="182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828800"/>
            </a:xfrm>
            <a:custGeom>
              <a:avLst/>
              <a:gdLst/>
              <a:ahLst/>
              <a:cxnLst/>
              <a:rect l="l" t="t" r="r" b="b"/>
              <a:pathLst>
                <a:path w="21945600" h="18288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971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a Crypto Coprocessor?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81610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01703" y="2181863"/>
            <a:ext cx="5328923" cy="6974843"/>
            <a:chOff x="0" y="0"/>
            <a:chExt cx="7105231" cy="929979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7071360" cy="9265920"/>
            </a:xfrm>
            <a:custGeom>
              <a:avLst/>
              <a:gdLst/>
              <a:ahLst/>
              <a:cxnLst/>
              <a:rect l="l" t="t" r="r" b="b"/>
              <a:pathLst>
                <a:path w="7071360" h="9265920">
                  <a:moveTo>
                    <a:pt x="0" y="0"/>
                  </a:moveTo>
                  <a:lnTo>
                    <a:pt x="7071360" y="0"/>
                  </a:lnTo>
                  <a:lnTo>
                    <a:pt x="70713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105142" cy="9299701"/>
            </a:xfrm>
            <a:custGeom>
              <a:avLst/>
              <a:gdLst/>
              <a:ahLst/>
              <a:cxnLst/>
              <a:rect l="l" t="t" r="r" b="b"/>
              <a:pathLst>
                <a:path w="7105142" h="9299701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282811"/>
                  </a:lnTo>
                  <a:cubicBezTo>
                    <a:pt x="7105142" y="9292209"/>
                    <a:pt x="7097522" y="9299701"/>
                    <a:pt x="708825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088251" y="9265920"/>
                  </a:lnTo>
                  <a:lnTo>
                    <a:pt x="7088251" y="9282811"/>
                  </a:lnTo>
                  <a:lnTo>
                    <a:pt x="7071360" y="92828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2181863"/>
            <a:ext cx="5328923" cy="153419"/>
            <a:chOff x="0" y="0"/>
            <a:chExt cx="710523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170688"/>
            </a:xfrm>
            <a:custGeom>
              <a:avLst/>
              <a:gdLst/>
              <a:ahLst/>
              <a:cxnLst/>
              <a:rect l="l" t="t" r="r" b="b"/>
              <a:pathLst>
                <a:path w="7071360" h="170688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204472"/>
            </a:xfrm>
            <a:custGeom>
              <a:avLst/>
              <a:gdLst/>
              <a:ahLst/>
              <a:cxnLst/>
              <a:rect l="l" t="t" r="r" b="b"/>
              <a:pathLst>
                <a:path w="7105142" h="20447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14400" y="2468880"/>
            <a:ext cx="5303520" cy="1463040"/>
            <a:chOff x="0" y="0"/>
            <a:chExt cx="7071360" cy="1950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71360" cy="1950720"/>
            </a:xfrm>
            <a:custGeom>
              <a:avLst/>
              <a:gdLst/>
              <a:ahLst/>
              <a:cxnLst/>
              <a:rect l="l" t="t" r="r" b="b"/>
              <a:pathLst>
                <a:path w="7071360" h="195072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3" b="-2063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42875"/>
              <a:ext cx="7071360" cy="2093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8720" y="4023360"/>
            <a:ext cx="4754880" cy="1097280"/>
            <a:chOff x="0" y="0"/>
            <a:chExt cx="633984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 CPUs Are Slow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8720" y="5303520"/>
            <a:ext cx="4754880" cy="3474720"/>
            <a:chOff x="0" y="0"/>
            <a:chExt cx="6339840" cy="4632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39840" cy="4632960"/>
            </a:xfrm>
            <a:custGeom>
              <a:avLst/>
              <a:gdLst/>
              <a:ahLst/>
              <a:cxnLst/>
              <a:rect l="l" t="t" r="r" b="b"/>
              <a:pathLst>
                <a:path w="6339840" h="4632960">
                  <a:moveTo>
                    <a:pt x="0" y="0"/>
                  </a:moveTo>
                  <a:lnTo>
                    <a:pt x="6339840" y="0"/>
                  </a:lnTo>
                  <a:lnTo>
                    <a:pt x="633984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r="-4376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339840" cy="467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processors handle encryption in software — slow, power-hungry, and exposed to timing attacks.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98999" y="2181863"/>
            <a:ext cx="5328923" cy="6974843"/>
            <a:chOff x="0" y="0"/>
            <a:chExt cx="7105231" cy="929979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7071360" cy="9265920"/>
            </a:xfrm>
            <a:custGeom>
              <a:avLst/>
              <a:gdLst/>
              <a:ahLst/>
              <a:cxnLst/>
              <a:rect l="l" t="t" r="r" b="b"/>
              <a:pathLst>
                <a:path w="7071360" h="9265920">
                  <a:moveTo>
                    <a:pt x="0" y="0"/>
                  </a:moveTo>
                  <a:lnTo>
                    <a:pt x="7071360" y="0"/>
                  </a:lnTo>
                  <a:lnTo>
                    <a:pt x="70713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7105142" cy="9299701"/>
            </a:xfrm>
            <a:custGeom>
              <a:avLst/>
              <a:gdLst/>
              <a:ahLst/>
              <a:cxnLst/>
              <a:rect l="l" t="t" r="r" b="b"/>
              <a:pathLst>
                <a:path w="7105142" h="9299701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282811"/>
                  </a:lnTo>
                  <a:cubicBezTo>
                    <a:pt x="7105142" y="9292209"/>
                    <a:pt x="7097522" y="9299701"/>
                    <a:pt x="708825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088251" y="9265920"/>
                  </a:lnTo>
                  <a:lnTo>
                    <a:pt x="7088251" y="9282811"/>
                  </a:lnTo>
                  <a:lnTo>
                    <a:pt x="7071360" y="92828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698999" y="2181863"/>
            <a:ext cx="5328923" cy="153419"/>
            <a:chOff x="0" y="0"/>
            <a:chExt cx="7105231" cy="20455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071360" cy="170688"/>
            </a:xfrm>
            <a:custGeom>
              <a:avLst/>
              <a:gdLst/>
              <a:ahLst/>
              <a:cxnLst/>
              <a:rect l="l" t="t" r="r" b="b"/>
              <a:pathLst>
                <a:path w="7071360" h="170688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105142" cy="204472"/>
            </a:xfrm>
            <a:custGeom>
              <a:avLst/>
              <a:gdLst/>
              <a:ahLst/>
              <a:cxnLst/>
              <a:rect l="l" t="t" r="r" b="b"/>
              <a:pathLst>
                <a:path w="7105142" h="20447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711696" y="2468880"/>
            <a:ext cx="5303520" cy="1463040"/>
            <a:chOff x="0" y="0"/>
            <a:chExt cx="7071360" cy="1950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071360" cy="1950720"/>
            </a:xfrm>
            <a:custGeom>
              <a:avLst/>
              <a:gdLst/>
              <a:ahLst/>
              <a:cxnLst/>
              <a:rect l="l" t="t" r="r" b="b"/>
              <a:pathLst>
                <a:path w="7071360" h="195072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3" b="-2063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42875"/>
              <a:ext cx="7071360" cy="2093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986016" y="4023360"/>
            <a:ext cx="4754880" cy="1097280"/>
            <a:chOff x="0" y="0"/>
            <a:chExt cx="6339840" cy="14630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Needs Hardware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86016" y="5303520"/>
            <a:ext cx="4754880" cy="3474720"/>
            <a:chOff x="0" y="0"/>
            <a:chExt cx="6339840" cy="46329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39840" cy="4632960"/>
            </a:xfrm>
            <a:custGeom>
              <a:avLst/>
              <a:gdLst/>
              <a:ahLst/>
              <a:cxnLst/>
              <a:rect l="l" t="t" r="r" b="b"/>
              <a:pathLst>
                <a:path w="6339840" h="4632960">
                  <a:moveTo>
                    <a:pt x="0" y="0"/>
                  </a:moveTo>
                  <a:lnTo>
                    <a:pt x="6339840" y="0"/>
                  </a:lnTo>
                  <a:lnTo>
                    <a:pt x="633984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r="-4376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339840" cy="467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Dedicated hardware keeps keys isolated, executes in constant time, and resists side-channel attacks.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496295" y="2181863"/>
            <a:ext cx="5328923" cy="6974843"/>
            <a:chOff x="0" y="0"/>
            <a:chExt cx="7105231" cy="929979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7071360" cy="9265920"/>
            </a:xfrm>
            <a:custGeom>
              <a:avLst/>
              <a:gdLst/>
              <a:ahLst/>
              <a:cxnLst/>
              <a:rect l="l" t="t" r="r" b="b"/>
              <a:pathLst>
                <a:path w="7071360" h="9265920">
                  <a:moveTo>
                    <a:pt x="0" y="0"/>
                  </a:moveTo>
                  <a:lnTo>
                    <a:pt x="7071360" y="0"/>
                  </a:lnTo>
                  <a:lnTo>
                    <a:pt x="70713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105142" cy="9299701"/>
            </a:xfrm>
            <a:custGeom>
              <a:avLst/>
              <a:gdLst/>
              <a:ahLst/>
              <a:cxnLst/>
              <a:rect l="l" t="t" r="r" b="b"/>
              <a:pathLst>
                <a:path w="7105142" h="9299701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282811"/>
                  </a:lnTo>
                  <a:cubicBezTo>
                    <a:pt x="7105142" y="9292209"/>
                    <a:pt x="7097522" y="9299701"/>
                    <a:pt x="708825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088251" y="9265920"/>
                  </a:lnTo>
                  <a:lnTo>
                    <a:pt x="7088251" y="9282811"/>
                  </a:lnTo>
                  <a:lnTo>
                    <a:pt x="7071360" y="92828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496295" y="2181863"/>
            <a:ext cx="5328923" cy="153419"/>
            <a:chOff x="0" y="0"/>
            <a:chExt cx="7105231" cy="204559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7071360" cy="170688"/>
            </a:xfrm>
            <a:custGeom>
              <a:avLst/>
              <a:gdLst/>
              <a:ahLst/>
              <a:cxnLst/>
              <a:rect l="l" t="t" r="r" b="b"/>
              <a:pathLst>
                <a:path w="7071360" h="170688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7105142" cy="204472"/>
            </a:xfrm>
            <a:custGeom>
              <a:avLst/>
              <a:gdLst/>
              <a:ahLst/>
              <a:cxnLst/>
              <a:rect l="l" t="t" r="r" b="b"/>
              <a:pathLst>
                <a:path w="7105142" h="20447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508992" y="2468880"/>
            <a:ext cx="5303520" cy="1463040"/>
            <a:chOff x="0" y="0"/>
            <a:chExt cx="7071360" cy="1950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071360" cy="1950720"/>
            </a:xfrm>
            <a:custGeom>
              <a:avLst/>
              <a:gdLst/>
              <a:ahLst/>
              <a:cxnLst/>
              <a:rect l="l" t="t" r="r" b="b"/>
              <a:pathLst>
                <a:path w="7071360" h="195072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3" b="-2063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42875"/>
              <a:ext cx="7071360" cy="2093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783312" y="4023360"/>
            <a:ext cx="4754880" cy="1097280"/>
            <a:chOff x="0" y="0"/>
            <a:chExt cx="6339840" cy="14630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Solution: Crypto16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783312" y="5303520"/>
            <a:ext cx="4754880" cy="3474720"/>
            <a:chOff x="0" y="0"/>
            <a:chExt cx="6339840" cy="46329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39840" cy="4632960"/>
            </a:xfrm>
            <a:custGeom>
              <a:avLst/>
              <a:gdLst/>
              <a:ahLst/>
              <a:cxnLst/>
              <a:rect l="l" t="t" r="r" b="b"/>
              <a:pathLst>
                <a:path w="6339840" h="4632960">
                  <a:moveTo>
                    <a:pt x="0" y="0"/>
                  </a:moveTo>
                  <a:lnTo>
                    <a:pt x="6339840" y="0"/>
                  </a:lnTo>
                  <a:lnTo>
                    <a:pt x="633984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r="-4376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339840" cy="467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16-bit coprocessor in VHDL that handles ALU operations, bit shifts, and S-Box substitution in one integrated datapath.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4400" y="9418320"/>
            <a:ext cx="16459200" cy="548640"/>
            <a:chOff x="0" y="0"/>
            <a:chExt cx="21945600" cy="7315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Implemented entirely in VHDL  •  Modular design  •  Full testbench suite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56211" y="4055262"/>
            <a:ext cx="3161391" cy="1815536"/>
            <a:chOff x="0" y="0"/>
            <a:chExt cx="5312495" cy="3050881"/>
          </a:xfrm>
        </p:grpSpPr>
        <p:sp>
          <p:nvSpPr>
            <p:cNvPr id="9" name="Freeform 9"/>
            <p:cNvSpPr/>
            <p:nvPr/>
          </p:nvSpPr>
          <p:spPr>
            <a:xfrm>
              <a:off x="22859" y="34512"/>
              <a:ext cx="5266776" cy="2981857"/>
            </a:xfrm>
            <a:custGeom>
              <a:avLst/>
              <a:gdLst/>
              <a:ahLst/>
              <a:cxnLst/>
              <a:rect l="l" t="t" r="r" b="b"/>
              <a:pathLst>
                <a:path w="5266776" h="2981857">
                  <a:moveTo>
                    <a:pt x="0" y="0"/>
                  </a:moveTo>
                  <a:lnTo>
                    <a:pt x="5266777" y="0"/>
                  </a:lnTo>
                  <a:lnTo>
                    <a:pt x="5266777" y="2981857"/>
                  </a:lnTo>
                  <a:lnTo>
                    <a:pt x="0" y="2981857"/>
                  </a:lnTo>
                  <a:close/>
                </a:path>
              </a:pathLst>
            </a:custGeom>
            <a:solidFill>
              <a:srgbClr val="4A607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312495" cy="3050881"/>
            </a:xfrm>
            <a:custGeom>
              <a:avLst/>
              <a:gdLst/>
              <a:ahLst/>
              <a:cxnLst/>
              <a:rect l="l" t="t" r="r" b="b"/>
              <a:pathLst>
                <a:path w="5312495" h="3050881">
                  <a:moveTo>
                    <a:pt x="22859" y="0"/>
                  </a:moveTo>
                  <a:lnTo>
                    <a:pt x="5289636" y="0"/>
                  </a:lnTo>
                  <a:cubicBezTo>
                    <a:pt x="5302209" y="0"/>
                    <a:pt x="5312495" y="15531"/>
                    <a:pt x="5312495" y="34512"/>
                  </a:cubicBezTo>
                  <a:lnTo>
                    <a:pt x="5312495" y="3016369"/>
                  </a:lnTo>
                  <a:cubicBezTo>
                    <a:pt x="5312495" y="3035351"/>
                    <a:pt x="5302209" y="3050881"/>
                    <a:pt x="5289636" y="3050881"/>
                  </a:cubicBezTo>
                  <a:lnTo>
                    <a:pt x="22859" y="3050881"/>
                  </a:lnTo>
                  <a:cubicBezTo>
                    <a:pt x="10287" y="3050881"/>
                    <a:pt x="0" y="3035351"/>
                    <a:pt x="0" y="3016369"/>
                  </a:cubicBezTo>
                  <a:lnTo>
                    <a:pt x="0" y="34512"/>
                  </a:lnTo>
                  <a:cubicBezTo>
                    <a:pt x="0" y="15531"/>
                    <a:pt x="10287" y="0"/>
                    <a:pt x="22859" y="0"/>
                  </a:cubicBezTo>
                  <a:moveTo>
                    <a:pt x="22859" y="69024"/>
                  </a:moveTo>
                  <a:lnTo>
                    <a:pt x="22859" y="34512"/>
                  </a:lnTo>
                  <a:lnTo>
                    <a:pt x="45719" y="34512"/>
                  </a:lnTo>
                  <a:lnTo>
                    <a:pt x="45719" y="3016369"/>
                  </a:lnTo>
                  <a:lnTo>
                    <a:pt x="22859" y="3016369"/>
                  </a:lnTo>
                  <a:lnTo>
                    <a:pt x="22859" y="2981857"/>
                  </a:lnTo>
                  <a:lnTo>
                    <a:pt x="5289636" y="2981857"/>
                  </a:lnTo>
                  <a:lnTo>
                    <a:pt x="5289636" y="3016369"/>
                  </a:lnTo>
                  <a:lnTo>
                    <a:pt x="5266777" y="3016369"/>
                  </a:lnTo>
                  <a:lnTo>
                    <a:pt x="5266777" y="34512"/>
                  </a:lnTo>
                  <a:lnTo>
                    <a:pt x="5289636" y="34512"/>
                  </a:lnTo>
                  <a:lnTo>
                    <a:pt x="5289636" y="69024"/>
                  </a:lnTo>
                  <a:lnTo>
                    <a:pt x="22859" y="69024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44535" y="4079955"/>
            <a:ext cx="3177259" cy="1790844"/>
            <a:chOff x="0" y="0"/>
            <a:chExt cx="5290318" cy="2981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90318" cy="2981857"/>
            </a:xfrm>
            <a:custGeom>
              <a:avLst/>
              <a:gdLst/>
              <a:ahLst/>
              <a:cxnLst/>
              <a:rect l="l" t="t" r="r" b="b"/>
              <a:pathLst>
                <a:path w="5290318" h="2981857">
                  <a:moveTo>
                    <a:pt x="0" y="0"/>
                  </a:moveTo>
                  <a:lnTo>
                    <a:pt x="5290318" y="0"/>
                  </a:lnTo>
                  <a:lnTo>
                    <a:pt x="5290318" y="2981857"/>
                  </a:lnTo>
                  <a:lnTo>
                    <a:pt x="0" y="29818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2" r="-10620" b="2496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290318" cy="30390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 File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× 16-bit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8783" y="6280985"/>
            <a:ext cx="9237232" cy="2039379"/>
            <a:chOff x="0" y="0"/>
            <a:chExt cx="12910557" cy="2850368"/>
          </a:xfrm>
        </p:grpSpPr>
        <p:sp>
          <p:nvSpPr>
            <p:cNvPr id="15" name="Freeform 15"/>
            <p:cNvSpPr/>
            <p:nvPr/>
          </p:nvSpPr>
          <p:spPr>
            <a:xfrm>
              <a:off x="24360" y="52014"/>
              <a:ext cx="12861838" cy="2746340"/>
            </a:xfrm>
            <a:custGeom>
              <a:avLst/>
              <a:gdLst/>
              <a:ahLst/>
              <a:cxnLst/>
              <a:rect l="l" t="t" r="r" b="b"/>
              <a:pathLst>
                <a:path w="12861838" h="2746340">
                  <a:moveTo>
                    <a:pt x="0" y="0"/>
                  </a:moveTo>
                  <a:lnTo>
                    <a:pt x="12861837" y="0"/>
                  </a:lnTo>
                  <a:lnTo>
                    <a:pt x="12861837" y="2746340"/>
                  </a:lnTo>
                  <a:lnTo>
                    <a:pt x="0" y="274634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2910557" cy="2850368"/>
            </a:xfrm>
            <a:custGeom>
              <a:avLst/>
              <a:gdLst/>
              <a:ahLst/>
              <a:cxnLst/>
              <a:rect l="l" t="t" r="r" b="b"/>
              <a:pathLst>
                <a:path w="12910557" h="2850368">
                  <a:moveTo>
                    <a:pt x="24360" y="0"/>
                  </a:moveTo>
                  <a:lnTo>
                    <a:pt x="12886197" y="0"/>
                  </a:lnTo>
                  <a:cubicBezTo>
                    <a:pt x="12899595" y="0"/>
                    <a:pt x="12910557" y="23406"/>
                    <a:pt x="12910557" y="52014"/>
                  </a:cubicBezTo>
                  <a:lnTo>
                    <a:pt x="12910557" y="2798354"/>
                  </a:lnTo>
                  <a:cubicBezTo>
                    <a:pt x="12910557" y="2826962"/>
                    <a:pt x="12899595" y="2850368"/>
                    <a:pt x="12886197" y="2850368"/>
                  </a:cubicBezTo>
                  <a:lnTo>
                    <a:pt x="24360" y="2850368"/>
                  </a:lnTo>
                  <a:cubicBezTo>
                    <a:pt x="10962" y="2850368"/>
                    <a:pt x="0" y="2826962"/>
                    <a:pt x="0" y="2798354"/>
                  </a:cubicBezTo>
                  <a:lnTo>
                    <a:pt x="0" y="52014"/>
                  </a:lnTo>
                  <a:cubicBezTo>
                    <a:pt x="0" y="23406"/>
                    <a:pt x="10962" y="0"/>
                    <a:pt x="24360" y="0"/>
                  </a:cubicBezTo>
                  <a:moveTo>
                    <a:pt x="24360" y="104028"/>
                  </a:moveTo>
                  <a:lnTo>
                    <a:pt x="24360" y="52014"/>
                  </a:lnTo>
                  <a:lnTo>
                    <a:pt x="48719" y="52014"/>
                  </a:lnTo>
                  <a:lnTo>
                    <a:pt x="48719" y="2798354"/>
                  </a:lnTo>
                  <a:lnTo>
                    <a:pt x="24360" y="2798354"/>
                  </a:lnTo>
                  <a:lnTo>
                    <a:pt x="24360" y="2746340"/>
                  </a:lnTo>
                  <a:lnTo>
                    <a:pt x="12886197" y="2746340"/>
                  </a:lnTo>
                  <a:lnTo>
                    <a:pt x="12886197" y="2798354"/>
                  </a:lnTo>
                  <a:lnTo>
                    <a:pt x="12861837" y="2798354"/>
                  </a:lnTo>
                  <a:lnTo>
                    <a:pt x="12861837" y="52014"/>
                  </a:lnTo>
                  <a:lnTo>
                    <a:pt x="12886197" y="52014"/>
                  </a:lnTo>
                  <a:lnTo>
                    <a:pt x="12886197" y="104028"/>
                  </a:lnTo>
                  <a:lnTo>
                    <a:pt x="24360" y="104028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57298" y="6280985"/>
            <a:ext cx="9008998" cy="2039379"/>
            <a:chOff x="0" y="0"/>
            <a:chExt cx="12591561" cy="28503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91561" cy="2850368"/>
            </a:xfrm>
            <a:custGeom>
              <a:avLst/>
              <a:gdLst/>
              <a:ahLst/>
              <a:cxnLst/>
              <a:rect l="l" t="t" r="r" b="b"/>
              <a:pathLst>
                <a:path w="12591561" h="2850368">
                  <a:moveTo>
                    <a:pt x="0" y="0"/>
                  </a:moveTo>
                  <a:lnTo>
                    <a:pt x="12591561" y="0"/>
                  </a:lnTo>
                  <a:lnTo>
                    <a:pt x="12591561" y="2850368"/>
                  </a:lnTo>
                  <a:lnTo>
                    <a:pt x="0" y="2850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153" r="-6509" b="-152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591561" cy="2888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Combinational Logic Block</a:t>
              </a:r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1338560" y="2011680"/>
          <a:ext cx="6578600" cy="7772400"/>
        </p:xfrm>
        <a:graphic>
          <a:graphicData uri="http://schemas.openxmlformats.org/drawingml/2006/table">
            <a:tbl>
              <a:tblPr/>
              <a:tblGrid>
                <a:gridCol w="365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Entity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crypto16_coprocessor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Structural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register_file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Sequential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combinational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Structural + Behavioral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control_unit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Behavioral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ALU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Combinational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shifter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Combinational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NonLinearLut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Combinational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Adder_16bit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Structural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AutoShape 21"/>
          <p:cNvSpPr/>
          <p:nvPr/>
        </p:nvSpPr>
        <p:spPr>
          <a:xfrm flipH="1">
            <a:off x="4733159" y="4680693"/>
            <a:ext cx="2149359" cy="0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2" name="Group 22"/>
          <p:cNvGrpSpPr/>
          <p:nvPr/>
        </p:nvGrpSpPr>
        <p:grpSpPr>
          <a:xfrm>
            <a:off x="4839869" y="4643654"/>
            <a:ext cx="2797813" cy="61732"/>
            <a:chOff x="0" y="0"/>
            <a:chExt cx="3910405" cy="86281"/>
          </a:xfrm>
        </p:grpSpPr>
        <p:sp>
          <p:nvSpPr>
            <p:cNvPr id="23" name="Freeform 23"/>
            <p:cNvSpPr/>
            <p:nvPr/>
          </p:nvSpPr>
          <p:spPr>
            <a:xfrm>
              <a:off x="0" y="1909"/>
              <a:ext cx="3910405" cy="82463"/>
            </a:xfrm>
            <a:custGeom>
              <a:avLst/>
              <a:gdLst/>
              <a:ahLst/>
              <a:cxnLst/>
              <a:rect l="l" t="t" r="r" b="b"/>
              <a:pathLst>
                <a:path w="3910405" h="82463">
                  <a:moveTo>
                    <a:pt x="3910405" y="0"/>
                  </a:moveTo>
                  <a:lnTo>
                    <a:pt x="3910405" y="82463"/>
                  </a:lnTo>
                  <a:lnTo>
                    <a:pt x="0" y="82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846689" y="4069102"/>
            <a:ext cx="2443102" cy="1815536"/>
            <a:chOff x="0" y="0"/>
            <a:chExt cx="4105462" cy="3050881"/>
          </a:xfrm>
        </p:grpSpPr>
        <p:sp>
          <p:nvSpPr>
            <p:cNvPr id="25" name="Freeform 25"/>
            <p:cNvSpPr/>
            <p:nvPr/>
          </p:nvSpPr>
          <p:spPr>
            <a:xfrm>
              <a:off x="17665" y="34512"/>
              <a:ext cx="4070131" cy="2981857"/>
            </a:xfrm>
            <a:custGeom>
              <a:avLst/>
              <a:gdLst/>
              <a:ahLst/>
              <a:cxnLst/>
              <a:rect l="l" t="t" r="r" b="b"/>
              <a:pathLst>
                <a:path w="4070131" h="2981857">
                  <a:moveTo>
                    <a:pt x="0" y="0"/>
                  </a:moveTo>
                  <a:lnTo>
                    <a:pt x="4070131" y="0"/>
                  </a:lnTo>
                  <a:lnTo>
                    <a:pt x="4070131" y="2981857"/>
                  </a:lnTo>
                  <a:lnTo>
                    <a:pt x="0" y="2981857"/>
                  </a:lnTo>
                  <a:close/>
                </a:path>
              </a:pathLst>
            </a:custGeom>
            <a:solidFill>
              <a:srgbClr val="4A607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4105462" cy="3050881"/>
            </a:xfrm>
            <a:custGeom>
              <a:avLst/>
              <a:gdLst/>
              <a:ahLst/>
              <a:cxnLst/>
              <a:rect l="l" t="t" r="r" b="b"/>
              <a:pathLst>
                <a:path w="4105462" h="3050881">
                  <a:moveTo>
                    <a:pt x="17665" y="0"/>
                  </a:moveTo>
                  <a:lnTo>
                    <a:pt x="4087796" y="0"/>
                  </a:lnTo>
                  <a:cubicBezTo>
                    <a:pt x="4097512" y="0"/>
                    <a:pt x="4105462" y="15531"/>
                    <a:pt x="4105462" y="34512"/>
                  </a:cubicBezTo>
                  <a:lnTo>
                    <a:pt x="4105462" y="3016369"/>
                  </a:lnTo>
                  <a:cubicBezTo>
                    <a:pt x="4105462" y="3035351"/>
                    <a:pt x="4097512" y="3050881"/>
                    <a:pt x="4087796" y="3050881"/>
                  </a:cubicBezTo>
                  <a:lnTo>
                    <a:pt x="17665" y="3050881"/>
                  </a:lnTo>
                  <a:cubicBezTo>
                    <a:pt x="7949" y="3050881"/>
                    <a:pt x="0" y="3035351"/>
                    <a:pt x="0" y="3016369"/>
                  </a:cubicBezTo>
                  <a:lnTo>
                    <a:pt x="0" y="34512"/>
                  </a:lnTo>
                  <a:cubicBezTo>
                    <a:pt x="0" y="15531"/>
                    <a:pt x="7949" y="0"/>
                    <a:pt x="17665" y="0"/>
                  </a:cubicBezTo>
                  <a:moveTo>
                    <a:pt x="17665" y="69024"/>
                  </a:moveTo>
                  <a:lnTo>
                    <a:pt x="17665" y="34512"/>
                  </a:lnTo>
                  <a:lnTo>
                    <a:pt x="35331" y="34512"/>
                  </a:lnTo>
                  <a:lnTo>
                    <a:pt x="35331" y="3016369"/>
                  </a:lnTo>
                  <a:lnTo>
                    <a:pt x="17665" y="3016369"/>
                  </a:lnTo>
                  <a:lnTo>
                    <a:pt x="17665" y="2981857"/>
                  </a:lnTo>
                  <a:lnTo>
                    <a:pt x="4087796" y="2981857"/>
                  </a:lnTo>
                  <a:lnTo>
                    <a:pt x="4087796" y="3016369"/>
                  </a:lnTo>
                  <a:lnTo>
                    <a:pt x="4070131" y="3016369"/>
                  </a:lnTo>
                  <a:lnTo>
                    <a:pt x="4070131" y="34512"/>
                  </a:lnTo>
                  <a:lnTo>
                    <a:pt x="4087796" y="34512"/>
                  </a:lnTo>
                  <a:lnTo>
                    <a:pt x="4087796" y="69024"/>
                  </a:lnTo>
                  <a:lnTo>
                    <a:pt x="17665" y="69024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550404" y="4079955"/>
            <a:ext cx="3073772" cy="1790844"/>
            <a:chOff x="0" y="0"/>
            <a:chExt cx="5118006" cy="29818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18006" cy="2981857"/>
            </a:xfrm>
            <a:custGeom>
              <a:avLst/>
              <a:gdLst/>
              <a:ahLst/>
              <a:cxnLst/>
              <a:rect l="l" t="t" r="r" b="b"/>
              <a:pathLst>
                <a:path w="5118006" h="2981857">
                  <a:moveTo>
                    <a:pt x="0" y="0"/>
                  </a:moveTo>
                  <a:lnTo>
                    <a:pt x="5118006" y="0"/>
                  </a:lnTo>
                  <a:lnTo>
                    <a:pt x="5118006" y="2981857"/>
                  </a:lnTo>
                  <a:lnTo>
                    <a:pt x="0" y="29818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2" r="-14344" b="2496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5118006" cy="30390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Register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98305" y="5063431"/>
            <a:ext cx="2797813" cy="61732"/>
            <a:chOff x="0" y="0"/>
            <a:chExt cx="3910405" cy="86281"/>
          </a:xfrm>
        </p:grpSpPr>
        <p:sp>
          <p:nvSpPr>
            <p:cNvPr id="31" name="Freeform 31"/>
            <p:cNvSpPr/>
            <p:nvPr/>
          </p:nvSpPr>
          <p:spPr>
            <a:xfrm>
              <a:off x="0" y="1909"/>
              <a:ext cx="3910405" cy="82463"/>
            </a:xfrm>
            <a:custGeom>
              <a:avLst/>
              <a:gdLst/>
              <a:ahLst/>
              <a:cxnLst/>
              <a:rect l="l" t="t" r="r" b="b"/>
              <a:pathLst>
                <a:path w="3910405" h="82463">
                  <a:moveTo>
                    <a:pt x="3910405" y="0"/>
                  </a:moveTo>
                  <a:lnTo>
                    <a:pt x="3910405" y="82463"/>
                  </a:lnTo>
                  <a:lnTo>
                    <a:pt x="0" y="82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560677" y="3968548"/>
            <a:ext cx="3177259" cy="944375"/>
            <a:chOff x="0" y="0"/>
            <a:chExt cx="5290318" cy="15724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90318" cy="1572439"/>
            </a:xfrm>
            <a:custGeom>
              <a:avLst/>
              <a:gdLst/>
              <a:ahLst/>
              <a:cxnLst/>
              <a:rect l="l" t="t" r="r" b="b"/>
              <a:pathLst>
                <a:path w="5290318" h="1572439">
                  <a:moveTo>
                    <a:pt x="0" y="0"/>
                  </a:moveTo>
                  <a:lnTo>
                    <a:pt x="5290318" y="0"/>
                  </a:lnTo>
                  <a:lnTo>
                    <a:pt x="5290318" y="1572439"/>
                  </a:lnTo>
                  <a:lnTo>
                    <a:pt x="0" y="15724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5" r="-10620" b="-4229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5290318" cy="1629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Reset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5627461" y="4680693"/>
            <a:ext cx="2149359" cy="0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AutoShape 36"/>
          <p:cNvSpPr/>
          <p:nvPr/>
        </p:nvSpPr>
        <p:spPr>
          <a:xfrm>
            <a:off x="5627461" y="5100470"/>
            <a:ext cx="2149359" cy="0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7" name="AutoShape 37"/>
          <p:cNvSpPr/>
          <p:nvPr/>
        </p:nvSpPr>
        <p:spPr>
          <a:xfrm flipH="1">
            <a:off x="4733159" y="5100470"/>
            <a:ext cx="2149359" cy="0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8" name="Group 38"/>
          <p:cNvGrpSpPr/>
          <p:nvPr/>
        </p:nvGrpSpPr>
        <p:grpSpPr>
          <a:xfrm>
            <a:off x="4560677" y="4905812"/>
            <a:ext cx="3177259" cy="1079692"/>
            <a:chOff x="0" y="0"/>
            <a:chExt cx="5290318" cy="17977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90318" cy="1797748"/>
            </a:xfrm>
            <a:custGeom>
              <a:avLst/>
              <a:gdLst/>
              <a:ahLst/>
              <a:cxnLst/>
              <a:rect l="l" t="t" r="r" b="b"/>
              <a:pathLst>
                <a:path w="5290318" h="1797748">
                  <a:moveTo>
                    <a:pt x="0" y="0"/>
                  </a:moveTo>
                  <a:lnTo>
                    <a:pt x="5290318" y="0"/>
                  </a:lnTo>
                  <a:lnTo>
                    <a:pt x="5290318" y="1797748"/>
                  </a:lnTo>
                  <a:lnTo>
                    <a:pt x="0" y="1797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" r="-10620" b="-2446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5290318" cy="1854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Clock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9068240" y="5884638"/>
            <a:ext cx="0" cy="384000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 flipH="1">
            <a:off x="3523667" y="5840005"/>
            <a:ext cx="0" cy="384000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3" name="AutoShape 43"/>
          <p:cNvSpPr/>
          <p:nvPr/>
        </p:nvSpPr>
        <p:spPr>
          <a:xfrm>
            <a:off x="9068240" y="3421860"/>
            <a:ext cx="19050" cy="596795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4" name="Group 44"/>
          <p:cNvGrpSpPr/>
          <p:nvPr/>
        </p:nvGrpSpPr>
        <p:grpSpPr>
          <a:xfrm>
            <a:off x="7479611" y="2823746"/>
            <a:ext cx="3177259" cy="944375"/>
            <a:chOff x="0" y="0"/>
            <a:chExt cx="5290318" cy="157243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290318" cy="1572439"/>
            </a:xfrm>
            <a:custGeom>
              <a:avLst/>
              <a:gdLst/>
              <a:ahLst/>
              <a:cxnLst/>
              <a:rect l="l" t="t" r="r" b="b"/>
              <a:pathLst>
                <a:path w="5290318" h="1572439">
                  <a:moveTo>
                    <a:pt x="0" y="0"/>
                  </a:moveTo>
                  <a:lnTo>
                    <a:pt x="5290318" y="0"/>
                  </a:lnTo>
                  <a:lnTo>
                    <a:pt x="5290318" y="1572439"/>
                  </a:lnTo>
                  <a:lnTo>
                    <a:pt x="0" y="15724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5" r="-10620" b="-4229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5290318" cy="1629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>
            <a:off x="4104294" y="3423205"/>
            <a:ext cx="19050" cy="596795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8" name="AutoShape 48"/>
          <p:cNvSpPr/>
          <p:nvPr/>
        </p:nvSpPr>
        <p:spPr>
          <a:xfrm>
            <a:off x="3055946" y="3422532"/>
            <a:ext cx="19050" cy="596795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AutoShape 49"/>
          <p:cNvSpPr/>
          <p:nvPr/>
        </p:nvSpPr>
        <p:spPr>
          <a:xfrm>
            <a:off x="2008218" y="3423878"/>
            <a:ext cx="19050" cy="596795"/>
          </a:xfrm>
          <a:prstGeom prst="line">
            <a:avLst/>
          </a:prstGeom>
          <a:ln w="38100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0" name="Group 50"/>
          <p:cNvGrpSpPr/>
          <p:nvPr/>
        </p:nvGrpSpPr>
        <p:grpSpPr>
          <a:xfrm>
            <a:off x="3765081" y="2700012"/>
            <a:ext cx="716525" cy="944375"/>
            <a:chOff x="0" y="0"/>
            <a:chExt cx="1193055" cy="157243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93055" cy="1572439"/>
            </a:xfrm>
            <a:custGeom>
              <a:avLst/>
              <a:gdLst/>
              <a:ahLst/>
              <a:cxnLst/>
              <a:rect l="l" t="t" r="r" b="b"/>
              <a:pathLst>
                <a:path w="1193055" h="1572439">
                  <a:moveTo>
                    <a:pt x="0" y="0"/>
                  </a:moveTo>
                  <a:lnTo>
                    <a:pt x="1193055" y="0"/>
                  </a:lnTo>
                  <a:lnTo>
                    <a:pt x="1193055" y="1572439"/>
                  </a:lnTo>
                  <a:lnTo>
                    <a:pt x="0" y="15724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5" r="-390518" b="-4229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1193055" cy="1629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716733" y="2700012"/>
            <a:ext cx="716525" cy="944375"/>
            <a:chOff x="0" y="0"/>
            <a:chExt cx="1193055" cy="157243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93055" cy="1572439"/>
            </a:xfrm>
            <a:custGeom>
              <a:avLst/>
              <a:gdLst/>
              <a:ahLst/>
              <a:cxnLst/>
              <a:rect l="l" t="t" r="r" b="b"/>
              <a:pathLst>
                <a:path w="1193055" h="1572439">
                  <a:moveTo>
                    <a:pt x="0" y="0"/>
                  </a:moveTo>
                  <a:lnTo>
                    <a:pt x="1193055" y="0"/>
                  </a:lnTo>
                  <a:lnTo>
                    <a:pt x="1193055" y="1572439"/>
                  </a:lnTo>
                  <a:lnTo>
                    <a:pt x="0" y="15724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5" r="-390518" b="-4229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193055" cy="1629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69005" y="2700012"/>
            <a:ext cx="716525" cy="944375"/>
            <a:chOff x="0" y="0"/>
            <a:chExt cx="1193055" cy="157243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93055" cy="1572439"/>
            </a:xfrm>
            <a:custGeom>
              <a:avLst/>
              <a:gdLst/>
              <a:ahLst/>
              <a:cxnLst/>
              <a:rect l="l" t="t" r="r" b="b"/>
              <a:pathLst>
                <a:path w="1193055" h="1572439">
                  <a:moveTo>
                    <a:pt x="0" y="0"/>
                  </a:moveTo>
                  <a:lnTo>
                    <a:pt x="1193055" y="0"/>
                  </a:lnTo>
                  <a:lnTo>
                    <a:pt x="1193055" y="1572439"/>
                  </a:lnTo>
                  <a:lnTo>
                    <a:pt x="0" y="15724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5" r="-390518" b="-4229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1193055" cy="1629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Rd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68378" y="3423878"/>
            <a:ext cx="1058889" cy="50107"/>
            <a:chOff x="0" y="0"/>
            <a:chExt cx="1479973" cy="70032"/>
          </a:xfrm>
        </p:grpSpPr>
        <p:sp>
          <p:nvSpPr>
            <p:cNvPr id="60" name="Freeform 60"/>
            <p:cNvSpPr/>
            <p:nvPr/>
          </p:nvSpPr>
          <p:spPr>
            <a:xfrm>
              <a:off x="0" y="1549"/>
              <a:ext cx="1479973" cy="66934"/>
            </a:xfrm>
            <a:custGeom>
              <a:avLst/>
              <a:gdLst/>
              <a:ahLst/>
              <a:cxnLst/>
              <a:rect l="l" t="t" r="r" b="b"/>
              <a:pathLst>
                <a:path w="1479973" h="66934">
                  <a:moveTo>
                    <a:pt x="1479973" y="0"/>
                  </a:moveTo>
                  <a:lnTo>
                    <a:pt x="1479973" y="66934"/>
                  </a:lnTo>
                  <a:lnTo>
                    <a:pt x="0" y="66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61" name="Group 61"/>
          <p:cNvGrpSpPr/>
          <p:nvPr/>
        </p:nvGrpSpPr>
        <p:grpSpPr>
          <a:xfrm rot="-5400000">
            <a:off x="-1789775" y="6127151"/>
            <a:ext cx="5443278" cy="60322"/>
            <a:chOff x="0" y="0"/>
            <a:chExt cx="7607879" cy="84310"/>
          </a:xfrm>
        </p:grpSpPr>
        <p:sp>
          <p:nvSpPr>
            <p:cNvPr id="62" name="Freeform 62"/>
            <p:cNvSpPr/>
            <p:nvPr/>
          </p:nvSpPr>
          <p:spPr>
            <a:xfrm>
              <a:off x="0" y="1865"/>
              <a:ext cx="7607879" cy="80579"/>
            </a:xfrm>
            <a:custGeom>
              <a:avLst/>
              <a:gdLst/>
              <a:ahLst/>
              <a:cxnLst/>
              <a:rect l="l" t="t" r="r" b="b"/>
              <a:pathLst>
                <a:path w="7607879" h="80579">
                  <a:moveTo>
                    <a:pt x="7607879" y="0"/>
                  </a:moveTo>
                  <a:lnTo>
                    <a:pt x="7607879" y="80579"/>
                  </a:lnTo>
                  <a:lnTo>
                    <a:pt x="0" y="80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931864" y="8878951"/>
            <a:ext cx="5265347" cy="50107"/>
            <a:chOff x="0" y="0"/>
            <a:chExt cx="7359191" cy="70032"/>
          </a:xfrm>
        </p:grpSpPr>
        <p:sp>
          <p:nvSpPr>
            <p:cNvPr id="64" name="Freeform 64"/>
            <p:cNvSpPr/>
            <p:nvPr/>
          </p:nvSpPr>
          <p:spPr>
            <a:xfrm>
              <a:off x="0" y="1549"/>
              <a:ext cx="7359191" cy="66934"/>
            </a:xfrm>
            <a:custGeom>
              <a:avLst/>
              <a:gdLst/>
              <a:ahLst/>
              <a:cxnLst/>
              <a:rect l="l" t="t" r="r" b="b"/>
              <a:pathLst>
                <a:path w="7359191" h="66934">
                  <a:moveTo>
                    <a:pt x="7359191" y="0"/>
                  </a:moveTo>
                  <a:lnTo>
                    <a:pt x="7359191" y="66934"/>
                  </a:lnTo>
                  <a:lnTo>
                    <a:pt x="0" y="66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65" name="Group 65"/>
          <p:cNvGrpSpPr/>
          <p:nvPr/>
        </p:nvGrpSpPr>
        <p:grpSpPr>
          <a:xfrm rot="5400000">
            <a:off x="5878132" y="8599748"/>
            <a:ext cx="610995" cy="47625"/>
            <a:chOff x="0" y="0"/>
            <a:chExt cx="853966" cy="66564"/>
          </a:xfrm>
        </p:grpSpPr>
        <p:sp>
          <p:nvSpPr>
            <p:cNvPr id="66" name="Freeform 66"/>
            <p:cNvSpPr/>
            <p:nvPr/>
          </p:nvSpPr>
          <p:spPr>
            <a:xfrm>
              <a:off x="0" y="1473"/>
              <a:ext cx="853966" cy="63618"/>
            </a:xfrm>
            <a:custGeom>
              <a:avLst/>
              <a:gdLst/>
              <a:ahLst/>
              <a:cxnLst/>
              <a:rect l="l" t="t" r="r" b="b"/>
              <a:pathLst>
                <a:path w="853966" h="63618">
                  <a:moveTo>
                    <a:pt x="853966" y="0"/>
                  </a:moveTo>
                  <a:lnTo>
                    <a:pt x="853966" y="63618"/>
                  </a:lnTo>
                  <a:lnTo>
                    <a:pt x="0" y="63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3564537" y="8151373"/>
            <a:ext cx="3177259" cy="944375"/>
            <a:chOff x="0" y="0"/>
            <a:chExt cx="5290318" cy="157243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290318" cy="1572439"/>
            </a:xfrm>
            <a:custGeom>
              <a:avLst/>
              <a:gdLst/>
              <a:ahLst/>
              <a:cxnLst/>
              <a:rect l="l" t="t" r="r" b="b"/>
              <a:pathLst>
                <a:path w="5290318" h="1572439">
                  <a:moveTo>
                    <a:pt x="0" y="0"/>
                  </a:moveTo>
                  <a:lnTo>
                    <a:pt x="5290318" y="0"/>
                  </a:lnTo>
                  <a:lnTo>
                    <a:pt x="5290318" y="1572439"/>
                  </a:lnTo>
                  <a:lnTo>
                    <a:pt x="0" y="15724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5" r="-10620" b="-42299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5290318" cy="1629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95350" y="1992630"/>
            <a:ext cx="16363950" cy="952500"/>
            <a:chOff x="0" y="0"/>
            <a:chExt cx="21818600" cy="1270000"/>
          </a:xfrm>
        </p:grpSpPr>
        <p:sp>
          <p:nvSpPr>
            <p:cNvPr id="9" name="Freeform 9"/>
            <p:cNvSpPr/>
            <p:nvPr/>
          </p:nvSpPr>
          <p:spPr>
            <a:xfrm>
              <a:off x="41167" y="25400"/>
              <a:ext cx="21736266" cy="1219200"/>
            </a:xfrm>
            <a:custGeom>
              <a:avLst/>
              <a:gdLst/>
              <a:ahLst/>
              <a:cxnLst/>
              <a:rect l="l" t="t" r="r" b="b"/>
              <a:pathLst>
                <a:path w="21736266" h="1219200">
                  <a:moveTo>
                    <a:pt x="0" y="0"/>
                  </a:moveTo>
                  <a:lnTo>
                    <a:pt x="21736267" y="0"/>
                  </a:lnTo>
                  <a:lnTo>
                    <a:pt x="2173626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1818600" cy="1270000"/>
            </a:xfrm>
            <a:custGeom>
              <a:avLst/>
              <a:gdLst/>
              <a:ahLst/>
              <a:cxnLst/>
              <a:rect l="l" t="t" r="r" b="b"/>
              <a:pathLst>
                <a:path w="21818600" h="1270000">
                  <a:moveTo>
                    <a:pt x="41167" y="0"/>
                  </a:moveTo>
                  <a:lnTo>
                    <a:pt x="21777434" y="0"/>
                  </a:lnTo>
                  <a:cubicBezTo>
                    <a:pt x="21800074" y="0"/>
                    <a:pt x="21818600" y="11430"/>
                    <a:pt x="21818600" y="25400"/>
                  </a:cubicBezTo>
                  <a:lnTo>
                    <a:pt x="21818600" y="1244600"/>
                  </a:lnTo>
                  <a:cubicBezTo>
                    <a:pt x="21818600" y="1258570"/>
                    <a:pt x="21800074" y="1270000"/>
                    <a:pt x="21777434" y="1270000"/>
                  </a:cubicBezTo>
                  <a:lnTo>
                    <a:pt x="41167" y="1270000"/>
                  </a:lnTo>
                  <a:cubicBezTo>
                    <a:pt x="18525" y="1270000"/>
                    <a:pt x="0" y="1258570"/>
                    <a:pt x="0" y="1244600"/>
                  </a:cubicBezTo>
                  <a:lnTo>
                    <a:pt x="0" y="25400"/>
                  </a:lnTo>
                  <a:cubicBezTo>
                    <a:pt x="0" y="11430"/>
                    <a:pt x="18525" y="0"/>
                    <a:pt x="41167" y="0"/>
                  </a:cubicBezTo>
                  <a:moveTo>
                    <a:pt x="41167" y="50800"/>
                  </a:moveTo>
                  <a:lnTo>
                    <a:pt x="41167" y="25400"/>
                  </a:lnTo>
                  <a:lnTo>
                    <a:pt x="82334" y="25400"/>
                  </a:lnTo>
                  <a:lnTo>
                    <a:pt x="82334" y="1244600"/>
                  </a:lnTo>
                  <a:lnTo>
                    <a:pt x="41167" y="1244600"/>
                  </a:lnTo>
                  <a:lnTo>
                    <a:pt x="41167" y="1219200"/>
                  </a:lnTo>
                  <a:lnTo>
                    <a:pt x="21777434" y="1219200"/>
                  </a:lnTo>
                  <a:lnTo>
                    <a:pt x="21777434" y="1244600"/>
                  </a:lnTo>
                  <a:lnTo>
                    <a:pt x="21736265" y="1244600"/>
                  </a:lnTo>
                  <a:lnTo>
                    <a:pt x="21736265" y="25400"/>
                  </a:lnTo>
                  <a:lnTo>
                    <a:pt x="21777434" y="25400"/>
                  </a:lnTo>
                  <a:lnTo>
                    <a:pt x="21777434" y="50800"/>
                  </a:lnTo>
                  <a:lnTo>
                    <a:pt x="41167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95350" y="2011680"/>
            <a:ext cx="16363950" cy="960534"/>
            <a:chOff x="0" y="0"/>
            <a:chExt cx="21818600" cy="1280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818600" cy="1280712"/>
            </a:xfrm>
            <a:custGeom>
              <a:avLst/>
              <a:gdLst/>
              <a:ahLst/>
              <a:cxnLst/>
              <a:rect l="l" t="t" r="r" b="b"/>
              <a:pathLst>
                <a:path w="21818600" h="1280712">
                  <a:moveTo>
                    <a:pt x="0" y="0"/>
                  </a:moveTo>
                  <a:lnTo>
                    <a:pt x="21818600" y="0"/>
                  </a:lnTo>
                  <a:lnTo>
                    <a:pt x="21818600" y="1280712"/>
                  </a:lnTo>
                  <a:lnTo>
                    <a:pt x="0" y="1280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442" r="38533" b="-15163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21818600" cy="1385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799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crypto16_coprocessor (Top Level)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BC4745E-17F2-E2A3-BC57-B7D87EA24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577454"/>
            <a:ext cx="14173200" cy="5147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Unit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1645920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Brain — Decoding 4-bit CTRL into datapath signals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1703" y="2273303"/>
            <a:ext cx="16484603" cy="80267"/>
            <a:chOff x="0" y="0"/>
            <a:chExt cx="21979471" cy="107023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14400" y="2560320"/>
          <a:ext cx="16408400" cy="3937000"/>
        </p:xfrm>
        <a:graphic>
          <a:graphicData uri="http://schemas.openxmlformats.org/drawingml/2006/table">
            <a:tbl>
              <a:tblPr/>
              <a:tblGrid>
                <a:gridCol w="4011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CTRL Range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sel_block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Selected Block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Sub-signal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E8F4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0000 – 0111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ALU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ctrl[2:0] → alu_op (3-bit)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E8F4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1000 – 1010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B34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Shifter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ctrl[1:0] → shift_op (2-bit)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E8F4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1011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C6D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NonLinearLut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Direct selection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E8F4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1100 – 1111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6B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NOP / Reserved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Output = 0x0000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901703" y="6845303"/>
            <a:ext cx="7706363" cy="3042923"/>
            <a:chOff x="0" y="0"/>
            <a:chExt cx="10275151" cy="4057231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10241281" cy="4023360"/>
            </a:xfrm>
            <a:custGeom>
              <a:avLst/>
              <a:gdLst/>
              <a:ahLst/>
              <a:cxnLst/>
              <a:rect l="l" t="t" r="r" b="b"/>
              <a:pathLst>
                <a:path w="10241281" h="4023360">
                  <a:moveTo>
                    <a:pt x="0" y="0"/>
                  </a:moveTo>
                  <a:lnTo>
                    <a:pt x="10241281" y="0"/>
                  </a:lnTo>
                  <a:lnTo>
                    <a:pt x="10241281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0275062" cy="4057142"/>
            </a:xfrm>
            <a:custGeom>
              <a:avLst/>
              <a:gdLst/>
              <a:ahLst/>
              <a:cxnLst/>
              <a:rect l="l" t="t" r="r" b="b"/>
              <a:pathLst>
                <a:path w="10275062" h="405714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4040251"/>
                  </a:lnTo>
                  <a:cubicBezTo>
                    <a:pt x="10275062" y="4049649"/>
                    <a:pt x="10267442" y="4057142"/>
                    <a:pt x="10258172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0258172" y="4023360"/>
                  </a:lnTo>
                  <a:lnTo>
                    <a:pt x="10258172" y="4040251"/>
                  </a:lnTo>
                  <a:lnTo>
                    <a:pt x="10241280" y="404025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05840" y="6949440"/>
            <a:ext cx="7498080" cy="731520"/>
            <a:chOff x="0" y="0"/>
            <a:chExt cx="9997440" cy="9753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721" b="-14972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999744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Signals Generated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8720" y="7772400"/>
            <a:ext cx="7132320" cy="2011680"/>
            <a:chOff x="0" y="0"/>
            <a:chExt cx="9509760" cy="26822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2682240"/>
            </a:xfrm>
            <a:custGeom>
              <a:avLst/>
              <a:gdLst/>
              <a:ahLst/>
              <a:cxnLst/>
              <a:rect l="l" t="t" r="r" b="b"/>
              <a:pathLst>
                <a:path w="9509760" h="2682240">
                  <a:moveTo>
                    <a:pt x="0" y="0"/>
                  </a:moveTo>
                  <a:lnTo>
                    <a:pt x="9509760" y="0"/>
                  </a:lnTo>
                  <a:lnTo>
                    <a:pt x="95097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83" b="-1908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509760" cy="2720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sel_block  (2-bit)  →  ALU / Shifter / LUT / NOP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alu_op     (3-bit)  →  Which ALU operation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shift_op   (2-bit)  →  Which shift operation</a:t>
              </a:r>
            </a:p>
            <a:p>
              <a:pPr marL="579120" lvl="1" indent="-289560" algn="l">
                <a:lnSpc>
                  <a:spcPts val="2879"/>
                </a:lnSpc>
              </a:pPr>
              <a:endParaRPr lang="en-US" sz="2400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48423" y="6845303"/>
            <a:ext cx="8437883" cy="3042923"/>
            <a:chOff x="0" y="0"/>
            <a:chExt cx="11250511" cy="4057231"/>
          </a:xfrm>
        </p:grpSpPr>
        <p:sp>
          <p:nvSpPr>
            <p:cNvPr id="22" name="Freeform 22"/>
            <p:cNvSpPr/>
            <p:nvPr/>
          </p:nvSpPr>
          <p:spPr>
            <a:xfrm>
              <a:off x="16891" y="16891"/>
              <a:ext cx="11216640" cy="4023360"/>
            </a:xfrm>
            <a:custGeom>
              <a:avLst/>
              <a:gdLst/>
              <a:ahLst/>
              <a:cxnLst/>
              <a:rect l="l" t="t" r="r" b="b"/>
              <a:pathLst>
                <a:path w="11216640" h="402336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1250422" cy="4057142"/>
            </a:xfrm>
            <a:custGeom>
              <a:avLst/>
              <a:gdLst/>
              <a:ahLst/>
              <a:cxnLst/>
              <a:rect l="l" t="t" r="r" b="b"/>
              <a:pathLst>
                <a:path w="11250422" h="405714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040251"/>
                  </a:lnTo>
                  <a:cubicBezTo>
                    <a:pt x="11250422" y="4049649"/>
                    <a:pt x="11242802" y="4057142"/>
                    <a:pt x="112335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233531" y="4023360"/>
                  </a:lnTo>
                  <a:lnTo>
                    <a:pt x="11233531" y="4040251"/>
                  </a:lnTo>
                  <a:lnTo>
                    <a:pt x="11216640" y="40402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44000" y="6949440"/>
            <a:ext cx="8046720" cy="731520"/>
            <a:chOff x="0" y="0"/>
            <a:chExt cx="1072896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072896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Design Decision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0" y="7772400"/>
            <a:ext cx="8046720" cy="2011680"/>
            <a:chOff x="0" y="0"/>
            <a:chExt cx="10728960" cy="26822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28960" cy="2682240"/>
            </a:xfrm>
            <a:custGeom>
              <a:avLst/>
              <a:gdLst/>
              <a:ahLst/>
              <a:cxnLst/>
              <a:rect l="l" t="t" r="r" b="b"/>
              <a:pathLst>
                <a:path w="10728960" h="268224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072896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control unit completely separates instruction decoding from execution. The combinational block never interprets CTRL directly — it only reads pre-decoded sel_block signals.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21945600" cy="1840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Arithmetic &amp; Logic Unit (ALU)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14400" y="2011680"/>
          <a:ext cx="10922000" cy="6908800"/>
        </p:xfrm>
        <a:graphic>
          <a:graphicData uri="http://schemas.openxmlformats.org/drawingml/2006/table">
            <a:tbl>
              <a:tblPr/>
              <a:tblGrid>
                <a:gridCol w="2194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alu_op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Operation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+ B via 16-bit ripple-carry adder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001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− B  (two's complement: A + ~B + 1)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Bitwise A AND 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011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Bitwise A OR 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XOR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Bitwise A XOR 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Bitwise complement of 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MOVE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Pass-through: Output = 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12240263" y="1998983"/>
            <a:ext cx="5511803" cy="6974843"/>
            <a:chOff x="0" y="0"/>
            <a:chExt cx="7349071" cy="9299791"/>
          </a:xfrm>
        </p:grpSpPr>
        <p:sp>
          <p:nvSpPr>
            <p:cNvPr id="10" name="Freeform 10"/>
            <p:cNvSpPr/>
            <p:nvPr/>
          </p:nvSpPr>
          <p:spPr>
            <a:xfrm>
              <a:off x="16891" y="16891"/>
              <a:ext cx="7315200" cy="9265920"/>
            </a:xfrm>
            <a:custGeom>
              <a:avLst/>
              <a:gdLst/>
              <a:ahLst/>
              <a:cxnLst/>
              <a:rect l="l" t="t" r="r" b="b"/>
              <a:pathLst>
                <a:path w="7315200" h="926592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7348982" cy="9299701"/>
            </a:xfrm>
            <a:custGeom>
              <a:avLst/>
              <a:gdLst/>
              <a:ahLst/>
              <a:cxnLst/>
              <a:rect l="l" t="t" r="r" b="b"/>
              <a:pathLst>
                <a:path w="7348982" h="9299701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344400" y="2103120"/>
            <a:ext cx="5303520" cy="731520"/>
            <a:chOff x="0" y="0"/>
            <a:chExt cx="707136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707136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Ripple-Carry Adder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44400" y="2926080"/>
            <a:ext cx="5303520" cy="1463040"/>
            <a:chOff x="0" y="0"/>
            <a:chExt cx="7071360" cy="1950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71360" cy="1950720"/>
            </a:xfrm>
            <a:custGeom>
              <a:avLst/>
              <a:gdLst/>
              <a:ahLst/>
              <a:cxnLst/>
              <a:rect l="l" t="t" r="r" b="b"/>
              <a:pathLst>
                <a:path w="7071360" h="195072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3" b="-2063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071360" cy="1998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Full Adder primitives chained in series. Carry propagates from bit 0 → bit 15.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4583" y="4742183"/>
            <a:ext cx="939803" cy="1122683"/>
            <a:chOff x="0" y="0"/>
            <a:chExt cx="1253071" cy="1496911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A6072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252982" cy="1496822"/>
            </a:xfrm>
            <a:custGeom>
              <a:avLst/>
              <a:gdLst/>
              <a:ahLst/>
              <a:cxnLst/>
              <a:rect l="l" t="t" r="r" b="b"/>
              <a:pathLst>
                <a:path w="1252982" h="149682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479931"/>
                  </a:lnTo>
                  <a:cubicBezTo>
                    <a:pt x="1252982" y="1489329"/>
                    <a:pt x="1245362" y="1496822"/>
                    <a:pt x="1236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236091" y="1463040"/>
                  </a:lnTo>
                  <a:lnTo>
                    <a:pt x="1236091" y="1479931"/>
                  </a:lnTo>
                  <a:lnTo>
                    <a:pt x="1219200" y="1479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527280" y="4754880"/>
            <a:ext cx="914400" cy="1097280"/>
            <a:chOff x="0" y="0"/>
            <a:chExt cx="1219200" cy="14630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21920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22630" y="5284470"/>
            <a:ext cx="312420" cy="38100"/>
            <a:chOff x="0" y="0"/>
            <a:chExt cx="416560" cy="50800"/>
          </a:xfrm>
        </p:grpSpPr>
        <p:sp>
          <p:nvSpPr>
            <p:cNvPr id="25" name="Freeform 25"/>
            <p:cNvSpPr/>
            <p:nvPr/>
          </p:nvSpPr>
          <p:spPr>
            <a:xfrm>
              <a:off x="25400" y="0"/>
              <a:ext cx="365760" cy="50800"/>
            </a:xfrm>
            <a:custGeom>
              <a:avLst/>
              <a:gdLst/>
              <a:ahLst/>
              <a:cxnLst/>
              <a:rect l="l" t="t" r="r" b="b"/>
              <a:pathLst>
                <a:path w="365760" h="5080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703303" y="4742183"/>
            <a:ext cx="939803" cy="1122683"/>
            <a:chOff x="0" y="0"/>
            <a:chExt cx="1253071" cy="149691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A6072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252982" cy="1496822"/>
            </a:xfrm>
            <a:custGeom>
              <a:avLst/>
              <a:gdLst/>
              <a:ahLst/>
              <a:cxnLst/>
              <a:rect l="l" t="t" r="r" b="b"/>
              <a:pathLst>
                <a:path w="1252982" h="149682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479931"/>
                  </a:lnTo>
                  <a:cubicBezTo>
                    <a:pt x="1252982" y="1489329"/>
                    <a:pt x="1245362" y="1496822"/>
                    <a:pt x="1236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236091" y="1463040"/>
                  </a:lnTo>
                  <a:lnTo>
                    <a:pt x="1236091" y="1479931"/>
                  </a:lnTo>
                  <a:lnTo>
                    <a:pt x="1219200" y="1479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3716000" y="4754880"/>
            <a:ext cx="914400" cy="1097280"/>
            <a:chOff x="0" y="0"/>
            <a:chExt cx="121920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1920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611350" y="5284470"/>
            <a:ext cx="312420" cy="38100"/>
            <a:chOff x="0" y="0"/>
            <a:chExt cx="416560" cy="50800"/>
          </a:xfrm>
        </p:grpSpPr>
        <p:sp>
          <p:nvSpPr>
            <p:cNvPr id="33" name="Freeform 33"/>
            <p:cNvSpPr/>
            <p:nvPr/>
          </p:nvSpPr>
          <p:spPr>
            <a:xfrm>
              <a:off x="25400" y="0"/>
              <a:ext cx="365760" cy="50800"/>
            </a:xfrm>
            <a:custGeom>
              <a:avLst/>
              <a:gdLst/>
              <a:ahLst/>
              <a:cxnLst/>
              <a:rect l="l" t="t" r="r" b="b"/>
              <a:pathLst>
                <a:path w="365760" h="5080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4892023" y="4742183"/>
            <a:ext cx="939803" cy="1122683"/>
            <a:chOff x="0" y="0"/>
            <a:chExt cx="1253071" cy="1496911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A6072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252982" cy="1496822"/>
            </a:xfrm>
            <a:custGeom>
              <a:avLst/>
              <a:gdLst/>
              <a:ahLst/>
              <a:cxnLst/>
              <a:rect l="l" t="t" r="r" b="b"/>
              <a:pathLst>
                <a:path w="1252982" h="149682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479931"/>
                  </a:lnTo>
                  <a:cubicBezTo>
                    <a:pt x="1252982" y="1489329"/>
                    <a:pt x="1245362" y="1496822"/>
                    <a:pt x="1236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236091" y="1463040"/>
                  </a:lnTo>
                  <a:lnTo>
                    <a:pt x="1236091" y="1479931"/>
                  </a:lnTo>
                  <a:lnTo>
                    <a:pt x="1219200" y="1479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4904720" y="4754880"/>
            <a:ext cx="914400" cy="1097280"/>
            <a:chOff x="0" y="0"/>
            <a:chExt cx="1219200" cy="1463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21920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800070" y="5284470"/>
            <a:ext cx="312420" cy="38100"/>
            <a:chOff x="0" y="0"/>
            <a:chExt cx="416560" cy="50800"/>
          </a:xfrm>
        </p:grpSpPr>
        <p:sp>
          <p:nvSpPr>
            <p:cNvPr id="41" name="Freeform 41"/>
            <p:cNvSpPr/>
            <p:nvPr/>
          </p:nvSpPr>
          <p:spPr>
            <a:xfrm>
              <a:off x="25400" y="0"/>
              <a:ext cx="365760" cy="50800"/>
            </a:xfrm>
            <a:custGeom>
              <a:avLst/>
              <a:gdLst/>
              <a:ahLst/>
              <a:cxnLst/>
              <a:rect l="l" t="t" r="r" b="b"/>
              <a:pathLst>
                <a:path w="365760" h="5080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6080743" y="4742183"/>
            <a:ext cx="939803" cy="1122683"/>
            <a:chOff x="0" y="0"/>
            <a:chExt cx="1253071" cy="149691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A6072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1252982" cy="1496822"/>
            </a:xfrm>
            <a:custGeom>
              <a:avLst/>
              <a:gdLst/>
              <a:ahLst/>
              <a:cxnLst/>
              <a:rect l="l" t="t" r="r" b="b"/>
              <a:pathLst>
                <a:path w="1252982" h="149682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479931"/>
                  </a:lnTo>
                  <a:cubicBezTo>
                    <a:pt x="1252982" y="1489329"/>
                    <a:pt x="1245362" y="1496822"/>
                    <a:pt x="1236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236091" y="1463040"/>
                  </a:lnTo>
                  <a:lnTo>
                    <a:pt x="1236091" y="1479931"/>
                  </a:lnTo>
                  <a:lnTo>
                    <a:pt x="1219200" y="1479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6093440" y="4754880"/>
            <a:ext cx="914400" cy="1097280"/>
            <a:chOff x="0" y="0"/>
            <a:chExt cx="1219200" cy="14630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21920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344400" y="6035040"/>
            <a:ext cx="5303520" cy="512064"/>
            <a:chOff x="0" y="0"/>
            <a:chExt cx="7071360" cy="6827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071360" cy="682752"/>
            </a:xfrm>
            <a:custGeom>
              <a:avLst/>
              <a:gdLst/>
              <a:ahLst/>
              <a:cxnLst/>
              <a:rect l="l" t="t" r="r" b="b"/>
              <a:pathLst>
                <a:path w="7071360" h="682752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809" b="-15180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 0              ...            bit 15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44400" y="6675120"/>
            <a:ext cx="5303520" cy="640080"/>
            <a:chOff x="0" y="0"/>
            <a:chExt cx="7071360" cy="8534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447" b="-11144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7071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 uses: A + (NOT B) + 1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44400" y="7406640"/>
            <a:ext cx="5303520" cy="1097280"/>
            <a:chOff x="0" y="0"/>
            <a:chExt cx="7071360" cy="14630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071360" cy="1463040"/>
            </a:xfrm>
            <a:custGeom>
              <a:avLst/>
              <a:gdLst/>
              <a:ahLst/>
              <a:cxnLst/>
              <a:rect l="l" t="t" r="r" b="b"/>
              <a:pathLst>
                <a:path w="7071360" h="146304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Undefined alu_op → Output = 0x0000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14400" y="9418320"/>
            <a:ext cx="16459200" cy="548640"/>
            <a:chOff x="0" y="0"/>
            <a:chExt cx="21945600" cy="7315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Fully Combinational  •  No clock required  •  Result available within propagation delay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994" b="-16526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 File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1645920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16 × 16‑bit General‑Purpose Registers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1703" y="2273303"/>
            <a:ext cx="16484603" cy="80267"/>
            <a:chOff x="0" y="0"/>
            <a:chExt cx="21979471" cy="107023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2695371"/>
            <a:ext cx="8097517" cy="7000237"/>
            <a:chOff x="0" y="0"/>
            <a:chExt cx="10796689" cy="9333649"/>
          </a:xfrm>
        </p:grpSpPr>
        <p:sp>
          <p:nvSpPr>
            <p:cNvPr id="12" name="Freeform 12"/>
            <p:cNvSpPr/>
            <p:nvPr/>
          </p:nvSpPr>
          <p:spPr>
            <a:xfrm>
              <a:off x="33909" y="33909"/>
              <a:ext cx="10728960" cy="9265919"/>
            </a:xfrm>
            <a:custGeom>
              <a:avLst/>
              <a:gdLst/>
              <a:ahLst/>
              <a:cxnLst/>
              <a:rect l="l" t="t" r="r" b="b"/>
              <a:pathLst>
                <a:path w="10728960" h="9265919">
                  <a:moveTo>
                    <a:pt x="0" y="0"/>
                  </a:moveTo>
                  <a:lnTo>
                    <a:pt x="10728960" y="0"/>
                  </a:lnTo>
                  <a:lnTo>
                    <a:pt x="10728960" y="9265919"/>
                  </a:lnTo>
                  <a:lnTo>
                    <a:pt x="0" y="9265919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0796778" cy="9333738"/>
            </a:xfrm>
            <a:custGeom>
              <a:avLst/>
              <a:gdLst/>
              <a:ahLst/>
              <a:cxnLst/>
              <a:rect l="l" t="t" r="r" b="b"/>
              <a:pathLst>
                <a:path w="10796778" h="9333738">
                  <a:moveTo>
                    <a:pt x="33909" y="0"/>
                  </a:moveTo>
                  <a:lnTo>
                    <a:pt x="10762869" y="0"/>
                  </a:lnTo>
                  <a:cubicBezTo>
                    <a:pt x="10781538" y="0"/>
                    <a:pt x="10796778" y="15113"/>
                    <a:pt x="10796778" y="33909"/>
                  </a:cubicBezTo>
                  <a:lnTo>
                    <a:pt x="10796778" y="9299828"/>
                  </a:lnTo>
                  <a:cubicBezTo>
                    <a:pt x="10796778" y="9318498"/>
                    <a:pt x="10781665" y="9333738"/>
                    <a:pt x="10762869" y="9333738"/>
                  </a:cubicBezTo>
                  <a:lnTo>
                    <a:pt x="33909" y="9333738"/>
                  </a:lnTo>
                  <a:cubicBezTo>
                    <a:pt x="15240" y="9333738"/>
                    <a:pt x="0" y="9318625"/>
                    <a:pt x="0" y="9299828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299828"/>
                  </a:lnTo>
                  <a:lnTo>
                    <a:pt x="33909" y="9299828"/>
                  </a:lnTo>
                  <a:lnTo>
                    <a:pt x="33909" y="9265920"/>
                  </a:lnTo>
                  <a:lnTo>
                    <a:pt x="10762869" y="9265920"/>
                  </a:lnTo>
                  <a:lnTo>
                    <a:pt x="10762869" y="9299828"/>
                  </a:lnTo>
                  <a:lnTo>
                    <a:pt x="10728960" y="9299828"/>
                  </a:lnTo>
                  <a:lnTo>
                    <a:pt x="10728960" y="33909"/>
                  </a:lnTo>
                  <a:lnTo>
                    <a:pt x="10762869" y="33909"/>
                  </a:lnTo>
                  <a:lnTo>
                    <a:pt x="1076286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22678" y="3200400"/>
            <a:ext cx="7680960" cy="5486400"/>
            <a:chOff x="0" y="0"/>
            <a:chExt cx="10241280" cy="7315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1280" cy="7315200"/>
            </a:xfrm>
            <a:custGeom>
              <a:avLst/>
              <a:gdLst/>
              <a:ahLst/>
              <a:cxnLst/>
              <a:rect l="l" t="t" r="r" b="b"/>
              <a:pathLst>
                <a:path w="10241280" h="731520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241280" cy="7372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 array: reg_data (0 to 15).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Asynchronous Reads: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</a:t>
              </a:r>
              <a:r>
                <a:rPr lang="en-US" sz="2999">
                  <a:solidFill>
                    <a:srgbClr val="E8F4F8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ABus = reg[Ra], BBus = reg[Rb] – available                                   i       immediately, no clock delay.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Synchronous Write: 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</a:t>
              </a:r>
              <a:r>
                <a:rPr lang="en-US" sz="2999">
                  <a:solidFill>
                    <a:srgbClr val="E8F4F8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On rising clock edge, if wrt = '1', result →              r      reg[Rd].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Reset Behaviour: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E8F4F8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        Asynchronous: all 16 registers clear to            0     0x0000 immediately when res = '1'.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44457" y="2715520"/>
            <a:ext cx="8060195" cy="7000237"/>
            <a:chOff x="0" y="0"/>
            <a:chExt cx="10746926" cy="9333649"/>
          </a:xfrm>
        </p:grpSpPr>
        <p:sp>
          <p:nvSpPr>
            <p:cNvPr id="18" name="Freeform 18"/>
            <p:cNvSpPr/>
            <p:nvPr/>
          </p:nvSpPr>
          <p:spPr>
            <a:xfrm>
              <a:off x="14167" y="12960"/>
              <a:ext cx="10718580" cy="9307674"/>
            </a:xfrm>
            <a:custGeom>
              <a:avLst/>
              <a:gdLst/>
              <a:ahLst/>
              <a:cxnLst/>
              <a:rect l="l" t="t" r="r" b="b"/>
              <a:pathLst>
                <a:path w="10718580" h="9307674">
                  <a:moveTo>
                    <a:pt x="0" y="0"/>
                  </a:moveTo>
                  <a:lnTo>
                    <a:pt x="10718580" y="0"/>
                  </a:lnTo>
                  <a:lnTo>
                    <a:pt x="10718580" y="9307674"/>
                  </a:lnTo>
                  <a:lnTo>
                    <a:pt x="0" y="9307674"/>
                  </a:lnTo>
                  <a:close/>
                </a:path>
              </a:pathLst>
            </a:custGeom>
            <a:solidFill>
              <a:srgbClr val="060B1A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746915" cy="9333595"/>
            </a:xfrm>
            <a:custGeom>
              <a:avLst/>
              <a:gdLst/>
              <a:ahLst/>
              <a:cxnLst/>
              <a:rect l="l" t="t" r="r" b="b"/>
              <a:pathLst>
                <a:path w="10746915" h="9333595">
                  <a:moveTo>
                    <a:pt x="14167" y="0"/>
                  </a:moveTo>
                  <a:lnTo>
                    <a:pt x="10732747" y="0"/>
                  </a:lnTo>
                  <a:cubicBezTo>
                    <a:pt x="10740539" y="0"/>
                    <a:pt x="10746915" y="5832"/>
                    <a:pt x="10746915" y="12960"/>
                  </a:cubicBezTo>
                  <a:lnTo>
                    <a:pt x="10746915" y="9320634"/>
                  </a:lnTo>
                  <a:cubicBezTo>
                    <a:pt x="10746915" y="9327762"/>
                    <a:pt x="10740539" y="9333595"/>
                    <a:pt x="10732747" y="9333595"/>
                  </a:cubicBezTo>
                  <a:lnTo>
                    <a:pt x="14167" y="9333595"/>
                  </a:lnTo>
                  <a:cubicBezTo>
                    <a:pt x="6375" y="9333595"/>
                    <a:pt x="0" y="9327762"/>
                    <a:pt x="0" y="9320634"/>
                  </a:cubicBezTo>
                  <a:lnTo>
                    <a:pt x="0" y="12960"/>
                  </a:lnTo>
                  <a:cubicBezTo>
                    <a:pt x="0" y="5832"/>
                    <a:pt x="6375" y="0"/>
                    <a:pt x="14167" y="0"/>
                  </a:cubicBezTo>
                  <a:moveTo>
                    <a:pt x="14167" y="25921"/>
                  </a:moveTo>
                  <a:lnTo>
                    <a:pt x="14167" y="12960"/>
                  </a:lnTo>
                  <a:lnTo>
                    <a:pt x="28334" y="12960"/>
                  </a:lnTo>
                  <a:lnTo>
                    <a:pt x="28334" y="9320634"/>
                  </a:lnTo>
                  <a:lnTo>
                    <a:pt x="14167" y="9320634"/>
                  </a:lnTo>
                  <a:lnTo>
                    <a:pt x="14167" y="9307674"/>
                  </a:lnTo>
                  <a:lnTo>
                    <a:pt x="10732747" y="9307674"/>
                  </a:lnTo>
                  <a:lnTo>
                    <a:pt x="10732747" y="9320634"/>
                  </a:lnTo>
                  <a:lnTo>
                    <a:pt x="10718580" y="9320634"/>
                  </a:lnTo>
                  <a:lnTo>
                    <a:pt x="10718580" y="12960"/>
                  </a:lnTo>
                  <a:lnTo>
                    <a:pt x="10732747" y="12960"/>
                  </a:lnTo>
                  <a:lnTo>
                    <a:pt x="10732747" y="25921"/>
                  </a:lnTo>
                  <a:lnTo>
                    <a:pt x="14167" y="25921"/>
                  </a:lnTo>
                  <a:close/>
                </a:path>
              </a:pathLst>
            </a:custGeom>
            <a:solidFill>
              <a:srgbClr val="62E7F5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927649" y="2814466"/>
            <a:ext cx="6699830" cy="30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939" b="1">
                <a:solidFill>
                  <a:srgbClr val="62E7F5"/>
                </a:solidFill>
                <a:latin typeface="Inter Bold"/>
                <a:ea typeface="Inter Bold"/>
                <a:cs typeface="Inter Bold"/>
                <a:sym typeface="Inter Bold"/>
              </a:rPr>
              <a:t>REGISTER ARRAY (16 × 16-bit)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661688" y="3257448"/>
            <a:ext cx="7468200" cy="19682"/>
          </a:xfrm>
          <a:prstGeom prst="line">
            <a:avLst/>
          </a:prstGeom>
          <a:ln w="9525" cap="rnd">
            <a:solidFill>
              <a:srgbClr val="62E7F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9839037" y="3411138"/>
            <a:ext cx="1556695" cy="1414823"/>
            <a:chOff x="0" y="0"/>
            <a:chExt cx="2409800" cy="2190178"/>
          </a:xfrm>
        </p:grpSpPr>
        <p:sp>
          <p:nvSpPr>
            <p:cNvPr id="23" name="Freeform 23"/>
            <p:cNvSpPr/>
            <p:nvPr/>
          </p:nvSpPr>
          <p:spPr>
            <a:xfrm>
              <a:off x="15240" y="1524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2409825" cy="2190115"/>
            </a:xfrm>
            <a:custGeom>
              <a:avLst/>
              <a:gdLst/>
              <a:ahLst/>
              <a:cxnLst/>
              <a:rect l="l" t="t" r="r" b="b"/>
              <a:pathLst>
                <a:path w="2409825" h="2190115">
                  <a:moveTo>
                    <a:pt x="15240" y="0"/>
                  </a:moveTo>
                  <a:lnTo>
                    <a:pt x="2394585" y="0"/>
                  </a:lnTo>
                  <a:cubicBezTo>
                    <a:pt x="2402967" y="0"/>
                    <a:pt x="2409825" y="6858"/>
                    <a:pt x="2409825" y="15240"/>
                  </a:cubicBezTo>
                  <a:lnTo>
                    <a:pt x="2409825" y="2174875"/>
                  </a:lnTo>
                  <a:cubicBezTo>
                    <a:pt x="2409825" y="2183257"/>
                    <a:pt x="2402967" y="2190115"/>
                    <a:pt x="2394585" y="2190115"/>
                  </a:cubicBezTo>
                  <a:lnTo>
                    <a:pt x="15240" y="2190115"/>
                  </a:lnTo>
                  <a:cubicBezTo>
                    <a:pt x="6858" y="2190115"/>
                    <a:pt x="0" y="2183257"/>
                    <a:pt x="0" y="2174875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2174875"/>
                  </a:lnTo>
                  <a:lnTo>
                    <a:pt x="15240" y="2174875"/>
                  </a:lnTo>
                  <a:lnTo>
                    <a:pt x="15240" y="2159635"/>
                  </a:lnTo>
                  <a:lnTo>
                    <a:pt x="2394585" y="2159635"/>
                  </a:lnTo>
                  <a:lnTo>
                    <a:pt x="2394585" y="2174875"/>
                  </a:lnTo>
                  <a:lnTo>
                    <a:pt x="2379345" y="2174875"/>
                  </a:lnTo>
                  <a:lnTo>
                    <a:pt x="2379345" y="15240"/>
                  </a:lnTo>
                  <a:lnTo>
                    <a:pt x="2394585" y="15240"/>
                  </a:lnTo>
                  <a:lnTo>
                    <a:pt x="2394585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62E7F5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927649" y="3554955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62E7F5"/>
                </a:solidFill>
                <a:latin typeface="Antonio"/>
                <a:ea typeface="Antonio"/>
                <a:cs typeface="Antonio"/>
                <a:sym typeface="Antonio"/>
              </a:rPr>
              <a:t>R00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7649" y="3980579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960957" y="4337027"/>
            <a:ext cx="1312847" cy="272422"/>
            <a:chOff x="0" y="0"/>
            <a:chExt cx="2032318" cy="421716"/>
          </a:xfrm>
        </p:grpSpPr>
        <p:sp>
          <p:nvSpPr>
            <p:cNvPr id="28" name="Freeform 28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045877" y="4373034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617413" y="3416061"/>
            <a:ext cx="1546842" cy="1404970"/>
            <a:chOff x="0" y="0"/>
            <a:chExt cx="2394547" cy="2174926"/>
          </a:xfrm>
        </p:grpSpPr>
        <p:sp>
          <p:nvSpPr>
            <p:cNvPr id="32" name="Freeform 32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1701102" y="3554955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62E7F5"/>
                </a:solidFill>
                <a:latin typeface="Antonio"/>
                <a:ea typeface="Antonio"/>
                <a:cs typeface="Antonio"/>
                <a:sym typeface="Antonio"/>
              </a:rPr>
              <a:t>R01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01102" y="3980579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1734410" y="4337027"/>
            <a:ext cx="1312847" cy="272422"/>
            <a:chOff x="0" y="0"/>
            <a:chExt cx="2032318" cy="421716"/>
          </a:xfrm>
        </p:grpSpPr>
        <p:sp>
          <p:nvSpPr>
            <p:cNvPr id="37" name="Freeform 37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1819330" y="4373034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3390866" y="3416061"/>
            <a:ext cx="1546842" cy="1404970"/>
            <a:chOff x="0" y="0"/>
            <a:chExt cx="2394547" cy="2174926"/>
          </a:xfrm>
        </p:grpSpPr>
        <p:sp>
          <p:nvSpPr>
            <p:cNvPr id="41" name="Freeform 41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3474555" y="3554955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62E7F5"/>
                </a:solidFill>
                <a:latin typeface="Antonio"/>
                <a:ea typeface="Antonio"/>
                <a:cs typeface="Antonio"/>
                <a:sym typeface="Antonio"/>
              </a:rPr>
              <a:t>R02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474555" y="3980579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3507863" y="4337027"/>
            <a:ext cx="1312847" cy="272422"/>
            <a:chOff x="0" y="0"/>
            <a:chExt cx="2032318" cy="421716"/>
          </a:xfrm>
        </p:grpSpPr>
        <p:sp>
          <p:nvSpPr>
            <p:cNvPr id="46" name="Freeform 46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13592783" y="4373034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5164318" y="3416061"/>
            <a:ext cx="1546842" cy="1404970"/>
            <a:chOff x="0" y="0"/>
            <a:chExt cx="2394547" cy="2174926"/>
          </a:xfrm>
        </p:grpSpPr>
        <p:sp>
          <p:nvSpPr>
            <p:cNvPr id="50" name="Freeform 50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52" name="TextBox 52"/>
          <p:cNvSpPr txBox="1"/>
          <p:nvPr/>
        </p:nvSpPr>
        <p:spPr>
          <a:xfrm>
            <a:off x="15248008" y="3554955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248008" y="3980579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5281316" y="4337027"/>
            <a:ext cx="1312847" cy="272422"/>
            <a:chOff x="0" y="0"/>
            <a:chExt cx="2032318" cy="421716"/>
          </a:xfrm>
        </p:grpSpPr>
        <p:sp>
          <p:nvSpPr>
            <p:cNvPr id="55" name="Freeform 55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57" name="TextBox 57"/>
          <p:cNvSpPr txBox="1"/>
          <p:nvPr/>
        </p:nvSpPr>
        <p:spPr>
          <a:xfrm>
            <a:off x="15366236" y="4373034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843960" y="5047642"/>
            <a:ext cx="1546842" cy="1404970"/>
            <a:chOff x="0" y="0"/>
            <a:chExt cx="2394547" cy="2174926"/>
          </a:xfrm>
        </p:grpSpPr>
        <p:sp>
          <p:nvSpPr>
            <p:cNvPr id="59" name="Freeform 59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9927649" y="5186527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927649" y="5612160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9960957" y="5968599"/>
            <a:ext cx="1312847" cy="272422"/>
            <a:chOff x="0" y="0"/>
            <a:chExt cx="2032318" cy="421716"/>
          </a:xfrm>
        </p:grpSpPr>
        <p:sp>
          <p:nvSpPr>
            <p:cNvPr id="64" name="Freeform 64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66" name="TextBox 66"/>
          <p:cNvSpPr txBox="1"/>
          <p:nvPr/>
        </p:nvSpPr>
        <p:spPr>
          <a:xfrm>
            <a:off x="10045877" y="6004615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1617413" y="5047642"/>
            <a:ext cx="1546842" cy="1404970"/>
            <a:chOff x="0" y="0"/>
            <a:chExt cx="2394547" cy="2174926"/>
          </a:xfrm>
        </p:grpSpPr>
        <p:sp>
          <p:nvSpPr>
            <p:cNvPr id="68" name="Freeform 68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70" name="TextBox 70"/>
          <p:cNvSpPr txBox="1"/>
          <p:nvPr/>
        </p:nvSpPr>
        <p:spPr>
          <a:xfrm>
            <a:off x="11701102" y="5186527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R05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701102" y="5612160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1734410" y="5968599"/>
            <a:ext cx="1312847" cy="272422"/>
            <a:chOff x="0" y="0"/>
            <a:chExt cx="2032318" cy="421716"/>
          </a:xfrm>
        </p:grpSpPr>
        <p:sp>
          <p:nvSpPr>
            <p:cNvPr id="73" name="Freeform 73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75" name="TextBox 75"/>
          <p:cNvSpPr txBox="1"/>
          <p:nvPr/>
        </p:nvSpPr>
        <p:spPr>
          <a:xfrm>
            <a:off x="11819330" y="6004615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3390866" y="5047642"/>
            <a:ext cx="1546842" cy="1404970"/>
            <a:chOff x="0" y="0"/>
            <a:chExt cx="2394547" cy="2174926"/>
          </a:xfrm>
        </p:grpSpPr>
        <p:sp>
          <p:nvSpPr>
            <p:cNvPr id="77" name="Freeform 77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79" name="TextBox 79"/>
          <p:cNvSpPr txBox="1"/>
          <p:nvPr/>
        </p:nvSpPr>
        <p:spPr>
          <a:xfrm>
            <a:off x="13474555" y="5186527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R06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474555" y="5612160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3507863" y="5968599"/>
            <a:ext cx="1312847" cy="272422"/>
            <a:chOff x="0" y="0"/>
            <a:chExt cx="2032318" cy="421716"/>
          </a:xfrm>
        </p:grpSpPr>
        <p:sp>
          <p:nvSpPr>
            <p:cNvPr id="82" name="Freeform 82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13592783" y="6004615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5164318" y="5047642"/>
            <a:ext cx="1546842" cy="1404970"/>
            <a:chOff x="0" y="0"/>
            <a:chExt cx="2394547" cy="2174926"/>
          </a:xfrm>
        </p:grpSpPr>
        <p:sp>
          <p:nvSpPr>
            <p:cNvPr id="86" name="Freeform 86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88" name="TextBox 88"/>
          <p:cNvSpPr txBox="1"/>
          <p:nvPr/>
        </p:nvSpPr>
        <p:spPr>
          <a:xfrm>
            <a:off x="15248008" y="5186527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R07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248008" y="5612160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15281316" y="5968599"/>
            <a:ext cx="1312847" cy="272422"/>
            <a:chOff x="0" y="0"/>
            <a:chExt cx="2032318" cy="421716"/>
          </a:xfrm>
        </p:grpSpPr>
        <p:sp>
          <p:nvSpPr>
            <p:cNvPr id="91" name="Freeform 91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92" name="Freeform 92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93" name="TextBox 93"/>
          <p:cNvSpPr txBox="1"/>
          <p:nvPr/>
        </p:nvSpPr>
        <p:spPr>
          <a:xfrm>
            <a:off x="15366236" y="6004615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94" name="Group 94"/>
          <p:cNvGrpSpPr/>
          <p:nvPr/>
        </p:nvGrpSpPr>
        <p:grpSpPr>
          <a:xfrm>
            <a:off x="9843960" y="6679215"/>
            <a:ext cx="1546842" cy="1404970"/>
            <a:chOff x="0" y="0"/>
            <a:chExt cx="2394547" cy="2174926"/>
          </a:xfrm>
        </p:grpSpPr>
        <p:sp>
          <p:nvSpPr>
            <p:cNvPr id="95" name="Freeform 95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96" name="Freeform 96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97" name="TextBox 97"/>
          <p:cNvSpPr txBox="1"/>
          <p:nvPr/>
        </p:nvSpPr>
        <p:spPr>
          <a:xfrm>
            <a:off x="9927649" y="6818100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R08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927649" y="7243733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99" name="Group 99"/>
          <p:cNvGrpSpPr/>
          <p:nvPr/>
        </p:nvGrpSpPr>
        <p:grpSpPr>
          <a:xfrm>
            <a:off x="9960957" y="7600180"/>
            <a:ext cx="1312847" cy="272422"/>
            <a:chOff x="0" y="0"/>
            <a:chExt cx="2032318" cy="421716"/>
          </a:xfrm>
        </p:grpSpPr>
        <p:sp>
          <p:nvSpPr>
            <p:cNvPr id="100" name="Freeform 100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01" name="Freeform 101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02" name="TextBox 102"/>
          <p:cNvSpPr txBox="1"/>
          <p:nvPr/>
        </p:nvSpPr>
        <p:spPr>
          <a:xfrm>
            <a:off x="10045877" y="7636188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11617413" y="6679215"/>
            <a:ext cx="1546842" cy="1404970"/>
            <a:chOff x="0" y="0"/>
            <a:chExt cx="2394547" cy="2174926"/>
          </a:xfrm>
        </p:grpSpPr>
        <p:sp>
          <p:nvSpPr>
            <p:cNvPr id="104" name="Freeform 104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06" name="TextBox 106"/>
          <p:cNvSpPr txBox="1"/>
          <p:nvPr/>
        </p:nvSpPr>
        <p:spPr>
          <a:xfrm>
            <a:off x="11701102" y="6818100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R09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701102" y="7243733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08" name="Group 108"/>
          <p:cNvGrpSpPr/>
          <p:nvPr/>
        </p:nvGrpSpPr>
        <p:grpSpPr>
          <a:xfrm>
            <a:off x="11734410" y="7600180"/>
            <a:ext cx="1312847" cy="272422"/>
            <a:chOff x="0" y="0"/>
            <a:chExt cx="2032318" cy="421716"/>
          </a:xfrm>
        </p:grpSpPr>
        <p:sp>
          <p:nvSpPr>
            <p:cNvPr id="109" name="Freeform 109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10" name="Freeform 110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11" name="TextBox 111"/>
          <p:cNvSpPr txBox="1"/>
          <p:nvPr/>
        </p:nvSpPr>
        <p:spPr>
          <a:xfrm>
            <a:off x="11819330" y="7636188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13390866" y="6679215"/>
            <a:ext cx="1546842" cy="1404970"/>
            <a:chOff x="0" y="0"/>
            <a:chExt cx="2394547" cy="2174926"/>
          </a:xfrm>
        </p:grpSpPr>
        <p:sp>
          <p:nvSpPr>
            <p:cNvPr id="113" name="Freeform 113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14" name="Freeform 114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15" name="TextBox 115"/>
          <p:cNvSpPr txBox="1"/>
          <p:nvPr/>
        </p:nvSpPr>
        <p:spPr>
          <a:xfrm>
            <a:off x="13474555" y="6818100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R10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3474555" y="7243733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13507863" y="7600180"/>
            <a:ext cx="1312847" cy="272422"/>
            <a:chOff x="0" y="0"/>
            <a:chExt cx="2032318" cy="421716"/>
          </a:xfrm>
        </p:grpSpPr>
        <p:sp>
          <p:nvSpPr>
            <p:cNvPr id="118" name="Freeform 118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19" name="Freeform 119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20" name="TextBox 120"/>
          <p:cNvSpPr txBox="1"/>
          <p:nvPr/>
        </p:nvSpPr>
        <p:spPr>
          <a:xfrm>
            <a:off x="13592783" y="7636188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15164318" y="6679215"/>
            <a:ext cx="1546842" cy="1404970"/>
            <a:chOff x="0" y="0"/>
            <a:chExt cx="2394547" cy="2174926"/>
          </a:xfrm>
        </p:grpSpPr>
        <p:sp>
          <p:nvSpPr>
            <p:cNvPr id="122" name="Freeform 122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24" name="TextBox 124"/>
          <p:cNvSpPr txBox="1"/>
          <p:nvPr/>
        </p:nvSpPr>
        <p:spPr>
          <a:xfrm>
            <a:off x="15248008" y="6818100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R11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5248008" y="7243733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26" name="Group 126"/>
          <p:cNvGrpSpPr/>
          <p:nvPr/>
        </p:nvGrpSpPr>
        <p:grpSpPr>
          <a:xfrm>
            <a:off x="15281316" y="7600180"/>
            <a:ext cx="1312847" cy="272422"/>
            <a:chOff x="0" y="0"/>
            <a:chExt cx="2032318" cy="421716"/>
          </a:xfrm>
        </p:grpSpPr>
        <p:sp>
          <p:nvSpPr>
            <p:cNvPr id="127" name="Freeform 127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28" name="Freeform 128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29" name="TextBox 129"/>
          <p:cNvSpPr txBox="1"/>
          <p:nvPr/>
        </p:nvSpPr>
        <p:spPr>
          <a:xfrm>
            <a:off x="15366236" y="7636188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30" name="Group 130"/>
          <p:cNvGrpSpPr/>
          <p:nvPr/>
        </p:nvGrpSpPr>
        <p:grpSpPr>
          <a:xfrm>
            <a:off x="9843960" y="8310787"/>
            <a:ext cx="1546842" cy="1404970"/>
            <a:chOff x="0" y="0"/>
            <a:chExt cx="2394547" cy="2174926"/>
          </a:xfrm>
        </p:grpSpPr>
        <p:sp>
          <p:nvSpPr>
            <p:cNvPr id="131" name="Freeform 131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32" name="Freeform 132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33" name="TextBox 133"/>
          <p:cNvSpPr txBox="1"/>
          <p:nvPr/>
        </p:nvSpPr>
        <p:spPr>
          <a:xfrm>
            <a:off x="9927649" y="8449681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R12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927649" y="8875305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35" name="Group 135"/>
          <p:cNvGrpSpPr/>
          <p:nvPr/>
        </p:nvGrpSpPr>
        <p:grpSpPr>
          <a:xfrm>
            <a:off x="9960957" y="9231753"/>
            <a:ext cx="1312847" cy="272422"/>
            <a:chOff x="0" y="0"/>
            <a:chExt cx="2032318" cy="421716"/>
          </a:xfrm>
        </p:grpSpPr>
        <p:sp>
          <p:nvSpPr>
            <p:cNvPr id="136" name="Freeform 136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37" name="Freeform 137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38" name="TextBox 138"/>
          <p:cNvSpPr txBox="1"/>
          <p:nvPr/>
        </p:nvSpPr>
        <p:spPr>
          <a:xfrm>
            <a:off x="10045877" y="9267760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39" name="Group 139"/>
          <p:cNvGrpSpPr/>
          <p:nvPr/>
        </p:nvGrpSpPr>
        <p:grpSpPr>
          <a:xfrm>
            <a:off x="11617413" y="8310787"/>
            <a:ext cx="1546842" cy="1404970"/>
            <a:chOff x="0" y="0"/>
            <a:chExt cx="2394547" cy="2174926"/>
          </a:xfrm>
        </p:grpSpPr>
        <p:sp>
          <p:nvSpPr>
            <p:cNvPr id="140" name="Freeform 140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41" name="Freeform 141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42" name="TextBox 142"/>
          <p:cNvSpPr txBox="1"/>
          <p:nvPr/>
        </p:nvSpPr>
        <p:spPr>
          <a:xfrm>
            <a:off x="11701102" y="8449681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R13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1701102" y="8875305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44" name="Group 144"/>
          <p:cNvGrpSpPr/>
          <p:nvPr/>
        </p:nvGrpSpPr>
        <p:grpSpPr>
          <a:xfrm>
            <a:off x="11734410" y="9231753"/>
            <a:ext cx="1312847" cy="272422"/>
            <a:chOff x="0" y="0"/>
            <a:chExt cx="2032318" cy="421716"/>
          </a:xfrm>
        </p:grpSpPr>
        <p:sp>
          <p:nvSpPr>
            <p:cNvPr id="145" name="Freeform 145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46" name="Freeform 146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47" name="TextBox 147"/>
          <p:cNvSpPr txBox="1"/>
          <p:nvPr/>
        </p:nvSpPr>
        <p:spPr>
          <a:xfrm>
            <a:off x="11819330" y="9267760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48" name="Group 148"/>
          <p:cNvGrpSpPr/>
          <p:nvPr/>
        </p:nvGrpSpPr>
        <p:grpSpPr>
          <a:xfrm>
            <a:off x="13390866" y="8310787"/>
            <a:ext cx="1546842" cy="1404970"/>
            <a:chOff x="0" y="0"/>
            <a:chExt cx="2394547" cy="2174926"/>
          </a:xfrm>
        </p:grpSpPr>
        <p:sp>
          <p:nvSpPr>
            <p:cNvPr id="149" name="Freeform 149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50" name="Freeform 150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51" name="TextBox 151"/>
          <p:cNvSpPr txBox="1"/>
          <p:nvPr/>
        </p:nvSpPr>
        <p:spPr>
          <a:xfrm>
            <a:off x="13474555" y="8449681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R14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3474555" y="8875305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13507863" y="9231753"/>
            <a:ext cx="1312847" cy="272422"/>
            <a:chOff x="0" y="0"/>
            <a:chExt cx="2032318" cy="421716"/>
          </a:xfrm>
        </p:grpSpPr>
        <p:sp>
          <p:nvSpPr>
            <p:cNvPr id="154" name="Freeform 154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55" name="Freeform 155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56" name="TextBox 156"/>
          <p:cNvSpPr txBox="1"/>
          <p:nvPr/>
        </p:nvSpPr>
        <p:spPr>
          <a:xfrm>
            <a:off x="13592783" y="9267760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57" name="Group 157"/>
          <p:cNvGrpSpPr/>
          <p:nvPr/>
        </p:nvGrpSpPr>
        <p:grpSpPr>
          <a:xfrm>
            <a:off x="15164318" y="8310787"/>
            <a:ext cx="1546842" cy="1404970"/>
            <a:chOff x="0" y="0"/>
            <a:chExt cx="2394547" cy="2174926"/>
          </a:xfrm>
        </p:grpSpPr>
        <p:sp>
          <p:nvSpPr>
            <p:cNvPr id="158" name="Freeform 158"/>
            <p:cNvSpPr/>
            <p:nvPr/>
          </p:nvSpPr>
          <p:spPr>
            <a:xfrm>
              <a:off x="7620" y="7620"/>
              <a:ext cx="2379345" cy="2159635"/>
            </a:xfrm>
            <a:custGeom>
              <a:avLst/>
              <a:gdLst/>
              <a:ahLst/>
              <a:cxnLst/>
              <a:rect l="l" t="t" r="r" b="b"/>
              <a:pathLst>
                <a:path w="2379345" h="2159635">
                  <a:moveTo>
                    <a:pt x="0" y="0"/>
                  </a:moveTo>
                  <a:lnTo>
                    <a:pt x="2379345" y="0"/>
                  </a:lnTo>
                  <a:lnTo>
                    <a:pt x="2379345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0A1535"/>
            </a:solidFill>
          </p:spPr>
        </p:sp>
        <p:sp>
          <p:nvSpPr>
            <p:cNvPr id="159" name="Freeform 159"/>
            <p:cNvSpPr/>
            <p:nvPr/>
          </p:nvSpPr>
          <p:spPr>
            <a:xfrm>
              <a:off x="0" y="0"/>
              <a:ext cx="2394585" cy="2174875"/>
            </a:xfrm>
            <a:custGeom>
              <a:avLst/>
              <a:gdLst/>
              <a:ahLst/>
              <a:cxnLst/>
              <a:rect l="l" t="t" r="r" b="b"/>
              <a:pathLst>
                <a:path w="2394585" h="2174875">
                  <a:moveTo>
                    <a:pt x="7620" y="0"/>
                  </a:moveTo>
                  <a:lnTo>
                    <a:pt x="2386965" y="0"/>
                  </a:lnTo>
                  <a:cubicBezTo>
                    <a:pt x="2391156" y="0"/>
                    <a:pt x="2394585" y="3429"/>
                    <a:pt x="2394585" y="7620"/>
                  </a:cubicBezTo>
                  <a:lnTo>
                    <a:pt x="2394585" y="2167255"/>
                  </a:lnTo>
                  <a:cubicBezTo>
                    <a:pt x="2394585" y="2171446"/>
                    <a:pt x="2391156" y="2174875"/>
                    <a:pt x="2386965" y="2174875"/>
                  </a:cubicBezTo>
                  <a:lnTo>
                    <a:pt x="7620" y="2174875"/>
                  </a:lnTo>
                  <a:cubicBezTo>
                    <a:pt x="3429" y="2174875"/>
                    <a:pt x="0" y="2171446"/>
                    <a:pt x="0" y="2167255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167255"/>
                  </a:lnTo>
                  <a:lnTo>
                    <a:pt x="7620" y="2167255"/>
                  </a:lnTo>
                  <a:lnTo>
                    <a:pt x="7620" y="2159635"/>
                  </a:lnTo>
                  <a:lnTo>
                    <a:pt x="2386965" y="2159635"/>
                  </a:lnTo>
                  <a:lnTo>
                    <a:pt x="2386965" y="2167255"/>
                  </a:lnTo>
                  <a:lnTo>
                    <a:pt x="2379345" y="2167255"/>
                  </a:lnTo>
                  <a:lnTo>
                    <a:pt x="2379345" y="7620"/>
                  </a:lnTo>
                  <a:lnTo>
                    <a:pt x="2386965" y="7620"/>
                  </a:lnTo>
                  <a:lnTo>
                    <a:pt x="2386965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60" name="TextBox 160"/>
          <p:cNvSpPr txBox="1"/>
          <p:nvPr/>
        </p:nvSpPr>
        <p:spPr>
          <a:xfrm>
            <a:off x="15248008" y="8449681"/>
            <a:ext cx="1379472" cy="33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80">
                <a:solidFill>
                  <a:srgbClr val="C8D8E0"/>
                </a:solidFill>
                <a:latin typeface="Antonio"/>
                <a:ea typeface="Antonio"/>
                <a:cs typeface="Antonio"/>
                <a:sym typeface="Antonio"/>
              </a:rPr>
              <a:t>R15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15248008" y="8875305"/>
            <a:ext cx="1379472" cy="25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163" i="1">
                <a:solidFill>
                  <a:srgbClr val="C8D8E0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16-bit</a:t>
            </a:r>
          </a:p>
        </p:txBody>
      </p:sp>
      <p:grpSp>
        <p:nvGrpSpPr>
          <p:cNvPr id="162" name="Group 162"/>
          <p:cNvGrpSpPr/>
          <p:nvPr/>
        </p:nvGrpSpPr>
        <p:grpSpPr>
          <a:xfrm>
            <a:off x="15281316" y="9231753"/>
            <a:ext cx="1312847" cy="272422"/>
            <a:chOff x="0" y="0"/>
            <a:chExt cx="2032318" cy="421716"/>
          </a:xfrm>
        </p:grpSpPr>
        <p:sp>
          <p:nvSpPr>
            <p:cNvPr id="163" name="Freeform 163"/>
            <p:cNvSpPr/>
            <p:nvPr/>
          </p:nvSpPr>
          <p:spPr>
            <a:xfrm>
              <a:off x="9525" y="9525"/>
              <a:ext cx="2013204" cy="402590"/>
            </a:xfrm>
            <a:custGeom>
              <a:avLst/>
              <a:gdLst/>
              <a:ahLst/>
              <a:cxnLst/>
              <a:rect l="l" t="t" r="r" b="b"/>
              <a:pathLst>
                <a:path w="2013204" h="402590">
                  <a:moveTo>
                    <a:pt x="0" y="0"/>
                  </a:moveTo>
                  <a:lnTo>
                    <a:pt x="2013204" y="0"/>
                  </a:lnTo>
                  <a:lnTo>
                    <a:pt x="201320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A2040"/>
            </a:solidFill>
          </p:spPr>
        </p:sp>
        <p:sp>
          <p:nvSpPr>
            <p:cNvPr id="164" name="Freeform 164"/>
            <p:cNvSpPr/>
            <p:nvPr/>
          </p:nvSpPr>
          <p:spPr>
            <a:xfrm>
              <a:off x="0" y="0"/>
              <a:ext cx="2032254" cy="421640"/>
            </a:xfrm>
            <a:custGeom>
              <a:avLst/>
              <a:gdLst/>
              <a:ahLst/>
              <a:cxnLst/>
              <a:rect l="l" t="t" r="r" b="b"/>
              <a:pathLst>
                <a:path w="2032254" h="421640">
                  <a:moveTo>
                    <a:pt x="9525" y="0"/>
                  </a:moveTo>
                  <a:lnTo>
                    <a:pt x="2022729" y="0"/>
                  </a:lnTo>
                  <a:cubicBezTo>
                    <a:pt x="2027936" y="0"/>
                    <a:pt x="2032254" y="4318"/>
                    <a:pt x="2032254" y="9525"/>
                  </a:cubicBezTo>
                  <a:lnTo>
                    <a:pt x="2032254" y="412115"/>
                  </a:lnTo>
                  <a:cubicBezTo>
                    <a:pt x="2032254" y="417322"/>
                    <a:pt x="2027936" y="421640"/>
                    <a:pt x="2022729" y="421640"/>
                  </a:cubicBezTo>
                  <a:lnTo>
                    <a:pt x="9525" y="421640"/>
                  </a:lnTo>
                  <a:cubicBezTo>
                    <a:pt x="4318" y="421640"/>
                    <a:pt x="0" y="417322"/>
                    <a:pt x="0" y="41211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2115"/>
                  </a:lnTo>
                  <a:lnTo>
                    <a:pt x="9525" y="412115"/>
                  </a:lnTo>
                  <a:lnTo>
                    <a:pt x="9525" y="402590"/>
                  </a:lnTo>
                  <a:lnTo>
                    <a:pt x="2022729" y="402590"/>
                  </a:lnTo>
                  <a:lnTo>
                    <a:pt x="2022729" y="412115"/>
                  </a:lnTo>
                  <a:lnTo>
                    <a:pt x="2013204" y="412115"/>
                  </a:lnTo>
                  <a:lnTo>
                    <a:pt x="2013204" y="9525"/>
                  </a:lnTo>
                  <a:lnTo>
                    <a:pt x="2022729" y="9525"/>
                  </a:lnTo>
                  <a:lnTo>
                    <a:pt x="202272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A3060"/>
            </a:solidFill>
          </p:spPr>
        </p:sp>
      </p:grpSp>
      <p:sp>
        <p:nvSpPr>
          <p:cNvPr id="165" name="TextBox 165"/>
          <p:cNvSpPr txBox="1"/>
          <p:nvPr/>
        </p:nvSpPr>
        <p:spPr>
          <a:xfrm>
            <a:off x="15366236" y="9267760"/>
            <a:ext cx="1143016" cy="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9">
                <a:solidFill>
                  <a:srgbClr val="C8D8E0"/>
                </a:solidFill>
                <a:latin typeface="Courier New"/>
                <a:ea typeface="Courier New"/>
                <a:cs typeface="Courier New"/>
                <a:sym typeface="Courier New"/>
              </a:rPr>
              <a:t>0x0000</a:t>
            </a:r>
          </a:p>
        </p:txBody>
      </p:sp>
      <p:grpSp>
        <p:nvGrpSpPr>
          <p:cNvPr id="166" name="Group 166"/>
          <p:cNvGrpSpPr/>
          <p:nvPr/>
        </p:nvGrpSpPr>
        <p:grpSpPr>
          <a:xfrm>
            <a:off x="1122678" y="2715520"/>
            <a:ext cx="267853" cy="6980088"/>
            <a:chOff x="0" y="0"/>
            <a:chExt cx="120377" cy="3136946"/>
          </a:xfrm>
        </p:grpSpPr>
        <p:sp>
          <p:nvSpPr>
            <p:cNvPr id="167" name="Freeform 167"/>
            <p:cNvSpPr/>
            <p:nvPr/>
          </p:nvSpPr>
          <p:spPr>
            <a:xfrm>
              <a:off x="189" y="36589"/>
              <a:ext cx="119998" cy="3063576"/>
            </a:xfrm>
            <a:custGeom>
              <a:avLst/>
              <a:gdLst/>
              <a:ahLst/>
              <a:cxnLst/>
              <a:rect l="l" t="t" r="r" b="b"/>
              <a:pathLst>
                <a:path w="119998" h="3063576">
                  <a:moveTo>
                    <a:pt x="0" y="0"/>
                  </a:moveTo>
                  <a:lnTo>
                    <a:pt x="119998" y="0"/>
                  </a:lnTo>
                  <a:lnTo>
                    <a:pt x="119998" y="3063576"/>
                  </a:lnTo>
                  <a:lnTo>
                    <a:pt x="0" y="3063576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68" name="Freeform 168"/>
            <p:cNvSpPr/>
            <p:nvPr/>
          </p:nvSpPr>
          <p:spPr>
            <a:xfrm>
              <a:off x="0" y="0"/>
              <a:ext cx="120376" cy="3136754"/>
            </a:xfrm>
            <a:custGeom>
              <a:avLst/>
              <a:gdLst/>
              <a:ahLst/>
              <a:cxnLst/>
              <a:rect l="l" t="t" r="r" b="b"/>
              <a:pathLst>
                <a:path w="120376" h="3136754">
                  <a:moveTo>
                    <a:pt x="189" y="0"/>
                  </a:moveTo>
                  <a:lnTo>
                    <a:pt x="120187" y="0"/>
                  </a:lnTo>
                  <a:cubicBezTo>
                    <a:pt x="120292" y="0"/>
                    <a:pt x="120376" y="16506"/>
                    <a:pt x="120376" y="36589"/>
                  </a:cubicBezTo>
                  <a:lnTo>
                    <a:pt x="120376" y="3100165"/>
                  </a:lnTo>
                  <a:cubicBezTo>
                    <a:pt x="120376" y="3120523"/>
                    <a:pt x="120290" y="3136754"/>
                    <a:pt x="120187" y="3136754"/>
                  </a:cubicBezTo>
                  <a:lnTo>
                    <a:pt x="189" y="3136754"/>
                  </a:lnTo>
                  <a:cubicBezTo>
                    <a:pt x="84" y="3136754"/>
                    <a:pt x="0" y="3120248"/>
                    <a:pt x="0" y="3100165"/>
                  </a:cubicBezTo>
                  <a:lnTo>
                    <a:pt x="0" y="36589"/>
                  </a:lnTo>
                  <a:cubicBezTo>
                    <a:pt x="0" y="16506"/>
                    <a:pt x="85" y="0"/>
                    <a:pt x="189" y="0"/>
                  </a:cubicBezTo>
                  <a:moveTo>
                    <a:pt x="189" y="73453"/>
                  </a:moveTo>
                  <a:lnTo>
                    <a:pt x="189" y="36589"/>
                  </a:lnTo>
                  <a:lnTo>
                    <a:pt x="379" y="36589"/>
                  </a:lnTo>
                  <a:lnTo>
                    <a:pt x="379" y="3100165"/>
                  </a:lnTo>
                  <a:lnTo>
                    <a:pt x="189" y="3100165"/>
                  </a:lnTo>
                  <a:lnTo>
                    <a:pt x="189" y="3063576"/>
                  </a:lnTo>
                  <a:lnTo>
                    <a:pt x="120187" y="3063576"/>
                  </a:lnTo>
                  <a:lnTo>
                    <a:pt x="120187" y="3100165"/>
                  </a:lnTo>
                  <a:lnTo>
                    <a:pt x="119998" y="3100165"/>
                  </a:lnTo>
                  <a:lnTo>
                    <a:pt x="119998" y="36589"/>
                  </a:lnTo>
                  <a:lnTo>
                    <a:pt x="120187" y="36589"/>
                  </a:lnTo>
                  <a:lnTo>
                    <a:pt x="120187" y="73453"/>
                  </a:lnTo>
                  <a:lnTo>
                    <a:pt x="189" y="73453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Shifter Block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1645920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Fixed-pattern bit rotations &amp; shifts — fundamental to lightweight ciphers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1703" y="2273303"/>
            <a:ext cx="16484603" cy="80267"/>
            <a:chOff x="0" y="0"/>
            <a:chExt cx="21979471" cy="107023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2547623"/>
            <a:ext cx="5328923" cy="7157723"/>
            <a:chOff x="0" y="0"/>
            <a:chExt cx="7105231" cy="95436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9509760"/>
            </a:xfrm>
            <a:custGeom>
              <a:avLst/>
              <a:gdLst/>
              <a:ahLst/>
              <a:cxnLst/>
              <a:rect l="l" t="t" r="r" b="b"/>
              <a:pathLst>
                <a:path w="7071360" h="9509760">
                  <a:moveTo>
                    <a:pt x="0" y="0"/>
                  </a:moveTo>
                  <a:lnTo>
                    <a:pt x="7071360" y="0"/>
                  </a:lnTo>
                  <a:lnTo>
                    <a:pt x="70713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9543542"/>
            </a:xfrm>
            <a:custGeom>
              <a:avLst/>
              <a:gdLst/>
              <a:ahLst/>
              <a:cxnLst/>
              <a:rect l="l" t="t" r="r" b="b"/>
              <a:pathLst>
                <a:path w="7105142" h="95435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526651"/>
                  </a:lnTo>
                  <a:cubicBezTo>
                    <a:pt x="7105142" y="9536049"/>
                    <a:pt x="7097522" y="9543542"/>
                    <a:pt x="708825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088251" y="9509760"/>
                  </a:lnTo>
                  <a:lnTo>
                    <a:pt x="7088251" y="9526651"/>
                  </a:lnTo>
                  <a:lnTo>
                    <a:pt x="7071360" y="95266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01703" y="2547623"/>
            <a:ext cx="5328923" cy="135131"/>
            <a:chOff x="0" y="0"/>
            <a:chExt cx="7105231" cy="18017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071360" cy="146304"/>
            </a:xfrm>
            <a:custGeom>
              <a:avLst/>
              <a:gdLst/>
              <a:ahLst/>
              <a:cxnLst/>
              <a:rect l="l" t="t" r="r" b="b"/>
              <a:pathLst>
                <a:path w="7071360" h="146304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105142" cy="180088"/>
            </a:xfrm>
            <a:custGeom>
              <a:avLst/>
              <a:gdLst/>
              <a:ahLst/>
              <a:cxnLst/>
              <a:rect l="l" t="t" r="r" b="b"/>
              <a:pathLst>
                <a:path w="7105142" h="180088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63195"/>
                  </a:lnTo>
                  <a:cubicBezTo>
                    <a:pt x="7105142" y="172593"/>
                    <a:pt x="7097522" y="180086"/>
                    <a:pt x="70882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088251" y="146304"/>
                  </a:lnTo>
                  <a:lnTo>
                    <a:pt x="7088251" y="163195"/>
                  </a:lnTo>
                  <a:lnTo>
                    <a:pt x="7071360" y="16319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913383" y="2767079"/>
            <a:ext cx="1305563" cy="1305563"/>
            <a:chOff x="0" y="0"/>
            <a:chExt cx="1740751" cy="174075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926080" y="2779776"/>
            <a:ext cx="1280160" cy="1280160"/>
            <a:chOff x="0" y="0"/>
            <a:chExt cx="1706880" cy="1706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70688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7280" y="4206240"/>
            <a:ext cx="4937760" cy="822960"/>
            <a:chOff x="0" y="0"/>
            <a:chExt cx="6583680" cy="1097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83680" cy="1097280"/>
            </a:xfrm>
            <a:custGeom>
              <a:avLst/>
              <a:gdLst/>
              <a:ahLst/>
              <a:cxnLst/>
              <a:rect l="l" t="t" r="r" b="b"/>
              <a:pathLst>
                <a:path w="6583680" h="10972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65836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ROR 8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97280" y="5212080"/>
            <a:ext cx="914400" cy="548640"/>
            <a:chOff x="0" y="0"/>
            <a:chExt cx="121920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731520"/>
            </a:xfrm>
            <a:custGeom>
              <a:avLst/>
              <a:gdLst/>
              <a:ahLst/>
              <a:cxnLst/>
              <a:rect l="l" t="t" r="r" b="b"/>
              <a:pathLst>
                <a:path w="1219200" h="73152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21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20240" y="5212080"/>
            <a:ext cx="4206240" cy="548640"/>
            <a:chOff x="0" y="0"/>
            <a:chExt cx="560832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FF00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97280" y="5852160"/>
            <a:ext cx="1097280" cy="548640"/>
            <a:chOff x="0" y="0"/>
            <a:chExt cx="146304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463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OUT: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20240" y="5852160"/>
            <a:ext cx="4206240" cy="548640"/>
            <a:chOff x="0" y="0"/>
            <a:chExt cx="560832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D47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00FF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97280" y="6675120"/>
            <a:ext cx="4937760" cy="2743200"/>
            <a:chOff x="0" y="0"/>
            <a:chExt cx="6583680" cy="3657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83680" cy="3657600"/>
            </a:xfrm>
            <a:custGeom>
              <a:avLst/>
              <a:gdLst/>
              <a:ahLst/>
              <a:cxnLst/>
              <a:rect l="l" t="t" r="r" b="b"/>
              <a:pathLst>
                <a:path w="6583680" h="3657600">
                  <a:moveTo>
                    <a:pt x="0" y="0"/>
                  </a:moveTo>
                  <a:lnTo>
                    <a:pt x="6583680" y="0"/>
                  </a:lnTo>
                  <a:lnTo>
                    <a:pt x="65836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r="-2127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6583680" cy="3714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Rotate right by 8 bits.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Upper and lower bytes swapped.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98999" y="2547623"/>
            <a:ext cx="5328923" cy="7157723"/>
            <a:chOff x="0" y="0"/>
            <a:chExt cx="7105231" cy="954363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7071360" cy="9509760"/>
            </a:xfrm>
            <a:custGeom>
              <a:avLst/>
              <a:gdLst/>
              <a:ahLst/>
              <a:cxnLst/>
              <a:rect l="l" t="t" r="r" b="b"/>
              <a:pathLst>
                <a:path w="7071360" h="9509760">
                  <a:moveTo>
                    <a:pt x="0" y="0"/>
                  </a:moveTo>
                  <a:lnTo>
                    <a:pt x="7071360" y="0"/>
                  </a:lnTo>
                  <a:lnTo>
                    <a:pt x="70713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7105142" cy="9543542"/>
            </a:xfrm>
            <a:custGeom>
              <a:avLst/>
              <a:gdLst/>
              <a:ahLst/>
              <a:cxnLst/>
              <a:rect l="l" t="t" r="r" b="b"/>
              <a:pathLst>
                <a:path w="7105142" h="95435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526651"/>
                  </a:lnTo>
                  <a:cubicBezTo>
                    <a:pt x="7105142" y="9536049"/>
                    <a:pt x="7097522" y="9543542"/>
                    <a:pt x="708825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088251" y="9509760"/>
                  </a:lnTo>
                  <a:lnTo>
                    <a:pt x="7088251" y="9526651"/>
                  </a:lnTo>
                  <a:lnTo>
                    <a:pt x="7071360" y="95266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698999" y="2547623"/>
            <a:ext cx="5328923" cy="135131"/>
            <a:chOff x="0" y="0"/>
            <a:chExt cx="7105231" cy="180175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7071360" cy="146304"/>
            </a:xfrm>
            <a:custGeom>
              <a:avLst/>
              <a:gdLst/>
              <a:ahLst/>
              <a:cxnLst/>
              <a:rect l="l" t="t" r="r" b="b"/>
              <a:pathLst>
                <a:path w="7071360" h="146304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105142" cy="180088"/>
            </a:xfrm>
            <a:custGeom>
              <a:avLst/>
              <a:gdLst/>
              <a:ahLst/>
              <a:cxnLst/>
              <a:rect l="l" t="t" r="r" b="b"/>
              <a:pathLst>
                <a:path w="7105142" h="180088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63195"/>
                  </a:lnTo>
                  <a:cubicBezTo>
                    <a:pt x="7105142" y="172593"/>
                    <a:pt x="7097522" y="180086"/>
                    <a:pt x="70882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088251" y="146304"/>
                  </a:lnTo>
                  <a:lnTo>
                    <a:pt x="7088251" y="163195"/>
                  </a:lnTo>
                  <a:lnTo>
                    <a:pt x="7071360" y="16319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8710679" y="2767079"/>
            <a:ext cx="1305563" cy="1305563"/>
            <a:chOff x="0" y="0"/>
            <a:chExt cx="1740751" cy="174075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8723376" y="2779776"/>
            <a:ext cx="1280160" cy="1280160"/>
            <a:chOff x="0" y="0"/>
            <a:chExt cx="1706880" cy="17068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70688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94576" y="4206240"/>
            <a:ext cx="4937760" cy="822960"/>
            <a:chOff x="0" y="0"/>
            <a:chExt cx="6583680" cy="10972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583680" cy="1097280"/>
            </a:xfrm>
            <a:custGeom>
              <a:avLst/>
              <a:gdLst/>
              <a:ahLst/>
              <a:cxnLst/>
              <a:rect l="l" t="t" r="r" b="b"/>
              <a:pathLst>
                <a:path w="6583680" h="10972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65836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ROR 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94576" y="5212080"/>
            <a:ext cx="914400" cy="548640"/>
            <a:chOff x="0" y="0"/>
            <a:chExt cx="121920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9200" cy="731520"/>
            </a:xfrm>
            <a:custGeom>
              <a:avLst/>
              <a:gdLst/>
              <a:ahLst/>
              <a:cxnLst/>
              <a:rect l="l" t="t" r="r" b="b"/>
              <a:pathLst>
                <a:path w="1219200" h="73152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121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IN: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717536" y="5212080"/>
            <a:ext cx="4206240" cy="548640"/>
            <a:chOff x="0" y="0"/>
            <a:chExt cx="560832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FF00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894576" y="5852160"/>
            <a:ext cx="1097280" cy="548640"/>
            <a:chOff x="0" y="0"/>
            <a:chExt cx="146304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463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OUT: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717536" y="5852160"/>
            <a:ext cx="4206240" cy="548640"/>
            <a:chOff x="0" y="0"/>
            <a:chExt cx="560832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D47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0FF0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94576" y="6675120"/>
            <a:ext cx="4937760" cy="2743200"/>
            <a:chOff x="0" y="0"/>
            <a:chExt cx="6583680" cy="3657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583680" cy="3657600"/>
            </a:xfrm>
            <a:custGeom>
              <a:avLst/>
              <a:gdLst/>
              <a:ahLst/>
              <a:cxnLst/>
              <a:rect l="l" t="t" r="r" b="b"/>
              <a:pathLst>
                <a:path w="6583680" h="3657600">
                  <a:moveTo>
                    <a:pt x="0" y="0"/>
                  </a:moveTo>
                  <a:lnTo>
                    <a:pt x="6583680" y="0"/>
                  </a:lnTo>
                  <a:lnTo>
                    <a:pt x="65836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r="-21279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6583680" cy="3714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Rotate right by 4 bits.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nibble shifts one position rightward.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496295" y="2547623"/>
            <a:ext cx="5328923" cy="7157723"/>
            <a:chOff x="0" y="0"/>
            <a:chExt cx="7105231" cy="9543631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7071360" cy="9509760"/>
            </a:xfrm>
            <a:custGeom>
              <a:avLst/>
              <a:gdLst/>
              <a:ahLst/>
              <a:cxnLst/>
              <a:rect l="l" t="t" r="r" b="b"/>
              <a:pathLst>
                <a:path w="7071360" h="9509760">
                  <a:moveTo>
                    <a:pt x="0" y="0"/>
                  </a:moveTo>
                  <a:lnTo>
                    <a:pt x="7071360" y="0"/>
                  </a:lnTo>
                  <a:lnTo>
                    <a:pt x="70713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7105142" cy="9543542"/>
            </a:xfrm>
            <a:custGeom>
              <a:avLst/>
              <a:gdLst/>
              <a:ahLst/>
              <a:cxnLst/>
              <a:rect l="l" t="t" r="r" b="b"/>
              <a:pathLst>
                <a:path w="7105142" h="95435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526651"/>
                  </a:lnTo>
                  <a:cubicBezTo>
                    <a:pt x="7105142" y="9536049"/>
                    <a:pt x="7097522" y="9543542"/>
                    <a:pt x="708825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088251" y="9509760"/>
                  </a:lnTo>
                  <a:lnTo>
                    <a:pt x="7088251" y="9526651"/>
                  </a:lnTo>
                  <a:lnTo>
                    <a:pt x="7071360" y="95266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43B55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2496295" y="2547623"/>
            <a:ext cx="5328923" cy="135131"/>
            <a:chOff x="0" y="0"/>
            <a:chExt cx="7105231" cy="180175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7071360" cy="146304"/>
            </a:xfrm>
            <a:custGeom>
              <a:avLst/>
              <a:gdLst/>
              <a:ahLst/>
              <a:cxnLst/>
              <a:rect l="l" t="t" r="r" b="b"/>
              <a:pathLst>
                <a:path w="7071360" h="146304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7105142" cy="180088"/>
            </a:xfrm>
            <a:custGeom>
              <a:avLst/>
              <a:gdLst/>
              <a:ahLst/>
              <a:cxnLst/>
              <a:rect l="l" t="t" r="r" b="b"/>
              <a:pathLst>
                <a:path w="7105142" h="180088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63195"/>
                  </a:lnTo>
                  <a:cubicBezTo>
                    <a:pt x="7105142" y="172593"/>
                    <a:pt x="7097522" y="180086"/>
                    <a:pt x="70882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088251" y="146304"/>
                  </a:lnTo>
                  <a:lnTo>
                    <a:pt x="7088251" y="163195"/>
                  </a:lnTo>
                  <a:lnTo>
                    <a:pt x="7071360" y="16319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4507975" y="2767079"/>
            <a:ext cx="1305563" cy="1305563"/>
            <a:chOff x="0" y="0"/>
            <a:chExt cx="1740751" cy="1740751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4520672" y="2779776"/>
            <a:ext cx="1280160" cy="1280160"/>
            <a:chOff x="0" y="0"/>
            <a:chExt cx="1706880" cy="17068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170688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691872" y="4206240"/>
            <a:ext cx="4937760" cy="822960"/>
            <a:chOff x="0" y="0"/>
            <a:chExt cx="6583680" cy="109728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583680" cy="1097280"/>
            </a:xfrm>
            <a:custGeom>
              <a:avLst/>
              <a:gdLst/>
              <a:ahLst/>
              <a:cxnLst/>
              <a:rect l="l" t="t" r="r" b="b"/>
              <a:pathLst>
                <a:path w="6583680" h="10972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65836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SLL 8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691872" y="5212080"/>
            <a:ext cx="914400" cy="548640"/>
            <a:chOff x="0" y="0"/>
            <a:chExt cx="1219200" cy="7315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219200" cy="731520"/>
            </a:xfrm>
            <a:custGeom>
              <a:avLst/>
              <a:gdLst/>
              <a:ahLst/>
              <a:cxnLst/>
              <a:rect l="l" t="t" r="r" b="b"/>
              <a:pathLst>
                <a:path w="1219200" h="73152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121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IN: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3514832" y="5212080"/>
            <a:ext cx="4206240" cy="548640"/>
            <a:chOff x="0" y="0"/>
            <a:chExt cx="5608320" cy="7315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B38F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691872" y="5852160"/>
            <a:ext cx="1097280" cy="548640"/>
            <a:chOff x="0" y="0"/>
            <a:chExt cx="1463040" cy="73152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1463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OUT: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3514832" y="5852160"/>
            <a:ext cx="4206240" cy="548640"/>
            <a:chOff x="0" y="0"/>
            <a:chExt cx="5608320" cy="73152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D47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8F00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2691872" y="6675120"/>
            <a:ext cx="4937760" cy="2743200"/>
            <a:chOff x="0" y="0"/>
            <a:chExt cx="6583680" cy="36576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583680" cy="3657600"/>
            </a:xfrm>
            <a:custGeom>
              <a:avLst/>
              <a:gdLst/>
              <a:ahLst/>
              <a:cxnLst/>
              <a:rect l="l" t="t" r="r" b="b"/>
              <a:pathLst>
                <a:path w="6583680" h="3657600">
                  <a:moveTo>
                    <a:pt x="0" y="0"/>
                  </a:moveTo>
                  <a:lnTo>
                    <a:pt x="6583680" y="0"/>
                  </a:lnTo>
                  <a:lnTo>
                    <a:pt x="65836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r="-21279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57150"/>
              <a:ext cx="6583680" cy="3714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Logical left shift by 8. Lower byte zeroed, upper = original lower.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01703" y="9314183"/>
            <a:ext cx="16484603" cy="665483"/>
            <a:chOff x="0" y="0"/>
            <a:chExt cx="21979471" cy="88731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21945599" cy="853440"/>
            </a:xfrm>
            <a:custGeom>
              <a:avLst/>
              <a:gdLst/>
              <a:ahLst/>
              <a:cxnLst/>
              <a:rect l="l" t="t" r="r" b="b"/>
              <a:pathLst>
                <a:path w="21945599" h="853440">
                  <a:moveTo>
                    <a:pt x="0" y="0"/>
                  </a:moveTo>
                  <a:lnTo>
                    <a:pt x="21945599" y="0"/>
                  </a:lnTo>
                  <a:lnTo>
                    <a:pt x="2194559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B2E45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21979382" cy="887224"/>
            </a:xfrm>
            <a:custGeom>
              <a:avLst/>
              <a:gdLst/>
              <a:ahLst/>
              <a:cxnLst/>
              <a:rect l="l" t="t" r="r" b="b"/>
              <a:pathLst>
                <a:path w="21979382" h="887224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870331"/>
                  </a:lnTo>
                  <a:cubicBezTo>
                    <a:pt x="21979382" y="879729"/>
                    <a:pt x="21971763" y="887222"/>
                    <a:pt x="2196249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1962490" y="853440"/>
                  </a:lnTo>
                  <a:lnTo>
                    <a:pt x="21962490" y="870331"/>
                  </a:lnTo>
                  <a:lnTo>
                    <a:pt x="21945600" y="87033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E45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914400" y="9326880"/>
            <a:ext cx="16459200" cy="640080"/>
            <a:chOff x="0" y="0"/>
            <a:chExt cx="21945600" cy="8534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FFB34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Any other shift_ctrl code → Output = 0x0000  (NOP fallback — no undefined behavior)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Nonlinear LUT — S-Box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1645920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heart of cryptographic security — nonlinear substitution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1703" y="2273303"/>
            <a:ext cx="16484603" cy="80267"/>
            <a:chOff x="0" y="0"/>
            <a:chExt cx="21979471" cy="107023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2547623"/>
            <a:ext cx="7340603" cy="7157723"/>
            <a:chOff x="0" y="0"/>
            <a:chExt cx="9787471" cy="95436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9753600" cy="9509760"/>
            </a:xfrm>
            <a:custGeom>
              <a:avLst/>
              <a:gdLst/>
              <a:ahLst/>
              <a:cxnLst/>
              <a:rect l="l" t="t" r="r" b="b"/>
              <a:pathLst>
                <a:path w="9753600" h="9509760">
                  <a:moveTo>
                    <a:pt x="0" y="0"/>
                  </a:moveTo>
                  <a:lnTo>
                    <a:pt x="9753600" y="0"/>
                  </a:lnTo>
                  <a:lnTo>
                    <a:pt x="97536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9787382" cy="9543542"/>
            </a:xfrm>
            <a:custGeom>
              <a:avLst/>
              <a:gdLst/>
              <a:ahLst/>
              <a:cxnLst/>
              <a:rect l="l" t="t" r="r" b="b"/>
              <a:pathLst>
                <a:path w="9787382" h="954354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9526651"/>
                  </a:lnTo>
                  <a:cubicBezTo>
                    <a:pt x="9787382" y="9536049"/>
                    <a:pt x="9779762" y="9543542"/>
                    <a:pt x="977049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9770491" y="9509760"/>
                  </a:lnTo>
                  <a:lnTo>
                    <a:pt x="9770491" y="9526651"/>
                  </a:lnTo>
                  <a:lnTo>
                    <a:pt x="9753600" y="952665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97280" y="2651760"/>
            <a:ext cx="6949440" cy="731520"/>
            <a:chOff x="0" y="0"/>
            <a:chExt cx="9265920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65920" cy="975360"/>
            </a:xfrm>
            <a:custGeom>
              <a:avLst/>
              <a:gdLst/>
              <a:ahLst/>
              <a:cxnLst/>
              <a:rect l="l" t="t" r="r" b="b"/>
              <a:pathLst>
                <a:path w="9265920" h="97536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4583" y="3699767"/>
            <a:ext cx="1031243" cy="1031243"/>
            <a:chOff x="0" y="0"/>
            <a:chExt cx="1374991" cy="137499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D47A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3712464"/>
            <a:ext cx="1005840" cy="1005840"/>
            <a:chOff x="0" y="0"/>
            <a:chExt cx="134112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3621024"/>
            <a:ext cx="5669280" cy="1371600"/>
            <a:chOff x="0" y="0"/>
            <a:chExt cx="7559040" cy="1828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59040" cy="1828800"/>
            </a:xfrm>
            <a:custGeom>
              <a:avLst/>
              <a:gdLst/>
              <a:ahLst/>
              <a:cxnLst/>
              <a:rect l="l" t="t" r="r" b="b"/>
              <a:pathLst>
                <a:path w="7559040" h="182880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7559040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Take lower 8 bits of ABus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LutIn[7:0]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84583" y="5162807"/>
            <a:ext cx="1031243" cy="1031243"/>
            <a:chOff x="0" y="0"/>
            <a:chExt cx="1374991" cy="137499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97280" y="5175504"/>
            <a:ext cx="1005840" cy="1005840"/>
            <a:chOff x="0" y="0"/>
            <a:chExt cx="1341120" cy="1341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86000" y="5084064"/>
            <a:ext cx="5669280" cy="1371600"/>
            <a:chOff x="0" y="0"/>
            <a:chExt cx="7559040" cy="1828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59040" cy="1828800"/>
            </a:xfrm>
            <a:custGeom>
              <a:avLst/>
              <a:gdLst/>
              <a:ahLst/>
              <a:cxnLst/>
              <a:rect l="l" t="t" r="r" b="b"/>
              <a:pathLst>
                <a:path w="7559040" h="182880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7559040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Split into two nibbles: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Upper [7:4] → S_Box1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Lower [3:0] → S_Box2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84583" y="6625847"/>
            <a:ext cx="1031243" cy="1031243"/>
            <a:chOff x="0" y="0"/>
            <a:chExt cx="1374991" cy="137499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097280" y="6638544"/>
            <a:ext cx="1005840" cy="1005840"/>
            <a:chOff x="0" y="0"/>
            <a:chExt cx="1341120" cy="13411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86000" y="6547104"/>
            <a:ext cx="5669280" cy="1371600"/>
            <a:chOff x="0" y="0"/>
            <a:chExt cx="7559040" cy="1828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59040" cy="1828800"/>
            </a:xfrm>
            <a:custGeom>
              <a:avLst/>
              <a:gdLst/>
              <a:ahLst/>
              <a:cxnLst/>
              <a:rect l="l" t="t" r="r" b="b"/>
              <a:pathLst>
                <a:path w="7559040" h="182880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7559040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nibble substituted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independently (4-bit → 4-bit)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84583" y="8088887"/>
            <a:ext cx="1031243" cy="1031243"/>
            <a:chOff x="0" y="0"/>
            <a:chExt cx="1374991" cy="137499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97280" y="8101584"/>
            <a:ext cx="1005840" cy="1005840"/>
            <a:chOff x="0" y="0"/>
            <a:chExt cx="1341120" cy="13411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286000" y="8010144"/>
            <a:ext cx="5669280" cy="1371600"/>
            <a:chOff x="0" y="0"/>
            <a:chExt cx="7559040" cy="1828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559040" cy="1828800"/>
            </a:xfrm>
            <a:custGeom>
              <a:avLst/>
              <a:gdLst/>
              <a:ahLst/>
              <a:cxnLst/>
              <a:rect l="l" t="t" r="r" b="b"/>
              <a:pathLst>
                <a:path w="7559040" h="182880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7559040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Concatenate results → LutOut[7:0]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Upper 8 bits pass through unchanged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595360" y="2560320"/>
            <a:ext cx="4023360" cy="640080"/>
            <a:chOff x="0" y="0"/>
            <a:chExt cx="5364480" cy="853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64480" cy="853440"/>
            </a:xfrm>
            <a:custGeom>
              <a:avLst/>
              <a:gdLst/>
              <a:ahLst/>
              <a:cxnLst/>
              <a:rect l="l" t="t" r="r" b="b"/>
              <a:pathLst>
                <a:path w="5364480" h="85344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477" b="-7247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53644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S-Box 1 (Upper Nibble)</a:t>
              </a:r>
            </a:p>
          </p:txBody>
        </p:sp>
      </p:grpSp>
      <p:graphicFrame>
        <p:nvGraphicFramePr>
          <p:cNvPr id="56" name="Table 56"/>
          <p:cNvGraphicFramePr>
            <a:graphicFrameLocks noGrp="1"/>
          </p:cNvGraphicFramePr>
          <p:nvPr/>
        </p:nvGraphicFramePr>
        <p:xfrm>
          <a:off x="8595360" y="3291840"/>
          <a:ext cx="3810000" cy="85064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C6D7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In</a:t>
                      </a:r>
                      <a:endParaRPr lang="en-US" sz="1100" dirty="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C6D7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Out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lang="en-US" sz="1100" dirty="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57" name="Group 57"/>
          <p:cNvGrpSpPr/>
          <p:nvPr/>
        </p:nvGrpSpPr>
        <p:grpSpPr>
          <a:xfrm>
            <a:off x="12801600" y="2560320"/>
            <a:ext cx="4023360" cy="640080"/>
            <a:chOff x="0" y="0"/>
            <a:chExt cx="5364480" cy="8534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364480" cy="853440"/>
            </a:xfrm>
            <a:custGeom>
              <a:avLst/>
              <a:gdLst/>
              <a:ahLst/>
              <a:cxnLst/>
              <a:rect l="l" t="t" r="r" b="b"/>
              <a:pathLst>
                <a:path w="5364480" h="85344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477" b="-7247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7150"/>
              <a:ext cx="53644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S-Box 2 (Lower Nibble)</a:t>
              </a:r>
            </a:p>
          </p:txBody>
        </p:sp>
      </p:grpSp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12801600" y="3291840"/>
          <a:ext cx="3810000" cy="85064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C6D7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In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C6D7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Out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8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21945600" cy="1840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Combinational Block &amp; MUX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43952" y="6217920"/>
            <a:ext cx="3657600" cy="548640"/>
            <a:chOff x="0" y="0"/>
            <a:chExt cx="48768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ABus (16-bit)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3952" y="6854500"/>
            <a:ext cx="3657600" cy="548640"/>
            <a:chOff x="0" y="0"/>
            <a:chExt cx="48768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BBus (16-bit)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28346" y="5972804"/>
            <a:ext cx="3159757" cy="1696717"/>
            <a:chOff x="0" y="0"/>
            <a:chExt cx="4213009" cy="2262289"/>
          </a:xfrm>
        </p:grpSpPr>
        <p:sp>
          <p:nvSpPr>
            <p:cNvPr id="15" name="Freeform 15"/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253750" y="5998207"/>
            <a:ext cx="3108960" cy="1645920"/>
            <a:chOff x="0" y="0"/>
            <a:chExt cx="4145280" cy="2194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 ops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09296" y="3999862"/>
            <a:ext cx="3159757" cy="1696717"/>
            <a:chOff x="0" y="0"/>
            <a:chExt cx="4213009" cy="2262289"/>
          </a:xfrm>
        </p:grpSpPr>
        <p:sp>
          <p:nvSpPr>
            <p:cNvPr id="21" name="Freeform 21"/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3234700" y="4025265"/>
            <a:ext cx="3108960" cy="1645920"/>
            <a:chOff x="0" y="0"/>
            <a:chExt cx="4145280" cy="21945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Shifter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ops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24610" y="4829175"/>
            <a:ext cx="1135380" cy="38100"/>
            <a:chOff x="0" y="0"/>
            <a:chExt cx="1513840" cy="50800"/>
          </a:xfrm>
        </p:grpSpPr>
        <p:sp>
          <p:nvSpPr>
            <p:cNvPr id="27" name="Freeform 27"/>
            <p:cNvSpPr/>
            <p:nvPr/>
          </p:nvSpPr>
          <p:spPr>
            <a:xfrm>
              <a:off x="25400" y="0"/>
              <a:ext cx="1463040" cy="50800"/>
            </a:xfrm>
            <a:custGeom>
              <a:avLst/>
              <a:gdLst/>
              <a:ahLst/>
              <a:cxnLst/>
              <a:rect l="l" t="t" r="r" b="b"/>
              <a:pathLst>
                <a:path w="1463040" h="5080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3209296" y="2055495"/>
            <a:ext cx="3159757" cy="1696717"/>
            <a:chOff x="0" y="0"/>
            <a:chExt cx="4213009" cy="2262289"/>
          </a:xfrm>
        </p:grpSpPr>
        <p:sp>
          <p:nvSpPr>
            <p:cNvPr id="29" name="Freeform 29"/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3234700" y="2080898"/>
            <a:ext cx="3108960" cy="1645920"/>
            <a:chOff x="0" y="0"/>
            <a:chExt cx="4145280" cy="21945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Non-linear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24610" y="2884808"/>
            <a:ext cx="1135380" cy="38100"/>
            <a:chOff x="0" y="0"/>
            <a:chExt cx="1513840" cy="50800"/>
          </a:xfrm>
        </p:grpSpPr>
        <p:sp>
          <p:nvSpPr>
            <p:cNvPr id="35" name="Freeform 35"/>
            <p:cNvSpPr/>
            <p:nvPr/>
          </p:nvSpPr>
          <p:spPr>
            <a:xfrm>
              <a:off x="25400" y="0"/>
              <a:ext cx="1463040" cy="50800"/>
            </a:xfrm>
            <a:custGeom>
              <a:avLst/>
              <a:gdLst/>
              <a:ahLst/>
              <a:cxnLst/>
              <a:rect l="l" t="t" r="r" b="b"/>
              <a:pathLst>
                <a:path w="1463040" h="5080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7434586" y="2717797"/>
            <a:ext cx="2428237" cy="4622797"/>
            <a:chOff x="0" y="0"/>
            <a:chExt cx="3237649" cy="6163729"/>
          </a:xfrm>
        </p:grpSpPr>
        <p:sp>
          <p:nvSpPr>
            <p:cNvPr id="37" name="Freeform 37"/>
            <p:cNvSpPr/>
            <p:nvPr/>
          </p:nvSpPr>
          <p:spPr>
            <a:xfrm>
              <a:off x="33909" y="33909"/>
              <a:ext cx="3169920" cy="6096000"/>
            </a:xfrm>
            <a:custGeom>
              <a:avLst/>
              <a:gdLst/>
              <a:ahLst/>
              <a:cxnLst/>
              <a:rect l="l" t="t" r="r" b="b"/>
              <a:pathLst>
                <a:path w="3169920" h="6096000">
                  <a:moveTo>
                    <a:pt x="0" y="0"/>
                  </a:moveTo>
                  <a:lnTo>
                    <a:pt x="3169920" y="0"/>
                  </a:lnTo>
                  <a:lnTo>
                    <a:pt x="31699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3237738" cy="6163818"/>
            </a:xfrm>
            <a:custGeom>
              <a:avLst/>
              <a:gdLst/>
              <a:ahLst/>
              <a:cxnLst/>
              <a:rect l="l" t="t" r="r" b="b"/>
              <a:pathLst>
                <a:path w="3237738" h="6163818">
                  <a:moveTo>
                    <a:pt x="33909" y="0"/>
                  </a:moveTo>
                  <a:lnTo>
                    <a:pt x="3203829" y="0"/>
                  </a:lnTo>
                  <a:cubicBezTo>
                    <a:pt x="3222498" y="0"/>
                    <a:pt x="3237738" y="15113"/>
                    <a:pt x="3237738" y="33909"/>
                  </a:cubicBezTo>
                  <a:lnTo>
                    <a:pt x="3237738" y="6129909"/>
                  </a:lnTo>
                  <a:cubicBezTo>
                    <a:pt x="3237738" y="6148578"/>
                    <a:pt x="3222625" y="6163818"/>
                    <a:pt x="3203829" y="6163818"/>
                  </a:cubicBezTo>
                  <a:lnTo>
                    <a:pt x="33909" y="6163818"/>
                  </a:lnTo>
                  <a:cubicBezTo>
                    <a:pt x="15240" y="6163818"/>
                    <a:pt x="0" y="6148705"/>
                    <a:pt x="0" y="61299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6129909"/>
                  </a:lnTo>
                  <a:lnTo>
                    <a:pt x="33909" y="6129909"/>
                  </a:lnTo>
                  <a:lnTo>
                    <a:pt x="33909" y="6096000"/>
                  </a:lnTo>
                  <a:lnTo>
                    <a:pt x="3203829" y="6096000"/>
                  </a:lnTo>
                  <a:lnTo>
                    <a:pt x="3203829" y="6129909"/>
                  </a:lnTo>
                  <a:lnTo>
                    <a:pt x="3169920" y="6129909"/>
                  </a:lnTo>
                  <a:lnTo>
                    <a:pt x="3169920" y="33909"/>
                  </a:lnTo>
                  <a:lnTo>
                    <a:pt x="3203829" y="33909"/>
                  </a:lnTo>
                  <a:lnTo>
                    <a:pt x="32038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7459990" y="3840480"/>
            <a:ext cx="2377440" cy="2377440"/>
            <a:chOff x="0" y="0"/>
            <a:chExt cx="3169920" cy="31699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169920" cy="3169920"/>
            </a:xfrm>
            <a:custGeom>
              <a:avLst/>
              <a:gdLst/>
              <a:ahLst/>
              <a:cxnLst/>
              <a:rect l="l" t="t" r="r" b="b"/>
              <a:pathLst>
                <a:path w="3169920" h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316992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344400" y="4663440"/>
            <a:ext cx="2743200" cy="731520"/>
            <a:chOff x="0" y="0"/>
            <a:chExt cx="3657600" cy="975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365760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241053" y="6351270"/>
            <a:ext cx="25403" cy="482603"/>
            <a:chOff x="0" y="0"/>
            <a:chExt cx="33871" cy="643471"/>
          </a:xfrm>
        </p:grpSpPr>
        <p:sp>
          <p:nvSpPr>
            <p:cNvPr id="46" name="Freeform 46"/>
            <p:cNvSpPr/>
            <p:nvPr/>
          </p:nvSpPr>
          <p:spPr>
            <a:xfrm>
              <a:off x="0" y="16891"/>
              <a:ext cx="33909" cy="609600"/>
            </a:xfrm>
            <a:custGeom>
              <a:avLst/>
              <a:gdLst/>
              <a:ahLst/>
              <a:cxnLst/>
              <a:rect l="l" t="t" r="r" b="b"/>
              <a:pathLst>
                <a:path w="33909" h="609600">
                  <a:moveTo>
                    <a:pt x="33909" y="0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325863" y="1998983"/>
            <a:ext cx="6426203" cy="5146043"/>
            <a:chOff x="0" y="0"/>
            <a:chExt cx="8568271" cy="686139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8534400" cy="6827520"/>
            </a:xfrm>
            <a:custGeom>
              <a:avLst/>
              <a:gdLst/>
              <a:ahLst/>
              <a:cxnLst/>
              <a:rect l="l" t="t" r="r" b="b"/>
              <a:pathLst>
                <a:path w="8534400" h="6827520">
                  <a:moveTo>
                    <a:pt x="0" y="0"/>
                  </a:moveTo>
                  <a:lnTo>
                    <a:pt x="8534400" y="0"/>
                  </a:lnTo>
                  <a:lnTo>
                    <a:pt x="85344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8568182" cy="6861301"/>
            </a:xfrm>
            <a:custGeom>
              <a:avLst/>
              <a:gdLst/>
              <a:ahLst/>
              <a:cxnLst/>
              <a:rect l="l" t="t" r="r" b="b"/>
              <a:pathLst>
                <a:path w="8568182" h="6861301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6844411"/>
                  </a:lnTo>
                  <a:cubicBezTo>
                    <a:pt x="8568182" y="6853809"/>
                    <a:pt x="8560562" y="6861301"/>
                    <a:pt x="855129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8551291" y="6827520"/>
                  </a:lnTo>
                  <a:lnTo>
                    <a:pt x="8551291" y="6844411"/>
                  </a:lnTo>
                  <a:lnTo>
                    <a:pt x="8534400" y="684441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1521440" y="2103120"/>
            <a:ext cx="6035040" cy="731520"/>
            <a:chOff x="0" y="0"/>
            <a:chExt cx="8046720" cy="9753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046720" cy="975360"/>
            </a:xfrm>
            <a:custGeom>
              <a:avLst/>
              <a:gdLst/>
              <a:ahLst/>
              <a:cxnLst/>
              <a:rect l="l" t="t" r="r" b="b"/>
              <a:pathLst>
                <a:path w="8046720" h="97536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804672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 Source Selection</a:t>
              </a:r>
            </a:p>
          </p:txBody>
        </p:sp>
      </p:grpSp>
      <p:graphicFrame>
        <p:nvGraphicFramePr>
          <p:cNvPr id="53" name="Table 53"/>
          <p:cNvGraphicFramePr>
            <a:graphicFrameLocks noGrp="1"/>
          </p:cNvGraphicFramePr>
          <p:nvPr/>
        </p:nvGraphicFramePr>
        <p:xfrm>
          <a:off x="11521440" y="2926080"/>
          <a:ext cx="6019800" cy="3810000"/>
        </p:xfrm>
        <a:graphic>
          <a:graphicData uri="http://schemas.openxmlformats.org/drawingml/2006/table">
            <a:tbl>
              <a:tblPr/>
              <a:tblGrid>
                <a:gridCol w="2738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sel_block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C6D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Source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D47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ALU Output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B3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Shifter Output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C6D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LUT Output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6B6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8F4F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0x0000 (NOP)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4" name="Group 54"/>
          <p:cNvGrpSpPr/>
          <p:nvPr/>
        </p:nvGrpSpPr>
        <p:grpSpPr>
          <a:xfrm>
            <a:off x="11325863" y="7302503"/>
            <a:ext cx="6426203" cy="2585723"/>
            <a:chOff x="0" y="0"/>
            <a:chExt cx="8568271" cy="3447631"/>
          </a:xfrm>
        </p:grpSpPr>
        <p:sp>
          <p:nvSpPr>
            <p:cNvPr id="55" name="Freeform 55"/>
            <p:cNvSpPr/>
            <p:nvPr/>
          </p:nvSpPr>
          <p:spPr>
            <a:xfrm>
              <a:off x="16891" y="16891"/>
              <a:ext cx="8534400" cy="3413760"/>
            </a:xfrm>
            <a:custGeom>
              <a:avLst/>
              <a:gdLst/>
              <a:ahLst/>
              <a:cxnLst/>
              <a:rect l="l" t="t" r="r" b="b"/>
              <a:pathLst>
                <a:path w="8534400" h="3413760">
                  <a:moveTo>
                    <a:pt x="0" y="0"/>
                  </a:moveTo>
                  <a:lnTo>
                    <a:pt x="8534400" y="0"/>
                  </a:lnTo>
                  <a:lnTo>
                    <a:pt x="85344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8568182" cy="3447542"/>
            </a:xfrm>
            <a:custGeom>
              <a:avLst/>
              <a:gdLst/>
              <a:ahLst/>
              <a:cxnLst/>
              <a:rect l="l" t="t" r="r" b="b"/>
              <a:pathLst>
                <a:path w="8568182" h="344754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430651"/>
                  </a:lnTo>
                  <a:cubicBezTo>
                    <a:pt x="8568182" y="3440049"/>
                    <a:pt x="8560562" y="3447542"/>
                    <a:pt x="855129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8551291" y="3413760"/>
                  </a:lnTo>
                  <a:lnTo>
                    <a:pt x="8551291" y="3430651"/>
                  </a:lnTo>
                  <a:lnTo>
                    <a:pt x="8534400" y="343065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1521440" y="7498080"/>
            <a:ext cx="6035040" cy="2194560"/>
            <a:chOff x="0" y="0"/>
            <a:chExt cx="8046720" cy="29260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046720" cy="2926080"/>
            </a:xfrm>
            <a:custGeom>
              <a:avLst/>
              <a:gdLst/>
              <a:ahLst/>
              <a:cxnLst/>
              <a:rect l="l" t="t" r="r" b="b"/>
              <a:pathLst>
                <a:path w="8046720" h="2926080">
                  <a:moveTo>
                    <a:pt x="0" y="0"/>
                  </a:moveTo>
                  <a:lnTo>
                    <a:pt x="8046720" y="0"/>
                  </a:lnTo>
                  <a:lnTo>
                    <a:pt x="8046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8046720" cy="2964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4 blocks run in parallel.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MUX selects only ONE result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based on sel_block from Control Unit.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3952" y="4554855"/>
            <a:ext cx="3657600" cy="548640"/>
            <a:chOff x="0" y="0"/>
            <a:chExt cx="487680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BBus (16-bit)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43952" y="2651760"/>
            <a:ext cx="3657600" cy="548640"/>
            <a:chOff x="0" y="0"/>
            <a:chExt cx="4876800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ABus (16-bit)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241043" y="7995923"/>
            <a:ext cx="3159757" cy="1696717"/>
            <a:chOff x="0" y="0"/>
            <a:chExt cx="4213009" cy="2262289"/>
          </a:xfrm>
        </p:grpSpPr>
        <p:sp>
          <p:nvSpPr>
            <p:cNvPr id="67" name="Freeform 67"/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3266446" y="8021326"/>
            <a:ext cx="3108960" cy="1645920"/>
            <a:chOff x="0" y="0"/>
            <a:chExt cx="4145280" cy="21945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Unit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356356" y="8825236"/>
            <a:ext cx="2292353" cy="76925"/>
            <a:chOff x="0" y="0"/>
            <a:chExt cx="1513840" cy="50800"/>
          </a:xfrm>
        </p:grpSpPr>
        <p:sp>
          <p:nvSpPr>
            <p:cNvPr id="73" name="Freeform 73"/>
            <p:cNvSpPr/>
            <p:nvPr/>
          </p:nvSpPr>
          <p:spPr>
            <a:xfrm>
              <a:off x="25400" y="0"/>
              <a:ext cx="1463040" cy="50800"/>
            </a:xfrm>
            <a:custGeom>
              <a:avLst/>
              <a:gdLst/>
              <a:ahLst/>
              <a:cxnLst/>
              <a:rect l="l" t="t" r="r" b="b"/>
              <a:pathLst>
                <a:path w="1463040" h="5080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349048" y="8588336"/>
            <a:ext cx="2061172" cy="548640"/>
            <a:chOff x="0" y="0"/>
            <a:chExt cx="274823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748230" cy="731520"/>
            </a:xfrm>
            <a:custGeom>
              <a:avLst/>
              <a:gdLst/>
              <a:ahLst/>
              <a:cxnLst/>
              <a:rect l="l" t="t" r="r" b="b"/>
              <a:pathLst>
                <a:path w="2748230" h="731520">
                  <a:moveTo>
                    <a:pt x="0" y="0"/>
                  </a:moveTo>
                  <a:lnTo>
                    <a:pt x="2748230" y="0"/>
                  </a:lnTo>
                  <a:lnTo>
                    <a:pt x="274823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r="-77452" b="-79900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274823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CTRL(4-BIT)</a:t>
              </a:r>
            </a:p>
          </p:txBody>
        </p:sp>
      </p:grpSp>
      <p:sp>
        <p:nvSpPr>
          <p:cNvPr id="77" name="AutoShape 77"/>
          <p:cNvSpPr/>
          <p:nvPr/>
        </p:nvSpPr>
        <p:spPr>
          <a:xfrm flipV="1">
            <a:off x="8620130" y="7315229"/>
            <a:ext cx="28575" cy="158175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8" name="AutoShape 78"/>
          <p:cNvSpPr/>
          <p:nvPr/>
        </p:nvSpPr>
        <p:spPr>
          <a:xfrm>
            <a:off x="4808230" y="7644127"/>
            <a:ext cx="9520" cy="376400"/>
          </a:xfrm>
          <a:prstGeom prst="line">
            <a:avLst/>
          </a:prstGeom>
          <a:ln w="47625" cap="flat">
            <a:solidFill>
              <a:srgbClr val="00C6D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79" name="AutoShape 79"/>
          <p:cNvSpPr/>
          <p:nvPr/>
        </p:nvSpPr>
        <p:spPr>
          <a:xfrm flipV="1">
            <a:off x="6878012" y="5143500"/>
            <a:ext cx="14288" cy="3719156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80"/>
          <p:cNvSpPr/>
          <p:nvPr/>
        </p:nvSpPr>
        <p:spPr>
          <a:xfrm flipH="1">
            <a:off x="6343660" y="5176838"/>
            <a:ext cx="534352" cy="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1" name="AutoShape 81"/>
          <p:cNvSpPr/>
          <p:nvPr/>
        </p:nvSpPr>
        <p:spPr>
          <a:xfrm flipH="1" flipV="1">
            <a:off x="2131066" y="4829175"/>
            <a:ext cx="1078230" cy="19045"/>
          </a:xfrm>
          <a:prstGeom prst="line">
            <a:avLst/>
          </a:prstGeom>
          <a:ln w="66675" cap="flat">
            <a:solidFill>
              <a:srgbClr val="FFB34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2" name="AutoShape 82"/>
          <p:cNvSpPr/>
          <p:nvPr/>
        </p:nvSpPr>
        <p:spPr>
          <a:xfrm flipH="1">
            <a:off x="2190969" y="2926080"/>
            <a:ext cx="1028272" cy="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3" name="AutoShape 83"/>
          <p:cNvSpPr/>
          <p:nvPr/>
        </p:nvSpPr>
        <p:spPr>
          <a:xfrm flipH="1">
            <a:off x="2181025" y="6455407"/>
            <a:ext cx="1028272" cy="0"/>
          </a:xfrm>
          <a:prstGeom prst="line">
            <a:avLst/>
          </a:prstGeom>
          <a:ln w="66675" cap="flat">
            <a:solidFill>
              <a:srgbClr val="00D47A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4" name="AutoShape 84"/>
          <p:cNvSpPr/>
          <p:nvPr/>
        </p:nvSpPr>
        <p:spPr>
          <a:xfrm flipH="1">
            <a:off x="2181025" y="7128824"/>
            <a:ext cx="1028272" cy="0"/>
          </a:xfrm>
          <a:prstGeom prst="line">
            <a:avLst/>
          </a:prstGeom>
          <a:ln w="66675" cap="flat">
            <a:solidFill>
              <a:srgbClr val="00D47A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5" name="AutoShape 85"/>
          <p:cNvSpPr/>
          <p:nvPr/>
        </p:nvSpPr>
        <p:spPr>
          <a:xfrm flipH="1">
            <a:off x="2131066" y="8868823"/>
            <a:ext cx="1028272" cy="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6" name="AutoShape 86"/>
          <p:cNvSpPr/>
          <p:nvPr/>
        </p:nvSpPr>
        <p:spPr>
          <a:xfrm flipH="1">
            <a:off x="6356356" y="6854500"/>
            <a:ext cx="1028272" cy="0"/>
          </a:xfrm>
          <a:prstGeom prst="line">
            <a:avLst/>
          </a:prstGeom>
          <a:ln w="66675" cap="flat">
            <a:solidFill>
              <a:srgbClr val="00D47A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7" name="AutoShape 87"/>
          <p:cNvSpPr/>
          <p:nvPr/>
        </p:nvSpPr>
        <p:spPr>
          <a:xfrm flipH="1" flipV="1">
            <a:off x="6355768" y="4838698"/>
            <a:ext cx="1078230" cy="19045"/>
          </a:xfrm>
          <a:prstGeom prst="line">
            <a:avLst/>
          </a:prstGeom>
          <a:ln w="66675" cap="flat">
            <a:solidFill>
              <a:srgbClr val="FFB34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8" name="AutoShape 88"/>
          <p:cNvSpPr/>
          <p:nvPr/>
        </p:nvSpPr>
        <p:spPr>
          <a:xfrm flipH="1">
            <a:off x="6375406" y="2903853"/>
            <a:ext cx="1028272" cy="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9" name="AutoShape 89"/>
          <p:cNvSpPr/>
          <p:nvPr/>
        </p:nvSpPr>
        <p:spPr>
          <a:xfrm flipH="1">
            <a:off x="9862823" y="4950771"/>
            <a:ext cx="1028272" cy="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triangle" w="lg" len="med"/>
            <a:tailEnd type="none" w="sm" len="sm"/>
          </a:ln>
        </p:spPr>
      </p:sp>
      <p:grpSp>
        <p:nvGrpSpPr>
          <p:cNvPr id="90" name="Group 90"/>
          <p:cNvGrpSpPr/>
          <p:nvPr/>
        </p:nvGrpSpPr>
        <p:grpSpPr>
          <a:xfrm>
            <a:off x="8853373" y="3840480"/>
            <a:ext cx="3108960" cy="1645920"/>
            <a:chOff x="0" y="0"/>
            <a:chExt cx="4145280" cy="219456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DAC2B-04D5-C34B-1CCD-B0B82C47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0CEF74-8FBD-0901-67B5-9579DD8811DD}"/>
              </a:ext>
            </a:extLst>
          </p:cNvPr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4294C5-E662-2559-FD9C-1688C2A85BA6}"/>
                </a:ext>
              </a:extLst>
            </p:cNvPr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88F494A-4672-D2AE-119B-18E59A061C8A}"/>
                </a:ext>
              </a:extLst>
            </p:cNvPr>
            <p:cNvSpPr txBox="1"/>
            <p:nvPr/>
          </p:nvSpPr>
          <p:spPr>
            <a:xfrm>
              <a:off x="0" y="-133350"/>
              <a:ext cx="21945600" cy="1840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Coprocessor integration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5FD7506-9115-60F2-C458-927ED0A85B95}"/>
              </a:ext>
            </a:extLst>
          </p:cNvPr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68673F-4346-9643-6053-6F5652E892F7}"/>
                </a:ext>
              </a:extLst>
            </p:cNvPr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67618A6-E993-D024-F328-28E705108DD1}"/>
                </a:ext>
              </a:extLst>
            </p:cNvPr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96E9F5A-A2BE-851B-DA4B-C6ABC70000EC}"/>
              </a:ext>
            </a:extLst>
          </p:cNvPr>
          <p:cNvGrpSpPr/>
          <p:nvPr/>
        </p:nvGrpSpPr>
        <p:grpSpPr>
          <a:xfrm>
            <a:off x="7101698" y="6336109"/>
            <a:ext cx="2967923" cy="1412183"/>
            <a:chOff x="0" y="0"/>
            <a:chExt cx="4213009" cy="226228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C0DC9F6-EA4D-A63A-214D-7E04066C959E}"/>
                </a:ext>
              </a:extLst>
            </p:cNvPr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880FEC2-6193-749B-334D-18CE41F2A185}"/>
                </a:ext>
              </a:extLst>
            </p:cNvPr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9B9D524-7CAB-218A-CCDB-C34C5EEA0BA3}"/>
              </a:ext>
            </a:extLst>
          </p:cNvPr>
          <p:cNvGrpSpPr/>
          <p:nvPr/>
        </p:nvGrpSpPr>
        <p:grpSpPr>
          <a:xfrm>
            <a:off x="7170481" y="6295006"/>
            <a:ext cx="2797128" cy="1393831"/>
            <a:chOff x="0" y="0"/>
            <a:chExt cx="4145280" cy="219456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D5EF6FC-3016-2157-0483-B7F36DBDF330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BE692F1-C997-30EA-5B0F-668198AC34CF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 ops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E709521-1E9B-518A-DFEE-C8630F8B540D}"/>
              </a:ext>
            </a:extLst>
          </p:cNvPr>
          <p:cNvGrpSpPr/>
          <p:nvPr/>
        </p:nvGrpSpPr>
        <p:grpSpPr>
          <a:xfrm>
            <a:off x="7101698" y="4748558"/>
            <a:ext cx="2951405" cy="1323334"/>
            <a:chOff x="0" y="0"/>
            <a:chExt cx="4213009" cy="226228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8471D58-91DF-02FB-F115-8507596DFD89}"/>
                </a:ext>
              </a:extLst>
            </p:cNvPr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2E9E16A-74A4-5342-2F3D-6B3C0DAC9568}"/>
                </a:ext>
              </a:extLst>
            </p:cNvPr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2546A07-0EA5-F186-E0BF-815C9FEFBB26}"/>
              </a:ext>
            </a:extLst>
          </p:cNvPr>
          <p:cNvGrpSpPr/>
          <p:nvPr/>
        </p:nvGrpSpPr>
        <p:grpSpPr>
          <a:xfrm>
            <a:off x="7053535" y="4799842"/>
            <a:ext cx="2889788" cy="1136061"/>
            <a:chOff x="0" y="0"/>
            <a:chExt cx="4145280" cy="219456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8ECE72E-DF19-EA8F-DB3E-83FEDD09F05F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F9690F9F-96CA-1EBC-5359-D66C6FC33387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Shifter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ops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F8B82C2-1D81-A9D2-1373-B8B886284008}"/>
              </a:ext>
            </a:extLst>
          </p:cNvPr>
          <p:cNvGrpSpPr/>
          <p:nvPr/>
        </p:nvGrpSpPr>
        <p:grpSpPr>
          <a:xfrm>
            <a:off x="7087844" y="3101530"/>
            <a:ext cx="2965321" cy="1454229"/>
            <a:chOff x="0" y="0"/>
            <a:chExt cx="4213009" cy="226228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9FA2FAE-128F-68F4-03FB-F8DBD37BA978}"/>
                </a:ext>
              </a:extLst>
            </p:cNvPr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441E148-A1AC-FC67-8A83-A1ED04B42FAB}"/>
                </a:ext>
              </a:extLst>
            </p:cNvPr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BFB381A-930B-B6A6-5E7E-9AEC0B36F295}"/>
              </a:ext>
            </a:extLst>
          </p:cNvPr>
          <p:cNvGrpSpPr/>
          <p:nvPr/>
        </p:nvGrpSpPr>
        <p:grpSpPr>
          <a:xfrm>
            <a:off x="7187742" y="3007508"/>
            <a:ext cx="2792298" cy="1549043"/>
            <a:chOff x="0" y="0"/>
            <a:chExt cx="4145280" cy="219456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5F07D5A-7629-592D-5A4D-D1D8BBFD2782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D4D22FC8-EA72-6010-D1AA-1B722D9B394B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Non-linear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LUT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9853CA81-36CB-CE4B-E813-BE00E4C38652}"/>
              </a:ext>
            </a:extLst>
          </p:cNvPr>
          <p:cNvGrpSpPr/>
          <p:nvPr/>
        </p:nvGrpSpPr>
        <p:grpSpPr>
          <a:xfrm>
            <a:off x="10955014" y="3517330"/>
            <a:ext cx="1750577" cy="4207616"/>
            <a:chOff x="0" y="0"/>
            <a:chExt cx="3237649" cy="616372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FCB06173-A855-BE8B-E331-6A23458FF55F}"/>
                </a:ext>
              </a:extLst>
            </p:cNvPr>
            <p:cNvSpPr/>
            <p:nvPr/>
          </p:nvSpPr>
          <p:spPr>
            <a:xfrm>
              <a:off x="33909" y="33909"/>
              <a:ext cx="3169920" cy="6096000"/>
            </a:xfrm>
            <a:custGeom>
              <a:avLst/>
              <a:gdLst/>
              <a:ahLst/>
              <a:cxnLst/>
              <a:rect l="l" t="t" r="r" b="b"/>
              <a:pathLst>
                <a:path w="3169920" h="6096000">
                  <a:moveTo>
                    <a:pt x="0" y="0"/>
                  </a:moveTo>
                  <a:lnTo>
                    <a:pt x="3169920" y="0"/>
                  </a:lnTo>
                  <a:lnTo>
                    <a:pt x="31699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09A94EA5-DE7C-6AFE-53B5-072E143E4B40}"/>
                </a:ext>
              </a:extLst>
            </p:cNvPr>
            <p:cNvSpPr/>
            <p:nvPr/>
          </p:nvSpPr>
          <p:spPr>
            <a:xfrm>
              <a:off x="0" y="0"/>
              <a:ext cx="3237738" cy="6163818"/>
            </a:xfrm>
            <a:custGeom>
              <a:avLst/>
              <a:gdLst/>
              <a:ahLst/>
              <a:cxnLst/>
              <a:rect l="l" t="t" r="r" b="b"/>
              <a:pathLst>
                <a:path w="3237738" h="6163818">
                  <a:moveTo>
                    <a:pt x="33909" y="0"/>
                  </a:moveTo>
                  <a:lnTo>
                    <a:pt x="3203829" y="0"/>
                  </a:lnTo>
                  <a:cubicBezTo>
                    <a:pt x="3222498" y="0"/>
                    <a:pt x="3237738" y="15113"/>
                    <a:pt x="3237738" y="33909"/>
                  </a:cubicBezTo>
                  <a:lnTo>
                    <a:pt x="3237738" y="6129909"/>
                  </a:lnTo>
                  <a:cubicBezTo>
                    <a:pt x="3237738" y="6148578"/>
                    <a:pt x="3222625" y="6163818"/>
                    <a:pt x="3203829" y="6163818"/>
                  </a:cubicBezTo>
                  <a:lnTo>
                    <a:pt x="33909" y="6163818"/>
                  </a:lnTo>
                  <a:cubicBezTo>
                    <a:pt x="15240" y="6163818"/>
                    <a:pt x="0" y="6148705"/>
                    <a:pt x="0" y="61299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6129909"/>
                  </a:lnTo>
                  <a:lnTo>
                    <a:pt x="33909" y="6129909"/>
                  </a:lnTo>
                  <a:lnTo>
                    <a:pt x="33909" y="6096000"/>
                  </a:lnTo>
                  <a:lnTo>
                    <a:pt x="3203829" y="6096000"/>
                  </a:lnTo>
                  <a:lnTo>
                    <a:pt x="3203829" y="6129909"/>
                  </a:lnTo>
                  <a:lnTo>
                    <a:pt x="3169920" y="6129909"/>
                  </a:lnTo>
                  <a:lnTo>
                    <a:pt x="3169920" y="33909"/>
                  </a:lnTo>
                  <a:lnTo>
                    <a:pt x="3203829" y="33909"/>
                  </a:lnTo>
                  <a:lnTo>
                    <a:pt x="32038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65A11A89-8656-44E7-A6E0-DB5BA96F4803}"/>
              </a:ext>
            </a:extLst>
          </p:cNvPr>
          <p:cNvGrpSpPr/>
          <p:nvPr/>
        </p:nvGrpSpPr>
        <p:grpSpPr>
          <a:xfrm>
            <a:off x="10622893" y="4381500"/>
            <a:ext cx="2421332" cy="2436325"/>
            <a:chOff x="-58523" y="-78513"/>
            <a:chExt cx="3228443" cy="3248433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3163EC3-CBD8-4106-51D3-DB97FB6569F1}"/>
                </a:ext>
              </a:extLst>
            </p:cNvPr>
            <p:cNvSpPr/>
            <p:nvPr/>
          </p:nvSpPr>
          <p:spPr>
            <a:xfrm>
              <a:off x="-58523" y="-78513"/>
              <a:ext cx="3169920" cy="3169920"/>
            </a:xfrm>
            <a:custGeom>
              <a:avLst/>
              <a:gdLst/>
              <a:ahLst/>
              <a:cxnLst/>
              <a:rect l="l" t="t" r="r" b="b"/>
              <a:pathLst>
                <a:path w="3169920" h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6C3E7195-CD8F-D4A3-37FC-4387907ECA25}"/>
                </a:ext>
              </a:extLst>
            </p:cNvPr>
            <p:cNvSpPr txBox="1"/>
            <p:nvPr/>
          </p:nvSpPr>
          <p:spPr>
            <a:xfrm>
              <a:off x="0" y="-66675"/>
              <a:ext cx="316992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BA5C16AE-DE6A-13D5-EDFD-4B6453C03A59}"/>
              </a:ext>
            </a:extLst>
          </p:cNvPr>
          <p:cNvGrpSpPr/>
          <p:nvPr/>
        </p:nvGrpSpPr>
        <p:grpSpPr>
          <a:xfrm>
            <a:off x="13288562" y="6627653"/>
            <a:ext cx="4666939" cy="3229541"/>
            <a:chOff x="0" y="0"/>
            <a:chExt cx="8568271" cy="6861391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9D730D5A-DFCC-2B70-DF6B-259804F52A22}"/>
                </a:ext>
              </a:extLst>
            </p:cNvPr>
            <p:cNvSpPr/>
            <p:nvPr/>
          </p:nvSpPr>
          <p:spPr>
            <a:xfrm>
              <a:off x="16891" y="16891"/>
              <a:ext cx="8534400" cy="6827520"/>
            </a:xfrm>
            <a:custGeom>
              <a:avLst/>
              <a:gdLst/>
              <a:ahLst/>
              <a:cxnLst/>
              <a:rect l="l" t="t" r="r" b="b"/>
              <a:pathLst>
                <a:path w="8534400" h="6827520">
                  <a:moveTo>
                    <a:pt x="0" y="0"/>
                  </a:moveTo>
                  <a:lnTo>
                    <a:pt x="8534400" y="0"/>
                  </a:lnTo>
                  <a:lnTo>
                    <a:pt x="85344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910590F-F22A-52EB-CF03-0C022665B713}"/>
                </a:ext>
              </a:extLst>
            </p:cNvPr>
            <p:cNvSpPr/>
            <p:nvPr/>
          </p:nvSpPr>
          <p:spPr>
            <a:xfrm>
              <a:off x="0" y="0"/>
              <a:ext cx="8568182" cy="6861301"/>
            </a:xfrm>
            <a:custGeom>
              <a:avLst/>
              <a:gdLst/>
              <a:ahLst/>
              <a:cxnLst/>
              <a:rect l="l" t="t" r="r" b="b"/>
              <a:pathLst>
                <a:path w="8568182" h="6861301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6844411"/>
                  </a:lnTo>
                  <a:cubicBezTo>
                    <a:pt x="8568182" y="6853809"/>
                    <a:pt x="8560562" y="6861301"/>
                    <a:pt x="855129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8551291" y="6827520"/>
                  </a:lnTo>
                  <a:lnTo>
                    <a:pt x="8551291" y="6844411"/>
                  </a:lnTo>
                  <a:lnTo>
                    <a:pt x="8534400" y="684441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4079FA73-7148-DF14-99DB-02F56799088E}"/>
              </a:ext>
            </a:extLst>
          </p:cNvPr>
          <p:cNvGrpSpPr/>
          <p:nvPr/>
        </p:nvGrpSpPr>
        <p:grpSpPr>
          <a:xfrm>
            <a:off x="7127028" y="7976892"/>
            <a:ext cx="2936877" cy="1586208"/>
            <a:chOff x="0" y="0"/>
            <a:chExt cx="4213009" cy="2262289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19880CF3-7FC6-A6EB-5F91-46E1C15C6094}"/>
                </a:ext>
              </a:extLst>
            </p:cNvPr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68" name="Freeform 68">
              <a:extLst>
                <a:ext uri="{FF2B5EF4-FFF2-40B4-BE49-F238E27FC236}">
                  <a16:creationId xmlns:a16="http://schemas.microsoft.com/office/drawing/2014/main" id="{74211BC5-023F-4650-A9F9-0BA2A738CB73}"/>
                </a:ext>
              </a:extLst>
            </p:cNvPr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FA8FA387-59D8-D21C-53A1-A227A8FB391C}"/>
              </a:ext>
            </a:extLst>
          </p:cNvPr>
          <p:cNvGrpSpPr/>
          <p:nvPr/>
        </p:nvGrpSpPr>
        <p:grpSpPr>
          <a:xfrm>
            <a:off x="7241824" y="8081216"/>
            <a:ext cx="2847668" cy="1419676"/>
            <a:chOff x="0" y="0"/>
            <a:chExt cx="4145280" cy="219456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00C2AFE2-8855-3CEC-47F6-68728A9F7680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4D2DB67E-8F45-D12D-6943-C8E4BAF312CB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Unit</a:t>
              </a: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0FBDD392-28D0-ECF9-3EE0-4AE2D6DFE8E1}"/>
              </a:ext>
            </a:extLst>
          </p:cNvPr>
          <p:cNvGrpSpPr/>
          <p:nvPr/>
        </p:nvGrpSpPr>
        <p:grpSpPr>
          <a:xfrm>
            <a:off x="10000131" y="8710468"/>
            <a:ext cx="1940199" cy="55896"/>
            <a:chOff x="0" y="0"/>
            <a:chExt cx="1513840" cy="50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41CB19F6-283D-CF27-888D-AFF342535DC3}"/>
                </a:ext>
              </a:extLst>
            </p:cNvPr>
            <p:cNvSpPr/>
            <p:nvPr/>
          </p:nvSpPr>
          <p:spPr>
            <a:xfrm>
              <a:off x="25400" y="0"/>
              <a:ext cx="1463040" cy="50800"/>
            </a:xfrm>
            <a:custGeom>
              <a:avLst/>
              <a:gdLst/>
              <a:ahLst/>
              <a:cxnLst/>
              <a:rect l="l" t="t" r="r" b="b"/>
              <a:pathLst>
                <a:path w="1463040" h="5080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sp>
        <p:nvSpPr>
          <p:cNvPr id="77" name="AutoShape 77">
            <a:extLst>
              <a:ext uri="{FF2B5EF4-FFF2-40B4-BE49-F238E27FC236}">
                <a16:creationId xmlns:a16="http://schemas.microsoft.com/office/drawing/2014/main" id="{87B6F7FF-9F36-E0C9-6B7A-EF8DB1658F26}"/>
              </a:ext>
            </a:extLst>
          </p:cNvPr>
          <p:cNvSpPr/>
          <p:nvPr/>
        </p:nvSpPr>
        <p:spPr>
          <a:xfrm flipV="1">
            <a:off x="11883200" y="7715241"/>
            <a:ext cx="0" cy="995225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8" name="AutoShape 78">
            <a:extLst>
              <a:ext uri="{FF2B5EF4-FFF2-40B4-BE49-F238E27FC236}">
                <a16:creationId xmlns:a16="http://schemas.microsoft.com/office/drawing/2014/main" id="{A5FA5D61-7392-18ED-53A7-B2352D53C0F0}"/>
              </a:ext>
            </a:extLst>
          </p:cNvPr>
          <p:cNvSpPr/>
          <p:nvPr/>
        </p:nvSpPr>
        <p:spPr>
          <a:xfrm flipH="1">
            <a:off x="8634031" y="7693840"/>
            <a:ext cx="5" cy="269965"/>
          </a:xfrm>
          <a:prstGeom prst="line">
            <a:avLst/>
          </a:prstGeom>
          <a:ln w="47625" cap="flat">
            <a:solidFill>
              <a:srgbClr val="00C6D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79" name="AutoShape 79">
            <a:extLst>
              <a:ext uri="{FF2B5EF4-FFF2-40B4-BE49-F238E27FC236}">
                <a16:creationId xmlns:a16="http://schemas.microsoft.com/office/drawing/2014/main" id="{C3101C10-A668-D0DF-549F-FE3692CD40DB}"/>
              </a:ext>
            </a:extLst>
          </p:cNvPr>
          <p:cNvSpPr/>
          <p:nvPr/>
        </p:nvSpPr>
        <p:spPr>
          <a:xfrm flipV="1">
            <a:off x="10538580" y="5745138"/>
            <a:ext cx="18363" cy="2965328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80">
            <a:extLst>
              <a:ext uri="{FF2B5EF4-FFF2-40B4-BE49-F238E27FC236}">
                <a16:creationId xmlns:a16="http://schemas.microsoft.com/office/drawing/2014/main" id="{0B3CFC15-5EAC-8F71-354B-3C2D130D5B27}"/>
              </a:ext>
            </a:extLst>
          </p:cNvPr>
          <p:cNvSpPr/>
          <p:nvPr/>
        </p:nvSpPr>
        <p:spPr>
          <a:xfrm flipH="1">
            <a:off x="10053165" y="5766032"/>
            <a:ext cx="534352" cy="0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1" name="AutoShape 81">
            <a:extLst>
              <a:ext uri="{FF2B5EF4-FFF2-40B4-BE49-F238E27FC236}">
                <a16:creationId xmlns:a16="http://schemas.microsoft.com/office/drawing/2014/main" id="{C92FC275-1A09-5A56-5401-3A7AF30976BB}"/>
              </a:ext>
            </a:extLst>
          </p:cNvPr>
          <p:cNvSpPr/>
          <p:nvPr/>
        </p:nvSpPr>
        <p:spPr>
          <a:xfrm flipH="1" flipV="1">
            <a:off x="5113878" y="5381246"/>
            <a:ext cx="2027734" cy="1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2" name="AutoShape 82">
            <a:extLst>
              <a:ext uri="{FF2B5EF4-FFF2-40B4-BE49-F238E27FC236}">
                <a16:creationId xmlns:a16="http://schemas.microsoft.com/office/drawing/2014/main" id="{13F8049D-5457-EA8C-31F4-6D8C468CD2B5}"/>
              </a:ext>
            </a:extLst>
          </p:cNvPr>
          <p:cNvSpPr/>
          <p:nvPr/>
        </p:nvSpPr>
        <p:spPr>
          <a:xfrm flipH="1" flipV="1">
            <a:off x="5095544" y="3873615"/>
            <a:ext cx="1992300" cy="4106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4" name="AutoShape 84">
            <a:extLst>
              <a:ext uri="{FF2B5EF4-FFF2-40B4-BE49-F238E27FC236}">
                <a16:creationId xmlns:a16="http://schemas.microsoft.com/office/drawing/2014/main" id="{3EC4FBE7-DA0F-37E5-372F-905B275E67CA}"/>
              </a:ext>
            </a:extLst>
          </p:cNvPr>
          <p:cNvSpPr/>
          <p:nvPr/>
        </p:nvSpPr>
        <p:spPr>
          <a:xfrm flipH="1">
            <a:off x="5791200" y="7227802"/>
            <a:ext cx="1300905" cy="0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triangle" w="lg" len="med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AutoShape 85">
            <a:extLst>
              <a:ext uri="{FF2B5EF4-FFF2-40B4-BE49-F238E27FC236}">
                <a16:creationId xmlns:a16="http://schemas.microsoft.com/office/drawing/2014/main" id="{1B4BBA12-99DB-F64F-D969-3CB0310F722F}"/>
              </a:ext>
            </a:extLst>
          </p:cNvPr>
          <p:cNvSpPr/>
          <p:nvPr/>
        </p:nvSpPr>
        <p:spPr>
          <a:xfrm flipH="1">
            <a:off x="5075714" y="8791054"/>
            <a:ext cx="2054063" cy="0"/>
          </a:xfrm>
          <a:prstGeom prst="line">
            <a:avLst/>
          </a:prstGeom>
          <a:ln w="66675" cap="flat">
            <a:solidFill>
              <a:srgbClr val="FFC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6" name="AutoShape 86">
            <a:extLst>
              <a:ext uri="{FF2B5EF4-FFF2-40B4-BE49-F238E27FC236}">
                <a16:creationId xmlns:a16="http://schemas.microsoft.com/office/drawing/2014/main" id="{69FF936E-CEB6-4C29-9481-01FC9D13D132}"/>
              </a:ext>
            </a:extLst>
          </p:cNvPr>
          <p:cNvSpPr/>
          <p:nvPr/>
        </p:nvSpPr>
        <p:spPr>
          <a:xfrm flipH="1">
            <a:off x="10038637" y="6986292"/>
            <a:ext cx="913668" cy="0"/>
          </a:xfrm>
          <a:prstGeom prst="line">
            <a:avLst/>
          </a:prstGeom>
          <a:ln w="66675" cap="flat">
            <a:solidFill>
              <a:srgbClr val="00D47A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7" name="AutoShape 87">
            <a:extLst>
              <a:ext uri="{FF2B5EF4-FFF2-40B4-BE49-F238E27FC236}">
                <a16:creationId xmlns:a16="http://schemas.microsoft.com/office/drawing/2014/main" id="{E9A96DE3-6270-C77C-3258-9501D7E002B1}"/>
              </a:ext>
            </a:extLst>
          </p:cNvPr>
          <p:cNvSpPr/>
          <p:nvPr/>
        </p:nvSpPr>
        <p:spPr>
          <a:xfrm flipH="1">
            <a:off x="9995010" y="5386093"/>
            <a:ext cx="957295" cy="0"/>
          </a:xfrm>
          <a:prstGeom prst="line">
            <a:avLst/>
          </a:prstGeom>
          <a:ln w="66675" cap="flat">
            <a:solidFill>
              <a:srgbClr val="FFB34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88" name="AutoShape 88">
            <a:extLst>
              <a:ext uri="{FF2B5EF4-FFF2-40B4-BE49-F238E27FC236}">
                <a16:creationId xmlns:a16="http://schemas.microsoft.com/office/drawing/2014/main" id="{3D5B30F0-99C2-B3F4-B96C-F77D9136FC23}"/>
              </a:ext>
            </a:extLst>
          </p:cNvPr>
          <p:cNvSpPr/>
          <p:nvPr/>
        </p:nvSpPr>
        <p:spPr>
          <a:xfrm flipH="1" flipV="1">
            <a:off x="6370226" y="6635603"/>
            <a:ext cx="724778" cy="31897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triangle" w="lg" len="med"/>
            <a:tailEnd type="none" w="sm" len="sm"/>
          </a:ln>
        </p:spPr>
      </p:sp>
      <p:grpSp>
        <p:nvGrpSpPr>
          <p:cNvPr id="90" name="Group 90">
            <a:extLst>
              <a:ext uri="{FF2B5EF4-FFF2-40B4-BE49-F238E27FC236}">
                <a16:creationId xmlns:a16="http://schemas.microsoft.com/office/drawing/2014/main" id="{3D9EEF2A-9568-FD0A-60EB-5EA847945609}"/>
              </a:ext>
            </a:extLst>
          </p:cNvPr>
          <p:cNvGrpSpPr/>
          <p:nvPr/>
        </p:nvGrpSpPr>
        <p:grpSpPr>
          <a:xfrm>
            <a:off x="7221420" y="1590862"/>
            <a:ext cx="2743918" cy="1610986"/>
            <a:chOff x="0" y="0"/>
            <a:chExt cx="4145280" cy="2194560"/>
          </a:xfrm>
        </p:grpSpPr>
        <p:sp>
          <p:nvSpPr>
            <p:cNvPr id="91" name="Freeform 91">
              <a:extLst>
                <a:ext uri="{FF2B5EF4-FFF2-40B4-BE49-F238E27FC236}">
                  <a16:creationId xmlns:a16="http://schemas.microsoft.com/office/drawing/2014/main" id="{0761DF60-9638-8562-9ED8-9AF93C8E4D51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92" name="TextBox 92">
              <a:extLst>
                <a:ext uri="{FF2B5EF4-FFF2-40B4-BE49-F238E27FC236}">
                  <a16:creationId xmlns:a16="http://schemas.microsoft.com/office/drawing/2014/main" id="{4AE24E1C-4D19-D3DF-BCAE-2246C607EC48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sp>
        <p:nvSpPr>
          <p:cNvPr id="93" name="AutoShape 79">
            <a:extLst>
              <a:ext uri="{FF2B5EF4-FFF2-40B4-BE49-F238E27FC236}">
                <a16:creationId xmlns:a16="http://schemas.microsoft.com/office/drawing/2014/main" id="{DE3A7D24-B241-7379-844A-A37B65AB28EF}"/>
              </a:ext>
            </a:extLst>
          </p:cNvPr>
          <p:cNvSpPr/>
          <p:nvPr/>
        </p:nvSpPr>
        <p:spPr>
          <a:xfrm flipH="1" flipV="1">
            <a:off x="13398404" y="2664618"/>
            <a:ext cx="5936" cy="3090937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7" name="Group 14">
            <a:extLst>
              <a:ext uri="{FF2B5EF4-FFF2-40B4-BE49-F238E27FC236}">
                <a16:creationId xmlns:a16="http://schemas.microsoft.com/office/drawing/2014/main" id="{0CF947BE-3EBF-D389-27BD-1A2E367887E3}"/>
              </a:ext>
            </a:extLst>
          </p:cNvPr>
          <p:cNvGrpSpPr/>
          <p:nvPr/>
        </p:nvGrpSpPr>
        <p:grpSpPr>
          <a:xfrm>
            <a:off x="2151446" y="3390900"/>
            <a:ext cx="2967923" cy="2377440"/>
            <a:chOff x="0" y="0"/>
            <a:chExt cx="4213009" cy="2262289"/>
          </a:xfrm>
          <a:solidFill>
            <a:schemeClr val="tx2">
              <a:lumMod val="75000"/>
            </a:schemeClr>
          </a:solidFill>
        </p:grpSpPr>
        <p:sp>
          <p:nvSpPr>
            <p:cNvPr id="98" name="Freeform 15">
              <a:extLst>
                <a:ext uri="{FF2B5EF4-FFF2-40B4-BE49-F238E27FC236}">
                  <a16:creationId xmlns:a16="http://schemas.microsoft.com/office/drawing/2014/main" id="{FE2B281B-038A-2C2E-8BAF-CC51828BCEED}"/>
                </a:ext>
              </a:extLst>
            </p:cNvPr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grp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78AA74D5-BEEA-6966-E004-0BE40A3C4BFC}"/>
                </a:ext>
              </a:extLst>
            </p:cNvPr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grp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sp>
      </p:grpSp>
      <p:grpSp>
        <p:nvGrpSpPr>
          <p:cNvPr id="100" name="Group 23">
            <a:extLst>
              <a:ext uri="{FF2B5EF4-FFF2-40B4-BE49-F238E27FC236}">
                <a16:creationId xmlns:a16="http://schemas.microsoft.com/office/drawing/2014/main" id="{AE66081D-7232-B9C9-7A80-47A2DEBF0314}"/>
              </a:ext>
            </a:extLst>
          </p:cNvPr>
          <p:cNvGrpSpPr/>
          <p:nvPr/>
        </p:nvGrpSpPr>
        <p:grpSpPr>
          <a:xfrm>
            <a:off x="2089216" y="3895232"/>
            <a:ext cx="3092384" cy="1245132"/>
            <a:chOff x="0" y="0"/>
            <a:chExt cx="4145280" cy="2194560"/>
          </a:xfrm>
        </p:grpSpPr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57FC6049-7845-8562-BB9E-2A1518FF75DD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02" name="TextBox 25">
              <a:extLst>
                <a:ext uri="{FF2B5EF4-FFF2-40B4-BE49-F238E27FC236}">
                  <a16:creationId xmlns:a16="http://schemas.microsoft.com/office/drawing/2014/main" id="{583CA1D6-BBC7-C143-B244-78288BC86E73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× 16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 file</a:t>
              </a:r>
            </a:p>
          </p:txBody>
        </p:sp>
      </p:grpSp>
      <p:grpSp>
        <p:nvGrpSpPr>
          <p:cNvPr id="112" name="Group 20">
            <a:extLst>
              <a:ext uri="{FF2B5EF4-FFF2-40B4-BE49-F238E27FC236}">
                <a16:creationId xmlns:a16="http://schemas.microsoft.com/office/drawing/2014/main" id="{E1B63F3D-04C2-06F9-0CD4-054CFC087303}"/>
              </a:ext>
            </a:extLst>
          </p:cNvPr>
          <p:cNvGrpSpPr/>
          <p:nvPr/>
        </p:nvGrpSpPr>
        <p:grpSpPr>
          <a:xfrm>
            <a:off x="2124247" y="8117063"/>
            <a:ext cx="2951405" cy="1323334"/>
            <a:chOff x="0" y="0"/>
            <a:chExt cx="4213009" cy="2262289"/>
          </a:xfrm>
        </p:grpSpPr>
        <p:sp>
          <p:nvSpPr>
            <p:cNvPr id="113" name="Freeform 21">
              <a:extLst>
                <a:ext uri="{FF2B5EF4-FFF2-40B4-BE49-F238E27FC236}">
                  <a16:creationId xmlns:a16="http://schemas.microsoft.com/office/drawing/2014/main" id="{B622A439-9787-5359-C6FA-B63D55D67F21}"/>
                </a:ext>
              </a:extLst>
            </p:cNvPr>
            <p:cNvSpPr/>
            <p:nvPr/>
          </p:nvSpPr>
          <p:spPr>
            <a:xfrm>
              <a:off x="33909" y="33909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14" name="Freeform 22">
              <a:extLst>
                <a:ext uri="{FF2B5EF4-FFF2-40B4-BE49-F238E27FC236}">
                  <a16:creationId xmlns:a16="http://schemas.microsoft.com/office/drawing/2014/main" id="{B35F688F-6638-509C-446E-1075A001420D}"/>
                </a:ext>
              </a:extLst>
            </p:cNvPr>
            <p:cNvSpPr/>
            <p:nvPr/>
          </p:nvSpPr>
          <p:spPr>
            <a:xfrm>
              <a:off x="0" y="0"/>
              <a:ext cx="4213098" cy="2262378"/>
            </a:xfrm>
            <a:custGeom>
              <a:avLst/>
              <a:gdLst/>
              <a:ahLst/>
              <a:cxnLst/>
              <a:rect l="l" t="t" r="r" b="b"/>
              <a:pathLst>
                <a:path w="4213098" h="2262378">
                  <a:moveTo>
                    <a:pt x="33909" y="0"/>
                  </a:moveTo>
                  <a:lnTo>
                    <a:pt x="4179189" y="0"/>
                  </a:lnTo>
                  <a:cubicBezTo>
                    <a:pt x="4197858" y="0"/>
                    <a:pt x="4213098" y="15113"/>
                    <a:pt x="4213098" y="33909"/>
                  </a:cubicBezTo>
                  <a:lnTo>
                    <a:pt x="4213098" y="2228469"/>
                  </a:lnTo>
                  <a:cubicBezTo>
                    <a:pt x="4213098" y="2247138"/>
                    <a:pt x="4197985" y="2262378"/>
                    <a:pt x="4179189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4179189" y="2194560"/>
                  </a:lnTo>
                  <a:lnTo>
                    <a:pt x="4179189" y="2228469"/>
                  </a:lnTo>
                  <a:lnTo>
                    <a:pt x="4145280" y="2228469"/>
                  </a:lnTo>
                  <a:lnTo>
                    <a:pt x="4145280" y="33909"/>
                  </a:lnTo>
                  <a:lnTo>
                    <a:pt x="4179189" y="33909"/>
                  </a:lnTo>
                  <a:lnTo>
                    <a:pt x="417918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103" name="Group 23">
            <a:extLst>
              <a:ext uri="{FF2B5EF4-FFF2-40B4-BE49-F238E27FC236}">
                <a16:creationId xmlns:a16="http://schemas.microsoft.com/office/drawing/2014/main" id="{D1FBA5C3-9E9E-5031-7D14-97D60E082FF6}"/>
              </a:ext>
            </a:extLst>
          </p:cNvPr>
          <p:cNvGrpSpPr/>
          <p:nvPr/>
        </p:nvGrpSpPr>
        <p:grpSpPr>
          <a:xfrm>
            <a:off x="2053788" y="8136898"/>
            <a:ext cx="3092384" cy="1245132"/>
            <a:chOff x="0" y="0"/>
            <a:chExt cx="4145280" cy="2194560"/>
          </a:xfrm>
        </p:grpSpPr>
        <p:sp>
          <p:nvSpPr>
            <p:cNvPr id="104" name="Freeform 24">
              <a:extLst>
                <a:ext uri="{FF2B5EF4-FFF2-40B4-BE49-F238E27FC236}">
                  <a16:creationId xmlns:a16="http://schemas.microsoft.com/office/drawing/2014/main" id="{3C3615A8-A068-5CB6-0057-6E3810D28766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05" name="TextBox 25">
              <a:extLst>
                <a:ext uri="{FF2B5EF4-FFF2-40B4-BE49-F238E27FC236}">
                  <a16:creationId xmlns:a16="http://schemas.microsoft.com/office/drawing/2014/main" id="{CF4BEC8F-629F-AAD4-D4EF-E48C62FBB6AB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register</a:t>
              </a:r>
            </a:p>
          </p:txBody>
        </p:sp>
      </p:grpSp>
      <p:sp>
        <p:nvSpPr>
          <p:cNvPr id="116" name="AutoShape 81">
            <a:extLst>
              <a:ext uri="{FF2B5EF4-FFF2-40B4-BE49-F238E27FC236}">
                <a16:creationId xmlns:a16="http://schemas.microsoft.com/office/drawing/2014/main" id="{9AA863FC-C266-D762-BAAB-0E51560BEDF3}"/>
              </a:ext>
            </a:extLst>
          </p:cNvPr>
          <p:cNvSpPr/>
          <p:nvPr/>
        </p:nvSpPr>
        <p:spPr>
          <a:xfrm flipH="1">
            <a:off x="1059258" y="9168679"/>
            <a:ext cx="1062939" cy="13421"/>
          </a:xfrm>
          <a:prstGeom prst="line">
            <a:avLst/>
          </a:prstGeom>
          <a:ln w="66675" cap="flat">
            <a:solidFill>
              <a:srgbClr val="FFB347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17" name="AutoShape 79">
            <a:extLst>
              <a:ext uri="{FF2B5EF4-FFF2-40B4-BE49-F238E27FC236}">
                <a16:creationId xmlns:a16="http://schemas.microsoft.com/office/drawing/2014/main" id="{03C019FC-8451-7B3B-C51D-27C9FDBD9DF4}"/>
              </a:ext>
            </a:extLst>
          </p:cNvPr>
          <p:cNvSpPr/>
          <p:nvPr/>
        </p:nvSpPr>
        <p:spPr>
          <a:xfrm flipV="1">
            <a:off x="6400800" y="3846866"/>
            <a:ext cx="0" cy="2830520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8" name="Group 23">
            <a:extLst>
              <a:ext uri="{FF2B5EF4-FFF2-40B4-BE49-F238E27FC236}">
                <a16:creationId xmlns:a16="http://schemas.microsoft.com/office/drawing/2014/main" id="{6A293787-0D80-35D2-98F1-FDACDEA00B6C}"/>
              </a:ext>
            </a:extLst>
          </p:cNvPr>
          <p:cNvGrpSpPr/>
          <p:nvPr/>
        </p:nvGrpSpPr>
        <p:grpSpPr>
          <a:xfrm>
            <a:off x="4451138" y="2986341"/>
            <a:ext cx="3092384" cy="1245132"/>
            <a:chOff x="0" y="0"/>
            <a:chExt cx="4145280" cy="2194560"/>
          </a:xfrm>
        </p:grpSpPr>
        <p:sp>
          <p:nvSpPr>
            <p:cNvPr id="119" name="Freeform 24">
              <a:extLst>
                <a:ext uri="{FF2B5EF4-FFF2-40B4-BE49-F238E27FC236}">
                  <a16:creationId xmlns:a16="http://schemas.microsoft.com/office/drawing/2014/main" id="{24985697-EF93-8BEB-7195-1176232D6360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20" name="TextBox 25">
              <a:extLst>
                <a:ext uri="{FF2B5EF4-FFF2-40B4-BE49-F238E27FC236}">
                  <a16:creationId xmlns:a16="http://schemas.microsoft.com/office/drawing/2014/main" id="{42E24705-D18B-813E-1C1C-6689E0FB694B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ABUS</a:t>
              </a:r>
            </a:p>
          </p:txBody>
        </p:sp>
      </p:grpSp>
      <p:sp>
        <p:nvSpPr>
          <p:cNvPr id="121" name="AutoShape 79">
            <a:extLst>
              <a:ext uri="{FF2B5EF4-FFF2-40B4-BE49-F238E27FC236}">
                <a16:creationId xmlns:a16="http://schemas.microsoft.com/office/drawing/2014/main" id="{C7865EA4-5E9E-5D20-2807-FB9605C80BEF}"/>
              </a:ext>
            </a:extLst>
          </p:cNvPr>
          <p:cNvSpPr/>
          <p:nvPr/>
        </p:nvSpPr>
        <p:spPr>
          <a:xfrm flipH="1">
            <a:off x="3511136" y="2705099"/>
            <a:ext cx="9899762" cy="36837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" name="AutoShape 80">
            <a:extLst>
              <a:ext uri="{FF2B5EF4-FFF2-40B4-BE49-F238E27FC236}">
                <a16:creationId xmlns:a16="http://schemas.microsoft.com/office/drawing/2014/main" id="{44885AC4-EF1D-5EFB-ECFC-03C099290E99}"/>
              </a:ext>
            </a:extLst>
          </p:cNvPr>
          <p:cNvSpPr/>
          <p:nvPr/>
        </p:nvSpPr>
        <p:spPr>
          <a:xfrm flipH="1">
            <a:off x="3505200" y="2705100"/>
            <a:ext cx="0" cy="621702"/>
          </a:xfrm>
          <a:prstGeom prst="line">
            <a:avLst/>
          </a:prstGeom>
          <a:ln w="66675" cap="flat">
            <a:solidFill>
              <a:srgbClr val="00C6D7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3" name="Group 72">
            <a:extLst>
              <a:ext uri="{FF2B5EF4-FFF2-40B4-BE49-F238E27FC236}">
                <a16:creationId xmlns:a16="http://schemas.microsoft.com/office/drawing/2014/main" id="{C4B7FC22-97E8-5AE7-1CD4-9478CD728B65}"/>
              </a:ext>
            </a:extLst>
          </p:cNvPr>
          <p:cNvGrpSpPr/>
          <p:nvPr/>
        </p:nvGrpSpPr>
        <p:grpSpPr>
          <a:xfrm>
            <a:off x="12705638" y="5692059"/>
            <a:ext cx="739116" cy="71445"/>
            <a:chOff x="0" y="0"/>
            <a:chExt cx="1513840" cy="50800"/>
          </a:xfrm>
        </p:grpSpPr>
        <p:sp>
          <p:nvSpPr>
            <p:cNvPr id="124" name="Freeform 73">
              <a:extLst>
                <a:ext uri="{FF2B5EF4-FFF2-40B4-BE49-F238E27FC236}">
                  <a16:creationId xmlns:a16="http://schemas.microsoft.com/office/drawing/2014/main" id="{2056AB42-FD87-944B-B5F4-91B254F8565A}"/>
                </a:ext>
              </a:extLst>
            </p:cNvPr>
            <p:cNvSpPr/>
            <p:nvPr/>
          </p:nvSpPr>
          <p:spPr>
            <a:xfrm>
              <a:off x="25400" y="0"/>
              <a:ext cx="1463040" cy="50800"/>
            </a:xfrm>
            <a:custGeom>
              <a:avLst/>
              <a:gdLst/>
              <a:ahLst/>
              <a:cxnLst/>
              <a:rect l="l" t="t" r="r" b="b"/>
              <a:pathLst>
                <a:path w="1463040" h="5080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sp>
        <p:nvSpPr>
          <p:cNvPr id="125" name="AutoShape 88">
            <a:extLst>
              <a:ext uri="{FF2B5EF4-FFF2-40B4-BE49-F238E27FC236}">
                <a16:creationId xmlns:a16="http://schemas.microsoft.com/office/drawing/2014/main" id="{078437D2-742B-AA1E-925F-27DD4B851ACC}"/>
              </a:ext>
            </a:extLst>
          </p:cNvPr>
          <p:cNvSpPr/>
          <p:nvPr/>
        </p:nvSpPr>
        <p:spPr>
          <a:xfrm flipH="1" flipV="1">
            <a:off x="1053234" y="8492053"/>
            <a:ext cx="1062938" cy="13421"/>
          </a:xfrm>
          <a:prstGeom prst="line">
            <a:avLst/>
          </a:prstGeom>
          <a:ln w="66675" cap="flat">
            <a:solidFill>
              <a:srgbClr val="FFC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26" name="AutoShape 88">
            <a:extLst>
              <a:ext uri="{FF2B5EF4-FFF2-40B4-BE49-F238E27FC236}">
                <a16:creationId xmlns:a16="http://schemas.microsoft.com/office/drawing/2014/main" id="{73F41B10-C098-017F-03E4-62D42A01D8D7}"/>
              </a:ext>
            </a:extLst>
          </p:cNvPr>
          <p:cNvSpPr/>
          <p:nvPr/>
        </p:nvSpPr>
        <p:spPr>
          <a:xfrm flipH="1" flipV="1">
            <a:off x="1143000" y="5134326"/>
            <a:ext cx="973990" cy="9174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27" name="AutoShape 88">
            <a:extLst>
              <a:ext uri="{FF2B5EF4-FFF2-40B4-BE49-F238E27FC236}">
                <a16:creationId xmlns:a16="http://schemas.microsoft.com/office/drawing/2014/main" id="{395642A2-D34C-4425-1F8E-9F5598B4246E}"/>
              </a:ext>
            </a:extLst>
          </p:cNvPr>
          <p:cNvSpPr/>
          <p:nvPr/>
        </p:nvSpPr>
        <p:spPr>
          <a:xfrm flipH="1" flipV="1">
            <a:off x="1153331" y="4067526"/>
            <a:ext cx="973990" cy="9174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triangle" w="lg" len="med"/>
            <a:tailEnd type="none" w="sm" len="sm"/>
          </a:ln>
        </p:spPr>
      </p:sp>
      <p:grpSp>
        <p:nvGrpSpPr>
          <p:cNvPr id="128" name="Group 23">
            <a:extLst>
              <a:ext uri="{FF2B5EF4-FFF2-40B4-BE49-F238E27FC236}">
                <a16:creationId xmlns:a16="http://schemas.microsoft.com/office/drawing/2014/main" id="{BD587BFB-23AE-71EB-648D-2AFF50A9C25F}"/>
              </a:ext>
            </a:extLst>
          </p:cNvPr>
          <p:cNvGrpSpPr/>
          <p:nvPr/>
        </p:nvGrpSpPr>
        <p:grpSpPr>
          <a:xfrm>
            <a:off x="31816" y="4141410"/>
            <a:ext cx="3092384" cy="1245132"/>
            <a:chOff x="0" y="0"/>
            <a:chExt cx="4145280" cy="2194560"/>
          </a:xfrm>
        </p:grpSpPr>
        <p:sp>
          <p:nvSpPr>
            <p:cNvPr id="129" name="Freeform 24">
              <a:extLst>
                <a:ext uri="{FF2B5EF4-FFF2-40B4-BE49-F238E27FC236}">
                  <a16:creationId xmlns:a16="http://schemas.microsoft.com/office/drawing/2014/main" id="{818A34AA-F0AA-DE99-5CE9-AD2B88A47FF8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30" name="TextBox 25">
              <a:extLst>
                <a:ext uri="{FF2B5EF4-FFF2-40B4-BE49-F238E27FC236}">
                  <a16:creationId xmlns:a16="http://schemas.microsoft.com/office/drawing/2014/main" id="{2C7D97A6-A1CC-B78E-F841-0B8C37CA1098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</a:t>
              </a:r>
            </a:p>
          </p:txBody>
        </p:sp>
      </p:grpSp>
      <p:grpSp>
        <p:nvGrpSpPr>
          <p:cNvPr id="131" name="Group 23">
            <a:extLst>
              <a:ext uri="{FF2B5EF4-FFF2-40B4-BE49-F238E27FC236}">
                <a16:creationId xmlns:a16="http://schemas.microsoft.com/office/drawing/2014/main" id="{3FBF749D-2A6C-AD71-F72B-D92DB25C7ED8}"/>
              </a:ext>
            </a:extLst>
          </p:cNvPr>
          <p:cNvGrpSpPr/>
          <p:nvPr/>
        </p:nvGrpSpPr>
        <p:grpSpPr>
          <a:xfrm>
            <a:off x="22331" y="3025271"/>
            <a:ext cx="3092384" cy="1245132"/>
            <a:chOff x="0" y="0"/>
            <a:chExt cx="4145280" cy="2194560"/>
          </a:xfrm>
        </p:grpSpPr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7ED45424-6B1D-C9D1-FE53-4D3D108E1AF1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33" name="TextBox 25">
              <a:extLst>
                <a:ext uri="{FF2B5EF4-FFF2-40B4-BE49-F238E27FC236}">
                  <a16:creationId xmlns:a16="http://schemas.microsoft.com/office/drawing/2014/main" id="{87D44DAD-7ACA-0D7E-C4B9-0D702F09B673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</a:t>
              </a:r>
            </a:p>
          </p:txBody>
        </p:sp>
      </p:grpSp>
      <p:grpSp>
        <p:nvGrpSpPr>
          <p:cNvPr id="134" name="Group 23">
            <a:extLst>
              <a:ext uri="{FF2B5EF4-FFF2-40B4-BE49-F238E27FC236}">
                <a16:creationId xmlns:a16="http://schemas.microsoft.com/office/drawing/2014/main" id="{9952A8F1-61FD-ECB5-727E-6E2AB06E674E}"/>
              </a:ext>
            </a:extLst>
          </p:cNvPr>
          <p:cNvGrpSpPr/>
          <p:nvPr/>
        </p:nvGrpSpPr>
        <p:grpSpPr>
          <a:xfrm>
            <a:off x="4489296" y="7860768"/>
            <a:ext cx="3092384" cy="1245132"/>
            <a:chOff x="0" y="0"/>
            <a:chExt cx="4145280" cy="2194560"/>
          </a:xfrm>
        </p:grpSpPr>
        <p:sp>
          <p:nvSpPr>
            <p:cNvPr id="135" name="Freeform 24">
              <a:extLst>
                <a:ext uri="{FF2B5EF4-FFF2-40B4-BE49-F238E27FC236}">
                  <a16:creationId xmlns:a16="http://schemas.microsoft.com/office/drawing/2014/main" id="{DB99ECEA-2FBF-0D19-1979-9936D8C2A192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36" name="TextBox 25">
              <a:extLst>
                <a:ext uri="{FF2B5EF4-FFF2-40B4-BE49-F238E27FC236}">
                  <a16:creationId xmlns:a16="http://schemas.microsoft.com/office/drawing/2014/main" id="{E445BB30-0C9A-0473-6BD4-A33A7454CE01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</a:t>
              </a:r>
            </a:p>
          </p:txBody>
        </p:sp>
      </p:grpSp>
      <p:grpSp>
        <p:nvGrpSpPr>
          <p:cNvPr id="137" name="Group 23">
            <a:extLst>
              <a:ext uri="{FF2B5EF4-FFF2-40B4-BE49-F238E27FC236}">
                <a16:creationId xmlns:a16="http://schemas.microsoft.com/office/drawing/2014/main" id="{5A486325-F4E2-1B1B-5B35-F63A277756C2}"/>
              </a:ext>
            </a:extLst>
          </p:cNvPr>
          <p:cNvGrpSpPr/>
          <p:nvPr/>
        </p:nvGrpSpPr>
        <p:grpSpPr>
          <a:xfrm>
            <a:off x="0" y="8267700"/>
            <a:ext cx="3092384" cy="1245132"/>
            <a:chOff x="0" y="0"/>
            <a:chExt cx="4145280" cy="2194560"/>
          </a:xfrm>
        </p:grpSpPr>
        <p:sp>
          <p:nvSpPr>
            <p:cNvPr id="138" name="Freeform 24">
              <a:extLst>
                <a:ext uri="{FF2B5EF4-FFF2-40B4-BE49-F238E27FC236}">
                  <a16:creationId xmlns:a16="http://schemas.microsoft.com/office/drawing/2014/main" id="{9BC739F0-D5FA-D86C-5182-69CE152615D1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39" name="TextBox 25">
              <a:extLst>
                <a:ext uri="{FF2B5EF4-FFF2-40B4-BE49-F238E27FC236}">
                  <a16:creationId xmlns:a16="http://schemas.microsoft.com/office/drawing/2014/main" id="{435519A7-B2D0-912E-3B47-D5EE972007CF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Rd</a:t>
              </a:r>
            </a:p>
          </p:txBody>
        </p:sp>
      </p:grpSp>
      <p:grpSp>
        <p:nvGrpSpPr>
          <p:cNvPr id="140" name="Group 23">
            <a:extLst>
              <a:ext uri="{FF2B5EF4-FFF2-40B4-BE49-F238E27FC236}">
                <a16:creationId xmlns:a16="http://schemas.microsoft.com/office/drawing/2014/main" id="{8DA7BE4E-024B-7E0F-47D9-DFF1AD898419}"/>
              </a:ext>
            </a:extLst>
          </p:cNvPr>
          <p:cNvGrpSpPr/>
          <p:nvPr/>
        </p:nvGrpSpPr>
        <p:grpSpPr>
          <a:xfrm>
            <a:off x="-13796" y="7555968"/>
            <a:ext cx="3092384" cy="1245132"/>
            <a:chOff x="0" y="0"/>
            <a:chExt cx="4145280" cy="2194560"/>
          </a:xfrm>
        </p:grpSpPr>
        <p:sp>
          <p:nvSpPr>
            <p:cNvPr id="141" name="Freeform 24">
              <a:extLst>
                <a:ext uri="{FF2B5EF4-FFF2-40B4-BE49-F238E27FC236}">
                  <a16:creationId xmlns:a16="http://schemas.microsoft.com/office/drawing/2014/main" id="{BFBF13D8-90FE-1774-CF11-FDB02B929551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42" name="TextBox 25">
              <a:extLst>
                <a:ext uri="{FF2B5EF4-FFF2-40B4-BE49-F238E27FC236}">
                  <a16:creationId xmlns:a16="http://schemas.microsoft.com/office/drawing/2014/main" id="{852E7F6C-53C1-1363-13C3-61025AD8F3F2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</a:t>
              </a:r>
            </a:p>
          </p:txBody>
        </p:sp>
      </p:grpSp>
      <p:sp>
        <p:nvSpPr>
          <p:cNvPr id="143" name="AutoShape 79">
            <a:extLst>
              <a:ext uri="{FF2B5EF4-FFF2-40B4-BE49-F238E27FC236}">
                <a16:creationId xmlns:a16="http://schemas.microsoft.com/office/drawing/2014/main" id="{8D197321-9331-3EDC-FF14-2D7D630E336B}"/>
              </a:ext>
            </a:extLst>
          </p:cNvPr>
          <p:cNvSpPr/>
          <p:nvPr/>
        </p:nvSpPr>
        <p:spPr>
          <a:xfrm flipV="1">
            <a:off x="5791200" y="5402565"/>
            <a:ext cx="0" cy="1825237"/>
          </a:xfrm>
          <a:prstGeom prst="line">
            <a:avLst/>
          </a:prstGeom>
          <a:ln w="66675" cap="flat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4" name="Group 23">
            <a:extLst>
              <a:ext uri="{FF2B5EF4-FFF2-40B4-BE49-F238E27FC236}">
                <a16:creationId xmlns:a16="http://schemas.microsoft.com/office/drawing/2014/main" id="{51177A9E-06CE-4FA2-658C-9B6A23A4B468}"/>
              </a:ext>
            </a:extLst>
          </p:cNvPr>
          <p:cNvGrpSpPr/>
          <p:nvPr/>
        </p:nvGrpSpPr>
        <p:grpSpPr>
          <a:xfrm>
            <a:off x="4282198" y="4363454"/>
            <a:ext cx="3092384" cy="1245132"/>
            <a:chOff x="0" y="0"/>
            <a:chExt cx="4145280" cy="2194560"/>
          </a:xfrm>
        </p:grpSpPr>
        <p:sp>
          <p:nvSpPr>
            <p:cNvPr id="145" name="Freeform 24">
              <a:extLst>
                <a:ext uri="{FF2B5EF4-FFF2-40B4-BE49-F238E27FC236}">
                  <a16:creationId xmlns:a16="http://schemas.microsoft.com/office/drawing/2014/main" id="{8A8FB0DC-B9D0-C01A-40DE-1374E7AFF6DF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46" name="TextBox 25">
              <a:extLst>
                <a:ext uri="{FF2B5EF4-FFF2-40B4-BE49-F238E27FC236}">
                  <a16:creationId xmlns:a16="http://schemas.microsoft.com/office/drawing/2014/main" id="{0E89A375-0F07-B597-B628-1BC5B6F22B4D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BBUS</a:t>
              </a:r>
            </a:p>
          </p:txBody>
        </p:sp>
      </p:grpSp>
      <p:sp>
        <p:nvSpPr>
          <p:cNvPr id="147" name="AutoShape 88">
            <a:extLst>
              <a:ext uri="{FF2B5EF4-FFF2-40B4-BE49-F238E27FC236}">
                <a16:creationId xmlns:a16="http://schemas.microsoft.com/office/drawing/2014/main" id="{E0990C4E-C5DA-1FA1-92BA-4819DAFED42E}"/>
              </a:ext>
            </a:extLst>
          </p:cNvPr>
          <p:cNvSpPr/>
          <p:nvPr/>
        </p:nvSpPr>
        <p:spPr>
          <a:xfrm flipV="1">
            <a:off x="2910629" y="6884578"/>
            <a:ext cx="0" cy="1252320"/>
          </a:xfrm>
          <a:prstGeom prst="line">
            <a:avLst/>
          </a:prstGeom>
          <a:ln w="66675" cap="flat">
            <a:solidFill>
              <a:schemeClr val="accent5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48" name="AutoShape 88">
            <a:extLst>
              <a:ext uri="{FF2B5EF4-FFF2-40B4-BE49-F238E27FC236}">
                <a16:creationId xmlns:a16="http://schemas.microsoft.com/office/drawing/2014/main" id="{0B586062-6DDA-6E44-42C8-11C88499D525}"/>
              </a:ext>
            </a:extLst>
          </p:cNvPr>
          <p:cNvSpPr/>
          <p:nvPr/>
        </p:nvSpPr>
        <p:spPr>
          <a:xfrm flipH="1">
            <a:off x="2910629" y="5732799"/>
            <a:ext cx="2" cy="1173482"/>
          </a:xfrm>
          <a:prstGeom prst="line">
            <a:avLst/>
          </a:prstGeom>
          <a:ln w="66675" cap="flat">
            <a:solidFill>
              <a:schemeClr val="accent5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49" name="AutoShape 88">
            <a:extLst>
              <a:ext uri="{FF2B5EF4-FFF2-40B4-BE49-F238E27FC236}">
                <a16:creationId xmlns:a16="http://schemas.microsoft.com/office/drawing/2014/main" id="{F24983A8-5526-1A2F-1BA9-721588F6EA49}"/>
              </a:ext>
            </a:extLst>
          </p:cNvPr>
          <p:cNvSpPr/>
          <p:nvPr/>
        </p:nvSpPr>
        <p:spPr>
          <a:xfrm flipV="1">
            <a:off x="4267198" y="6904879"/>
            <a:ext cx="0" cy="1252320"/>
          </a:xfrm>
          <a:prstGeom prst="line">
            <a:avLst/>
          </a:prstGeom>
          <a:ln w="66675" cap="flat">
            <a:solidFill>
              <a:schemeClr val="accent5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50" name="AutoShape 88">
            <a:extLst>
              <a:ext uri="{FF2B5EF4-FFF2-40B4-BE49-F238E27FC236}">
                <a16:creationId xmlns:a16="http://schemas.microsoft.com/office/drawing/2014/main" id="{E1837026-A154-ACF2-3B16-BD13205754FF}"/>
              </a:ext>
            </a:extLst>
          </p:cNvPr>
          <p:cNvSpPr/>
          <p:nvPr/>
        </p:nvSpPr>
        <p:spPr>
          <a:xfrm flipH="1">
            <a:off x="4267198" y="5753100"/>
            <a:ext cx="2" cy="1173482"/>
          </a:xfrm>
          <a:prstGeom prst="line">
            <a:avLst/>
          </a:prstGeom>
          <a:ln w="66675" cap="flat">
            <a:solidFill>
              <a:schemeClr val="accent5"/>
            </a:solidFill>
            <a:prstDash val="solid"/>
            <a:headEnd type="triangle" w="lg" len="med"/>
            <a:tailEnd type="none" w="sm" len="sm"/>
          </a:ln>
        </p:spPr>
      </p:sp>
      <p:grpSp>
        <p:nvGrpSpPr>
          <p:cNvPr id="151" name="Group 57">
            <a:extLst>
              <a:ext uri="{FF2B5EF4-FFF2-40B4-BE49-F238E27FC236}">
                <a16:creationId xmlns:a16="http://schemas.microsoft.com/office/drawing/2014/main" id="{C8F07D6D-700E-9A49-CDA2-DDBE72965102}"/>
              </a:ext>
            </a:extLst>
          </p:cNvPr>
          <p:cNvGrpSpPr/>
          <p:nvPr/>
        </p:nvGrpSpPr>
        <p:grpSpPr>
          <a:xfrm>
            <a:off x="13386018" y="6741703"/>
            <a:ext cx="4444782" cy="2973797"/>
            <a:chOff x="0" y="-38100"/>
            <a:chExt cx="8046720" cy="2964180"/>
          </a:xfrm>
        </p:grpSpPr>
        <p:sp>
          <p:nvSpPr>
            <p:cNvPr id="152" name="Freeform 58">
              <a:extLst>
                <a:ext uri="{FF2B5EF4-FFF2-40B4-BE49-F238E27FC236}">
                  <a16:creationId xmlns:a16="http://schemas.microsoft.com/office/drawing/2014/main" id="{45387B5D-6866-FE7E-0DF3-5558C2E57A3F}"/>
                </a:ext>
              </a:extLst>
            </p:cNvPr>
            <p:cNvSpPr/>
            <p:nvPr/>
          </p:nvSpPr>
          <p:spPr>
            <a:xfrm>
              <a:off x="0" y="0"/>
              <a:ext cx="8046720" cy="2926080"/>
            </a:xfrm>
            <a:custGeom>
              <a:avLst/>
              <a:gdLst/>
              <a:ahLst/>
              <a:cxnLst/>
              <a:rect l="l" t="t" r="r" b="b"/>
              <a:pathLst>
                <a:path w="8046720" h="2926080">
                  <a:moveTo>
                    <a:pt x="0" y="0"/>
                  </a:moveTo>
                  <a:lnTo>
                    <a:pt x="8046720" y="0"/>
                  </a:lnTo>
                  <a:lnTo>
                    <a:pt x="8046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153" name="TextBox 59">
              <a:extLst>
                <a:ext uri="{FF2B5EF4-FFF2-40B4-BE49-F238E27FC236}">
                  <a16:creationId xmlns:a16="http://schemas.microsoft.com/office/drawing/2014/main" id="{204434BF-5C8E-F7EC-8A09-B31EA26FA32F}"/>
                </a:ext>
              </a:extLst>
            </p:cNvPr>
            <p:cNvSpPr txBox="1"/>
            <p:nvPr/>
          </p:nvSpPr>
          <p:spPr>
            <a:xfrm>
              <a:off x="0" y="-38100"/>
              <a:ext cx="8046720" cy="2964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800" b="0" i="0" dirty="0">
                  <a:solidFill>
                    <a:srgbClr val="CCCCCC"/>
                  </a:solidFill>
                  <a:effectLst/>
                  <a:latin typeface="+mj-lt"/>
                  <a:cs typeface="Times New Roman" panose="02020603050405020304" pitchFamily="18" charset="0"/>
                </a:rPr>
                <a:t>Crypto16 Coprocessor is a </a:t>
              </a:r>
            </a:p>
            <a:p>
              <a:pPr algn="ctr">
                <a:lnSpc>
                  <a:spcPts val="2879"/>
                </a:lnSpc>
              </a:pPr>
              <a:r>
                <a:rPr lang="en-US" sz="2800" b="0" i="0" dirty="0">
                  <a:solidFill>
                    <a:srgbClr val="CCCCCC"/>
                  </a:solidFill>
                  <a:effectLst/>
                  <a:latin typeface="+mj-lt"/>
                  <a:cs typeface="Times New Roman" panose="02020603050405020304" pitchFamily="18" charset="0"/>
                </a:rPr>
                <a:t>16-bit VHDL </a:t>
              </a:r>
              <a:r>
                <a:rPr lang="en-US" sz="2800" b="0" i="0" dirty="0" err="1">
                  <a:solidFill>
                    <a:srgbClr val="CCCCCC"/>
                  </a:solidFill>
                  <a:effectLst/>
                  <a:latin typeface="+mj-lt"/>
                  <a:cs typeface="Times New Roman" panose="02020603050405020304" pitchFamily="18" charset="0"/>
                </a:rPr>
                <a:t>datapath</a:t>
              </a:r>
              <a:r>
                <a:rPr lang="en-US" sz="2800" b="0" i="0" dirty="0">
                  <a:solidFill>
                    <a:srgbClr val="CCCCCC"/>
                  </a:solidFill>
                  <a:effectLst/>
                  <a:latin typeface="+mj-lt"/>
                  <a:cs typeface="Times New Roman" panose="02020603050405020304" pitchFamily="18" charset="0"/>
                </a:rPr>
                <a:t> with a hybrid reset, combining register storage, control decoding, and ALU, shifter, and LUT execution in one design</a:t>
              </a:r>
              <a:r>
                <a:rPr lang="en-US" sz="2800" dirty="0">
                  <a:solidFill>
                    <a:srgbClr val="E8F4F8"/>
                  </a:solidFill>
                  <a:latin typeface="+mj-lt"/>
                  <a:ea typeface="Calibri (MS)"/>
                  <a:cs typeface="Times New Roman" panose="02020603050405020304" pitchFamily="18" charset="0"/>
                  <a:sym typeface="Calibri (MS)"/>
                </a:rPr>
                <a:t>.</a:t>
              </a:r>
            </a:p>
          </p:txBody>
        </p:sp>
      </p:grpSp>
      <p:grpSp>
        <p:nvGrpSpPr>
          <p:cNvPr id="154" name="Group 69">
            <a:extLst>
              <a:ext uri="{FF2B5EF4-FFF2-40B4-BE49-F238E27FC236}">
                <a16:creationId xmlns:a16="http://schemas.microsoft.com/office/drawing/2014/main" id="{6CF3D302-29E5-A69E-2C4D-7D5160FB3388}"/>
              </a:ext>
            </a:extLst>
          </p:cNvPr>
          <p:cNvGrpSpPr/>
          <p:nvPr/>
        </p:nvGrpSpPr>
        <p:grpSpPr>
          <a:xfrm>
            <a:off x="2362200" y="6162224"/>
            <a:ext cx="2847668" cy="1419676"/>
            <a:chOff x="0" y="0"/>
            <a:chExt cx="4145280" cy="2194560"/>
          </a:xfrm>
        </p:grpSpPr>
        <p:sp>
          <p:nvSpPr>
            <p:cNvPr id="155" name="Freeform 70">
              <a:extLst>
                <a:ext uri="{FF2B5EF4-FFF2-40B4-BE49-F238E27FC236}">
                  <a16:creationId xmlns:a16="http://schemas.microsoft.com/office/drawing/2014/main" id="{7D4AC7C8-F50B-B858-9DA0-1AEDDA5E7AA1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56" name="TextBox 71">
              <a:extLst>
                <a:ext uri="{FF2B5EF4-FFF2-40B4-BE49-F238E27FC236}">
                  <a16:creationId xmlns:a16="http://schemas.microsoft.com/office/drawing/2014/main" id="{6399E600-C874-906E-704C-7A509251A315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Reset</a:t>
              </a:r>
            </a:p>
          </p:txBody>
        </p:sp>
      </p:grpSp>
      <p:grpSp>
        <p:nvGrpSpPr>
          <p:cNvPr id="157" name="Group 69">
            <a:extLst>
              <a:ext uri="{FF2B5EF4-FFF2-40B4-BE49-F238E27FC236}">
                <a16:creationId xmlns:a16="http://schemas.microsoft.com/office/drawing/2014/main" id="{7C978B54-628E-1ACA-82D0-DE25ADED1B8F}"/>
              </a:ext>
            </a:extLst>
          </p:cNvPr>
          <p:cNvGrpSpPr/>
          <p:nvPr/>
        </p:nvGrpSpPr>
        <p:grpSpPr>
          <a:xfrm>
            <a:off x="990600" y="6162224"/>
            <a:ext cx="2847668" cy="1419676"/>
            <a:chOff x="0" y="0"/>
            <a:chExt cx="4145280" cy="2194560"/>
          </a:xfrm>
        </p:grpSpPr>
        <p:sp>
          <p:nvSpPr>
            <p:cNvPr id="158" name="Freeform 70">
              <a:extLst>
                <a:ext uri="{FF2B5EF4-FFF2-40B4-BE49-F238E27FC236}">
                  <a16:creationId xmlns:a16="http://schemas.microsoft.com/office/drawing/2014/main" id="{A476DA28-1551-D623-3C4D-8E276C43A863}"/>
                </a:ext>
              </a:extLst>
            </p:cNvPr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59" name="TextBox 71">
              <a:extLst>
                <a:ext uri="{FF2B5EF4-FFF2-40B4-BE49-F238E27FC236}">
                  <a16:creationId xmlns:a16="http://schemas.microsoft.com/office/drawing/2014/main" id="{669B9B5E-985E-EBC9-FD54-88593FCC0A4D}"/>
                </a:ext>
              </a:extLst>
            </p:cNvPr>
            <p:cNvSpPr txBox="1"/>
            <p:nvPr/>
          </p:nvSpPr>
          <p:spPr>
            <a:xfrm>
              <a:off x="0" y="-38100"/>
              <a:ext cx="41452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004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Timing Model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82653" y="2711453"/>
            <a:ext cx="1892303" cy="63503"/>
            <a:chOff x="0" y="0"/>
            <a:chExt cx="2523071" cy="84671"/>
          </a:xfrm>
        </p:grpSpPr>
        <p:sp>
          <p:nvSpPr>
            <p:cNvPr id="9" name="Freeform 9"/>
            <p:cNvSpPr/>
            <p:nvPr/>
          </p:nvSpPr>
          <p:spPr>
            <a:xfrm>
              <a:off x="42291" y="0"/>
              <a:ext cx="2438400" cy="84709"/>
            </a:xfrm>
            <a:custGeom>
              <a:avLst/>
              <a:gdLst/>
              <a:ahLst/>
              <a:cxnLst/>
              <a:rect l="l" t="t" r="r" b="b"/>
              <a:pathLst>
                <a:path w="2438400" h="84709">
                  <a:moveTo>
                    <a:pt x="0" y="0"/>
                  </a:moveTo>
                  <a:lnTo>
                    <a:pt x="2438400" y="0"/>
                  </a:lnTo>
                  <a:lnTo>
                    <a:pt x="24384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711453" y="2711453"/>
            <a:ext cx="63503" cy="795023"/>
            <a:chOff x="0" y="0"/>
            <a:chExt cx="84671" cy="1060031"/>
          </a:xfrm>
        </p:grpSpPr>
        <p:sp>
          <p:nvSpPr>
            <p:cNvPr id="11" name="Freeform 11"/>
            <p:cNvSpPr/>
            <p:nvPr/>
          </p:nvSpPr>
          <p:spPr>
            <a:xfrm>
              <a:off x="0" y="42291"/>
              <a:ext cx="84709" cy="975360"/>
            </a:xfrm>
            <a:custGeom>
              <a:avLst/>
              <a:gdLst/>
              <a:ahLst/>
              <a:cxnLst/>
              <a:rect l="l" t="t" r="r" b="b"/>
              <a:pathLst>
                <a:path w="84709" h="975360">
                  <a:moveTo>
                    <a:pt x="84709" y="0"/>
                  </a:moveTo>
                  <a:lnTo>
                    <a:pt x="84709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711453" y="3442973"/>
            <a:ext cx="1892303" cy="63503"/>
            <a:chOff x="0" y="0"/>
            <a:chExt cx="2523071" cy="84671"/>
          </a:xfrm>
        </p:grpSpPr>
        <p:sp>
          <p:nvSpPr>
            <p:cNvPr id="13" name="Freeform 13"/>
            <p:cNvSpPr/>
            <p:nvPr/>
          </p:nvSpPr>
          <p:spPr>
            <a:xfrm>
              <a:off x="42291" y="0"/>
              <a:ext cx="2438400" cy="84709"/>
            </a:xfrm>
            <a:custGeom>
              <a:avLst/>
              <a:gdLst/>
              <a:ahLst/>
              <a:cxnLst/>
              <a:rect l="l" t="t" r="r" b="b"/>
              <a:pathLst>
                <a:path w="2438400" h="84709">
                  <a:moveTo>
                    <a:pt x="0" y="0"/>
                  </a:moveTo>
                  <a:lnTo>
                    <a:pt x="2438400" y="0"/>
                  </a:lnTo>
                  <a:lnTo>
                    <a:pt x="24384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540253" y="2711453"/>
            <a:ext cx="1892303" cy="63503"/>
            <a:chOff x="0" y="0"/>
            <a:chExt cx="2523071" cy="84671"/>
          </a:xfrm>
        </p:grpSpPr>
        <p:sp>
          <p:nvSpPr>
            <p:cNvPr id="15" name="Freeform 15"/>
            <p:cNvSpPr/>
            <p:nvPr/>
          </p:nvSpPr>
          <p:spPr>
            <a:xfrm>
              <a:off x="42291" y="0"/>
              <a:ext cx="2438400" cy="84709"/>
            </a:xfrm>
            <a:custGeom>
              <a:avLst/>
              <a:gdLst/>
              <a:ahLst/>
              <a:cxnLst/>
              <a:rect l="l" t="t" r="r" b="b"/>
              <a:pathLst>
                <a:path w="2438400" h="84709">
                  <a:moveTo>
                    <a:pt x="0" y="0"/>
                  </a:moveTo>
                  <a:lnTo>
                    <a:pt x="2438400" y="0"/>
                  </a:lnTo>
                  <a:lnTo>
                    <a:pt x="24384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369053" y="2711453"/>
            <a:ext cx="63503" cy="795023"/>
            <a:chOff x="0" y="0"/>
            <a:chExt cx="84671" cy="1060031"/>
          </a:xfrm>
        </p:grpSpPr>
        <p:sp>
          <p:nvSpPr>
            <p:cNvPr id="17" name="Freeform 17"/>
            <p:cNvSpPr/>
            <p:nvPr/>
          </p:nvSpPr>
          <p:spPr>
            <a:xfrm>
              <a:off x="0" y="42291"/>
              <a:ext cx="84709" cy="975360"/>
            </a:xfrm>
            <a:custGeom>
              <a:avLst/>
              <a:gdLst/>
              <a:ahLst/>
              <a:cxnLst/>
              <a:rect l="l" t="t" r="r" b="b"/>
              <a:pathLst>
                <a:path w="84709" h="975360">
                  <a:moveTo>
                    <a:pt x="84709" y="0"/>
                  </a:moveTo>
                  <a:lnTo>
                    <a:pt x="84709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369053" y="3442973"/>
            <a:ext cx="1892303" cy="63503"/>
            <a:chOff x="0" y="0"/>
            <a:chExt cx="2523071" cy="84671"/>
          </a:xfrm>
        </p:grpSpPr>
        <p:sp>
          <p:nvSpPr>
            <p:cNvPr id="19" name="Freeform 19"/>
            <p:cNvSpPr/>
            <p:nvPr/>
          </p:nvSpPr>
          <p:spPr>
            <a:xfrm>
              <a:off x="42291" y="0"/>
              <a:ext cx="2438400" cy="84709"/>
            </a:xfrm>
            <a:custGeom>
              <a:avLst/>
              <a:gdLst/>
              <a:ahLst/>
              <a:cxnLst/>
              <a:rect l="l" t="t" r="r" b="b"/>
              <a:pathLst>
                <a:path w="2438400" h="84709">
                  <a:moveTo>
                    <a:pt x="0" y="0"/>
                  </a:moveTo>
                  <a:lnTo>
                    <a:pt x="2438400" y="0"/>
                  </a:lnTo>
                  <a:lnTo>
                    <a:pt x="24384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197853" y="2711453"/>
            <a:ext cx="1892303" cy="63503"/>
            <a:chOff x="0" y="0"/>
            <a:chExt cx="2523071" cy="84671"/>
          </a:xfrm>
        </p:grpSpPr>
        <p:sp>
          <p:nvSpPr>
            <p:cNvPr id="21" name="Freeform 21"/>
            <p:cNvSpPr/>
            <p:nvPr/>
          </p:nvSpPr>
          <p:spPr>
            <a:xfrm>
              <a:off x="42291" y="0"/>
              <a:ext cx="2438400" cy="84709"/>
            </a:xfrm>
            <a:custGeom>
              <a:avLst/>
              <a:gdLst/>
              <a:ahLst/>
              <a:cxnLst/>
              <a:rect l="l" t="t" r="r" b="b"/>
              <a:pathLst>
                <a:path w="2438400" h="84709">
                  <a:moveTo>
                    <a:pt x="0" y="0"/>
                  </a:moveTo>
                  <a:lnTo>
                    <a:pt x="2438400" y="0"/>
                  </a:lnTo>
                  <a:lnTo>
                    <a:pt x="24384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026653" y="2711453"/>
            <a:ext cx="63503" cy="795023"/>
            <a:chOff x="0" y="0"/>
            <a:chExt cx="84671" cy="1060031"/>
          </a:xfrm>
        </p:grpSpPr>
        <p:sp>
          <p:nvSpPr>
            <p:cNvPr id="23" name="Freeform 23"/>
            <p:cNvSpPr/>
            <p:nvPr/>
          </p:nvSpPr>
          <p:spPr>
            <a:xfrm>
              <a:off x="0" y="42291"/>
              <a:ext cx="84709" cy="975360"/>
            </a:xfrm>
            <a:custGeom>
              <a:avLst/>
              <a:gdLst/>
              <a:ahLst/>
              <a:cxnLst/>
              <a:rect l="l" t="t" r="r" b="b"/>
              <a:pathLst>
                <a:path w="84709" h="975360">
                  <a:moveTo>
                    <a:pt x="84709" y="0"/>
                  </a:moveTo>
                  <a:lnTo>
                    <a:pt x="84709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026653" y="3442973"/>
            <a:ext cx="1892303" cy="63503"/>
            <a:chOff x="0" y="0"/>
            <a:chExt cx="2523071" cy="84671"/>
          </a:xfrm>
        </p:grpSpPr>
        <p:sp>
          <p:nvSpPr>
            <p:cNvPr id="25" name="Freeform 25"/>
            <p:cNvSpPr/>
            <p:nvPr/>
          </p:nvSpPr>
          <p:spPr>
            <a:xfrm>
              <a:off x="42291" y="0"/>
              <a:ext cx="2438400" cy="84709"/>
            </a:xfrm>
            <a:custGeom>
              <a:avLst/>
              <a:gdLst/>
              <a:ahLst/>
              <a:cxnLst/>
              <a:rect l="l" t="t" r="r" b="b"/>
              <a:pathLst>
                <a:path w="2438400" h="84709">
                  <a:moveTo>
                    <a:pt x="0" y="0"/>
                  </a:moveTo>
                  <a:lnTo>
                    <a:pt x="2438400" y="0"/>
                  </a:lnTo>
                  <a:lnTo>
                    <a:pt x="24384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070080" y="2743200"/>
            <a:ext cx="1463040" cy="731520"/>
            <a:chOff x="0" y="0"/>
            <a:chExt cx="1950720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50720" cy="975360"/>
            </a:xfrm>
            <a:custGeom>
              <a:avLst/>
              <a:gdLst/>
              <a:ahLst/>
              <a:cxnLst/>
              <a:rect l="l" t="t" r="r" b="b"/>
              <a:pathLst>
                <a:path w="1950720" h="97536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95072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CLK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1703" y="3919223"/>
            <a:ext cx="3683003" cy="939803"/>
            <a:chOff x="0" y="0"/>
            <a:chExt cx="4910671" cy="125307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4876800" cy="1219200"/>
            </a:xfrm>
            <a:custGeom>
              <a:avLst/>
              <a:gdLst/>
              <a:ahLst/>
              <a:cxnLst/>
              <a:rect l="l" t="t" r="r" b="b"/>
              <a:pathLst>
                <a:path w="4876800" h="12192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D47A">
                <a:alpha val="8627"/>
              </a:srgbClr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910582" cy="1252984"/>
            </a:xfrm>
            <a:custGeom>
              <a:avLst/>
              <a:gdLst/>
              <a:ahLst/>
              <a:cxnLst/>
              <a:rect l="l" t="t" r="r" b="b"/>
              <a:pathLst>
                <a:path w="4910582" h="1252984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236091"/>
                  </a:lnTo>
                  <a:cubicBezTo>
                    <a:pt x="4910582" y="1245489"/>
                    <a:pt x="4902962" y="1252982"/>
                    <a:pt x="4893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4893691" y="1219200"/>
                  </a:lnTo>
                  <a:lnTo>
                    <a:pt x="4893691" y="1236091"/>
                  </a:lnTo>
                  <a:lnTo>
                    <a:pt x="4876800" y="12360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14400" y="3931920"/>
            <a:ext cx="3657600" cy="914400"/>
            <a:chOff x="0" y="0"/>
            <a:chExt cx="487680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6800" cy="1219200"/>
            </a:xfrm>
            <a:custGeom>
              <a:avLst/>
              <a:gdLst/>
              <a:ahLst/>
              <a:cxnLst/>
              <a:rect l="l" t="t" r="r" b="b"/>
              <a:pathLst>
                <a:path w="4876800" h="12192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59"/>
                </a:lnSpc>
              </a:pPr>
              <a:r>
                <a:rPr lang="en-US" sz="3299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A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59303" y="3919223"/>
            <a:ext cx="3683003" cy="939803"/>
            <a:chOff x="0" y="0"/>
            <a:chExt cx="4910671" cy="125307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876800" cy="1219200"/>
            </a:xfrm>
            <a:custGeom>
              <a:avLst/>
              <a:gdLst/>
              <a:ahLst/>
              <a:cxnLst/>
              <a:rect l="l" t="t" r="r" b="b"/>
              <a:pathLst>
                <a:path w="4876800" h="12192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B347">
                <a:alpha val="8627"/>
              </a:srgbClr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910582" cy="1252984"/>
            </a:xfrm>
            <a:custGeom>
              <a:avLst/>
              <a:gdLst/>
              <a:ahLst/>
              <a:cxnLst/>
              <a:rect l="l" t="t" r="r" b="b"/>
              <a:pathLst>
                <a:path w="4910582" h="1252984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236091"/>
                  </a:lnTo>
                  <a:cubicBezTo>
                    <a:pt x="4910582" y="1245489"/>
                    <a:pt x="4902962" y="1252982"/>
                    <a:pt x="4893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4893691" y="1219200"/>
                  </a:lnTo>
                  <a:lnTo>
                    <a:pt x="4893691" y="1236091"/>
                  </a:lnTo>
                  <a:lnTo>
                    <a:pt x="4876800" y="12360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4572000" y="3931920"/>
            <a:ext cx="3657600" cy="914400"/>
            <a:chOff x="0" y="0"/>
            <a:chExt cx="487680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0" cy="1219200"/>
            </a:xfrm>
            <a:custGeom>
              <a:avLst/>
              <a:gdLst/>
              <a:ahLst/>
              <a:cxnLst/>
              <a:rect l="l" t="t" r="r" b="b"/>
              <a:pathLst>
                <a:path w="4876800" h="12192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B ↑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16903" y="3919223"/>
            <a:ext cx="3683003" cy="939803"/>
            <a:chOff x="0" y="0"/>
            <a:chExt cx="4910671" cy="125307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4876800" cy="1219200"/>
            </a:xfrm>
            <a:custGeom>
              <a:avLst/>
              <a:gdLst/>
              <a:ahLst/>
              <a:cxnLst/>
              <a:rect l="l" t="t" r="r" b="b"/>
              <a:pathLst>
                <a:path w="4876800" h="12192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D47A">
                <a:alpha val="8627"/>
              </a:srgbClr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4910582" cy="1252984"/>
            </a:xfrm>
            <a:custGeom>
              <a:avLst/>
              <a:gdLst/>
              <a:ahLst/>
              <a:cxnLst/>
              <a:rect l="l" t="t" r="r" b="b"/>
              <a:pathLst>
                <a:path w="4910582" h="1252984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236091"/>
                  </a:lnTo>
                  <a:cubicBezTo>
                    <a:pt x="4910582" y="1245489"/>
                    <a:pt x="4902962" y="1252982"/>
                    <a:pt x="4893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4893691" y="1219200"/>
                  </a:lnTo>
                  <a:lnTo>
                    <a:pt x="4893691" y="1236091"/>
                  </a:lnTo>
                  <a:lnTo>
                    <a:pt x="4876800" y="12360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8229600" y="3931920"/>
            <a:ext cx="3657600" cy="914400"/>
            <a:chOff x="0" y="0"/>
            <a:chExt cx="48768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76800" cy="1219200"/>
            </a:xfrm>
            <a:custGeom>
              <a:avLst/>
              <a:gdLst/>
              <a:ahLst/>
              <a:cxnLst/>
              <a:rect l="l" t="t" r="r" b="b"/>
              <a:pathLst>
                <a:path w="4876800" h="12192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A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5350" y="5193030"/>
            <a:ext cx="8084820" cy="4792980"/>
            <a:chOff x="0" y="0"/>
            <a:chExt cx="10779760" cy="6390640"/>
          </a:xfrm>
        </p:grpSpPr>
        <p:sp>
          <p:nvSpPr>
            <p:cNvPr id="48" name="Freeform 48"/>
            <p:cNvSpPr/>
            <p:nvPr/>
          </p:nvSpPr>
          <p:spPr>
            <a:xfrm>
              <a:off x="25400" y="25400"/>
              <a:ext cx="10728960" cy="6339840"/>
            </a:xfrm>
            <a:custGeom>
              <a:avLst/>
              <a:gdLst/>
              <a:ahLst/>
              <a:cxnLst/>
              <a:rect l="l" t="t" r="r" b="b"/>
              <a:pathLst>
                <a:path w="10728960" h="6339840">
                  <a:moveTo>
                    <a:pt x="0" y="0"/>
                  </a:moveTo>
                  <a:lnTo>
                    <a:pt x="10728960" y="0"/>
                  </a:lnTo>
                  <a:lnTo>
                    <a:pt x="1072896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10779760" cy="6390640"/>
            </a:xfrm>
            <a:custGeom>
              <a:avLst/>
              <a:gdLst/>
              <a:ahLst/>
              <a:cxnLst/>
              <a:rect l="l" t="t" r="r" b="b"/>
              <a:pathLst>
                <a:path w="10779760" h="6390640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6365240"/>
                  </a:lnTo>
                  <a:cubicBezTo>
                    <a:pt x="10779760" y="6379210"/>
                    <a:pt x="10768330" y="6390640"/>
                    <a:pt x="10754360" y="6390640"/>
                  </a:cubicBezTo>
                  <a:lnTo>
                    <a:pt x="25400" y="6390640"/>
                  </a:lnTo>
                  <a:cubicBezTo>
                    <a:pt x="11430" y="6390640"/>
                    <a:pt x="0" y="6379210"/>
                    <a:pt x="0" y="6365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365240"/>
                  </a:lnTo>
                  <a:lnTo>
                    <a:pt x="25400" y="6365240"/>
                  </a:lnTo>
                  <a:lnTo>
                    <a:pt x="25400" y="6339840"/>
                  </a:lnTo>
                  <a:lnTo>
                    <a:pt x="10754360" y="6339840"/>
                  </a:lnTo>
                  <a:lnTo>
                    <a:pt x="10754360" y="6365240"/>
                  </a:lnTo>
                  <a:lnTo>
                    <a:pt x="10728960" y="6365240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097280" y="5303520"/>
            <a:ext cx="7680960" cy="822960"/>
            <a:chOff x="0" y="0"/>
            <a:chExt cx="10241280" cy="10972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10241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9"/>
                </a:lnSpc>
              </a:pPr>
              <a:r>
                <a:rPr lang="en-US" sz="3299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A — Combinational Evaluation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97280" y="6217920"/>
            <a:ext cx="7680960" cy="3729297"/>
            <a:chOff x="0" y="0"/>
            <a:chExt cx="10241280" cy="497239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1280" cy="4972396"/>
            </a:xfrm>
            <a:custGeom>
              <a:avLst/>
              <a:gdLst/>
              <a:ahLst/>
              <a:cxnLst/>
              <a:rect l="l" t="t" r="r" b="b"/>
              <a:pathLst>
                <a:path w="10241280" h="4972396">
                  <a:moveTo>
                    <a:pt x="0" y="0"/>
                  </a:moveTo>
                  <a:lnTo>
                    <a:pt x="10241280" y="0"/>
                  </a:lnTo>
                  <a:lnTo>
                    <a:pt x="10241280" y="4972396"/>
                  </a:lnTo>
                  <a:lnTo>
                    <a:pt x="0" y="497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42" r="-8042" b="682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0241280" cy="50295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ABus &amp; BBus read asynchronously from register file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ALU / Shifter / LUT all compute simultaneously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MUX selects result based on sel_block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clock needed — result available after propagation delay</a:t>
              </a:r>
            </a:p>
            <a:p>
              <a:pPr marL="723896" lvl="1" indent="-361948" algn="l">
                <a:lnSpc>
                  <a:spcPts val="3599"/>
                </a:lnSpc>
              </a:pPr>
              <a:endParaRPr lang="en-US" sz="29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82150" y="5193030"/>
            <a:ext cx="8084820" cy="4792980"/>
            <a:chOff x="0" y="0"/>
            <a:chExt cx="10779760" cy="6390640"/>
          </a:xfrm>
        </p:grpSpPr>
        <p:sp>
          <p:nvSpPr>
            <p:cNvPr id="57" name="Freeform 57"/>
            <p:cNvSpPr/>
            <p:nvPr/>
          </p:nvSpPr>
          <p:spPr>
            <a:xfrm>
              <a:off x="25400" y="25400"/>
              <a:ext cx="10728960" cy="6339840"/>
            </a:xfrm>
            <a:custGeom>
              <a:avLst/>
              <a:gdLst/>
              <a:ahLst/>
              <a:cxnLst/>
              <a:rect l="l" t="t" r="r" b="b"/>
              <a:pathLst>
                <a:path w="10728960" h="6339840">
                  <a:moveTo>
                    <a:pt x="0" y="0"/>
                  </a:moveTo>
                  <a:lnTo>
                    <a:pt x="10728960" y="0"/>
                  </a:lnTo>
                  <a:lnTo>
                    <a:pt x="1072896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0779760" cy="6390640"/>
            </a:xfrm>
            <a:custGeom>
              <a:avLst/>
              <a:gdLst/>
              <a:ahLst/>
              <a:cxnLst/>
              <a:rect l="l" t="t" r="r" b="b"/>
              <a:pathLst>
                <a:path w="10779760" h="6390640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6365240"/>
                  </a:lnTo>
                  <a:cubicBezTo>
                    <a:pt x="10779760" y="6379210"/>
                    <a:pt x="10768330" y="6390640"/>
                    <a:pt x="10754360" y="6390640"/>
                  </a:cubicBezTo>
                  <a:lnTo>
                    <a:pt x="25400" y="6390640"/>
                  </a:lnTo>
                  <a:cubicBezTo>
                    <a:pt x="11430" y="6390640"/>
                    <a:pt x="0" y="6379210"/>
                    <a:pt x="0" y="6365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365240"/>
                  </a:lnTo>
                  <a:lnTo>
                    <a:pt x="25400" y="6365240"/>
                  </a:lnTo>
                  <a:lnTo>
                    <a:pt x="25400" y="6339840"/>
                  </a:lnTo>
                  <a:lnTo>
                    <a:pt x="10754360" y="6339840"/>
                  </a:lnTo>
                  <a:lnTo>
                    <a:pt x="10754360" y="6365240"/>
                  </a:lnTo>
                  <a:lnTo>
                    <a:pt x="10728960" y="6365240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784080" y="5303520"/>
            <a:ext cx="7680960" cy="822960"/>
            <a:chOff x="0" y="0"/>
            <a:chExt cx="10241280" cy="10972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0241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9"/>
                </a:lnSpc>
              </a:pPr>
              <a:r>
                <a:rPr lang="en-US" sz="3299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B — Sequential Commit (Rising Edge)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784080" y="6217920"/>
            <a:ext cx="7680960" cy="3729297"/>
            <a:chOff x="0" y="0"/>
            <a:chExt cx="10241280" cy="49723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241280" cy="4972396"/>
            </a:xfrm>
            <a:custGeom>
              <a:avLst/>
              <a:gdLst/>
              <a:ahLst/>
              <a:cxnLst/>
              <a:rect l="l" t="t" r="r" b="b"/>
              <a:pathLst>
                <a:path w="10241280" h="4972396">
                  <a:moveTo>
                    <a:pt x="0" y="0"/>
                  </a:moveTo>
                  <a:lnTo>
                    <a:pt x="10241280" y="0"/>
                  </a:lnTo>
                  <a:lnTo>
                    <a:pt x="10241280" y="4972396"/>
                  </a:lnTo>
                  <a:lnTo>
                    <a:pt x="0" y="497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42" r="-8042" b="682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10241280" cy="50295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 written to registers[Rd] if wrt = '1'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and Rd sampled into ctrl_temp / Rd_temp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reset: async assert, sync deassert (prevents metastability)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wrt = '0' for ctrl = 0111 (NOP — write disabled)</a:t>
              </a:r>
            </a:p>
            <a:p>
              <a:pPr marL="723896" lvl="1" indent="-361948" algn="l">
                <a:lnSpc>
                  <a:spcPts val="3599"/>
                </a:lnSpc>
              </a:pPr>
              <a:endParaRPr lang="en-US" sz="29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002669" y="799494"/>
            <a:ext cx="15989231" cy="595572"/>
            <a:chOff x="0" y="0"/>
            <a:chExt cx="21318974" cy="7940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318975" cy="794096"/>
            </a:xfrm>
            <a:custGeom>
              <a:avLst/>
              <a:gdLst/>
              <a:ahLst/>
              <a:cxnLst/>
              <a:rect l="l" t="t" r="r" b="b"/>
              <a:pathLst>
                <a:path w="21318975" h="794096">
                  <a:moveTo>
                    <a:pt x="0" y="0"/>
                  </a:moveTo>
                  <a:lnTo>
                    <a:pt x="21318975" y="0"/>
                  </a:lnTo>
                  <a:lnTo>
                    <a:pt x="21318975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498" r="-2939" b="-48147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21318974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 i="1">
                  <a:solidFill>
                    <a:srgbClr val="8FA8B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Single-cycle datapath  •  Asynchronous reads  •  Synchronous writes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16903" y="2743200"/>
            <a:ext cx="63503" cy="795023"/>
            <a:chOff x="0" y="0"/>
            <a:chExt cx="84671" cy="1060031"/>
          </a:xfrm>
        </p:grpSpPr>
        <p:sp>
          <p:nvSpPr>
            <p:cNvPr id="69" name="Freeform 69"/>
            <p:cNvSpPr/>
            <p:nvPr/>
          </p:nvSpPr>
          <p:spPr>
            <a:xfrm>
              <a:off x="0" y="42291"/>
              <a:ext cx="84709" cy="975360"/>
            </a:xfrm>
            <a:custGeom>
              <a:avLst/>
              <a:gdLst/>
              <a:ahLst/>
              <a:cxnLst/>
              <a:rect l="l" t="t" r="r" b="b"/>
              <a:pathLst>
                <a:path w="84709" h="975360">
                  <a:moveTo>
                    <a:pt x="84709" y="0"/>
                  </a:moveTo>
                  <a:lnTo>
                    <a:pt x="84709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4552955" y="2743200"/>
            <a:ext cx="63503" cy="795023"/>
            <a:chOff x="0" y="0"/>
            <a:chExt cx="84671" cy="1060031"/>
          </a:xfrm>
        </p:grpSpPr>
        <p:sp>
          <p:nvSpPr>
            <p:cNvPr id="71" name="Freeform 71"/>
            <p:cNvSpPr/>
            <p:nvPr/>
          </p:nvSpPr>
          <p:spPr>
            <a:xfrm>
              <a:off x="0" y="42291"/>
              <a:ext cx="84709" cy="975360"/>
            </a:xfrm>
            <a:custGeom>
              <a:avLst/>
              <a:gdLst/>
              <a:ahLst/>
              <a:cxnLst/>
              <a:rect l="l" t="t" r="r" b="b"/>
              <a:pathLst>
                <a:path w="84709" h="975360">
                  <a:moveTo>
                    <a:pt x="84709" y="0"/>
                  </a:moveTo>
                  <a:lnTo>
                    <a:pt x="84709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Verification &amp; Testbench Strategy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88997" y="1986277"/>
            <a:ext cx="8097517" cy="7000237"/>
            <a:chOff x="0" y="0"/>
            <a:chExt cx="10796689" cy="9333649"/>
          </a:xfrm>
        </p:grpSpPr>
        <p:sp>
          <p:nvSpPr>
            <p:cNvPr id="9" name="Freeform 9"/>
            <p:cNvSpPr/>
            <p:nvPr/>
          </p:nvSpPr>
          <p:spPr>
            <a:xfrm>
              <a:off x="33909" y="33909"/>
              <a:ext cx="10728960" cy="9265919"/>
            </a:xfrm>
            <a:custGeom>
              <a:avLst/>
              <a:gdLst/>
              <a:ahLst/>
              <a:cxnLst/>
              <a:rect l="l" t="t" r="r" b="b"/>
              <a:pathLst>
                <a:path w="10728960" h="9265919">
                  <a:moveTo>
                    <a:pt x="0" y="0"/>
                  </a:moveTo>
                  <a:lnTo>
                    <a:pt x="10728960" y="0"/>
                  </a:lnTo>
                  <a:lnTo>
                    <a:pt x="10728960" y="9265919"/>
                  </a:lnTo>
                  <a:lnTo>
                    <a:pt x="0" y="9265919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796778" cy="9333738"/>
            </a:xfrm>
            <a:custGeom>
              <a:avLst/>
              <a:gdLst/>
              <a:ahLst/>
              <a:cxnLst/>
              <a:rect l="l" t="t" r="r" b="b"/>
              <a:pathLst>
                <a:path w="10796778" h="9333738">
                  <a:moveTo>
                    <a:pt x="33909" y="0"/>
                  </a:moveTo>
                  <a:lnTo>
                    <a:pt x="10762869" y="0"/>
                  </a:lnTo>
                  <a:cubicBezTo>
                    <a:pt x="10781538" y="0"/>
                    <a:pt x="10796778" y="15113"/>
                    <a:pt x="10796778" y="33909"/>
                  </a:cubicBezTo>
                  <a:lnTo>
                    <a:pt x="10796778" y="9299828"/>
                  </a:lnTo>
                  <a:cubicBezTo>
                    <a:pt x="10796778" y="9318498"/>
                    <a:pt x="10781665" y="9333738"/>
                    <a:pt x="10762869" y="9333738"/>
                  </a:cubicBezTo>
                  <a:lnTo>
                    <a:pt x="33909" y="9333738"/>
                  </a:lnTo>
                  <a:cubicBezTo>
                    <a:pt x="15240" y="9333738"/>
                    <a:pt x="0" y="9318625"/>
                    <a:pt x="0" y="9299828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299828"/>
                  </a:lnTo>
                  <a:lnTo>
                    <a:pt x="33909" y="9299828"/>
                  </a:lnTo>
                  <a:lnTo>
                    <a:pt x="33909" y="9265920"/>
                  </a:lnTo>
                  <a:lnTo>
                    <a:pt x="10762869" y="9265920"/>
                  </a:lnTo>
                  <a:lnTo>
                    <a:pt x="10762869" y="9299828"/>
                  </a:lnTo>
                  <a:lnTo>
                    <a:pt x="10728960" y="9299828"/>
                  </a:lnTo>
                  <a:lnTo>
                    <a:pt x="10728960" y="33909"/>
                  </a:lnTo>
                  <a:lnTo>
                    <a:pt x="10762869" y="33909"/>
                  </a:lnTo>
                  <a:lnTo>
                    <a:pt x="1076286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1998983"/>
            <a:ext cx="8072123" cy="135131"/>
            <a:chOff x="0" y="0"/>
            <a:chExt cx="10762831" cy="18017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0728960" cy="146304"/>
            </a:xfrm>
            <a:custGeom>
              <a:avLst/>
              <a:gdLst/>
              <a:ahLst/>
              <a:cxnLst/>
              <a:rect l="l" t="t" r="r" b="b"/>
              <a:pathLst>
                <a:path w="10728960" h="146304">
                  <a:moveTo>
                    <a:pt x="0" y="0"/>
                  </a:moveTo>
                  <a:lnTo>
                    <a:pt x="10728960" y="0"/>
                  </a:lnTo>
                  <a:lnTo>
                    <a:pt x="10728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7A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0762742" cy="180088"/>
            </a:xfrm>
            <a:custGeom>
              <a:avLst/>
              <a:gdLst/>
              <a:ahLst/>
              <a:cxnLst/>
              <a:rect l="l" t="t" r="r" b="b"/>
              <a:pathLst>
                <a:path w="10762742" h="180088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63195"/>
                  </a:lnTo>
                  <a:cubicBezTo>
                    <a:pt x="10762742" y="172593"/>
                    <a:pt x="10755122" y="180086"/>
                    <a:pt x="10745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745851" y="146304"/>
                  </a:lnTo>
                  <a:lnTo>
                    <a:pt x="10745851" y="163195"/>
                  </a:lnTo>
                  <a:lnTo>
                    <a:pt x="10728960" y="163195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97280" y="2194560"/>
            <a:ext cx="7680960" cy="822960"/>
            <a:chOff x="0" y="0"/>
            <a:chExt cx="1024128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02412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59"/>
                </a:lnSpc>
              </a:pPr>
              <a:r>
                <a:rPr lang="en-US" sz="3799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 1 — Unit Testbenches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7280" y="3200400"/>
            <a:ext cx="7680960" cy="5486400"/>
            <a:chOff x="0" y="0"/>
            <a:chExt cx="10241280" cy="7315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0" cy="7315200"/>
            </a:xfrm>
            <a:custGeom>
              <a:avLst/>
              <a:gdLst/>
              <a:ahLst/>
              <a:cxnLst/>
              <a:rect l="l" t="t" r="r" b="b"/>
              <a:pathLst>
                <a:path w="10241280" h="731520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0241280" cy="7372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Full_Adder_TB  — single-bit carry logic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Adder_16bit_TB  — overflow, 0+0, 0xFFFF+1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ALU_TB  — all 7 ops + edge values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Shifter_TB  — all 3 shifts + undefined codes → zero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NonLinearLut_TB  — full 256-value sweep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register_file_TB  — reset, write-enable, read-back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75797" y="1986277"/>
            <a:ext cx="8097517" cy="7000237"/>
            <a:chOff x="0" y="0"/>
            <a:chExt cx="10796689" cy="9333649"/>
          </a:xfrm>
        </p:grpSpPr>
        <p:sp>
          <p:nvSpPr>
            <p:cNvPr id="21" name="Freeform 21"/>
            <p:cNvSpPr/>
            <p:nvPr/>
          </p:nvSpPr>
          <p:spPr>
            <a:xfrm>
              <a:off x="33909" y="33909"/>
              <a:ext cx="10728960" cy="9265919"/>
            </a:xfrm>
            <a:custGeom>
              <a:avLst/>
              <a:gdLst/>
              <a:ahLst/>
              <a:cxnLst/>
              <a:rect l="l" t="t" r="r" b="b"/>
              <a:pathLst>
                <a:path w="10728960" h="9265919">
                  <a:moveTo>
                    <a:pt x="0" y="0"/>
                  </a:moveTo>
                  <a:lnTo>
                    <a:pt x="10728960" y="0"/>
                  </a:lnTo>
                  <a:lnTo>
                    <a:pt x="10728960" y="9265919"/>
                  </a:lnTo>
                  <a:lnTo>
                    <a:pt x="0" y="9265919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0796778" cy="9333738"/>
            </a:xfrm>
            <a:custGeom>
              <a:avLst/>
              <a:gdLst/>
              <a:ahLst/>
              <a:cxnLst/>
              <a:rect l="l" t="t" r="r" b="b"/>
              <a:pathLst>
                <a:path w="10796778" h="9333738">
                  <a:moveTo>
                    <a:pt x="33909" y="0"/>
                  </a:moveTo>
                  <a:lnTo>
                    <a:pt x="10762869" y="0"/>
                  </a:lnTo>
                  <a:cubicBezTo>
                    <a:pt x="10781538" y="0"/>
                    <a:pt x="10796778" y="15113"/>
                    <a:pt x="10796778" y="33909"/>
                  </a:cubicBezTo>
                  <a:lnTo>
                    <a:pt x="10796778" y="9299828"/>
                  </a:lnTo>
                  <a:cubicBezTo>
                    <a:pt x="10796778" y="9318498"/>
                    <a:pt x="10781665" y="9333738"/>
                    <a:pt x="10762869" y="9333738"/>
                  </a:cubicBezTo>
                  <a:lnTo>
                    <a:pt x="33909" y="9333738"/>
                  </a:lnTo>
                  <a:cubicBezTo>
                    <a:pt x="15240" y="9333738"/>
                    <a:pt x="0" y="9318625"/>
                    <a:pt x="0" y="9299828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299828"/>
                  </a:lnTo>
                  <a:lnTo>
                    <a:pt x="33909" y="9299828"/>
                  </a:lnTo>
                  <a:lnTo>
                    <a:pt x="33909" y="9265920"/>
                  </a:lnTo>
                  <a:lnTo>
                    <a:pt x="10762869" y="9265920"/>
                  </a:lnTo>
                  <a:lnTo>
                    <a:pt x="10762869" y="9299828"/>
                  </a:lnTo>
                  <a:lnTo>
                    <a:pt x="10728960" y="9299828"/>
                  </a:lnTo>
                  <a:lnTo>
                    <a:pt x="10728960" y="33909"/>
                  </a:lnTo>
                  <a:lnTo>
                    <a:pt x="10762869" y="33909"/>
                  </a:lnTo>
                  <a:lnTo>
                    <a:pt x="1076286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588503" y="1998983"/>
            <a:ext cx="8072123" cy="135131"/>
            <a:chOff x="0" y="0"/>
            <a:chExt cx="10762831" cy="180175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0728960" cy="146304"/>
            </a:xfrm>
            <a:custGeom>
              <a:avLst/>
              <a:gdLst/>
              <a:ahLst/>
              <a:cxnLst/>
              <a:rect l="l" t="t" r="r" b="b"/>
              <a:pathLst>
                <a:path w="10728960" h="146304">
                  <a:moveTo>
                    <a:pt x="0" y="0"/>
                  </a:moveTo>
                  <a:lnTo>
                    <a:pt x="10728960" y="0"/>
                  </a:lnTo>
                  <a:lnTo>
                    <a:pt x="10728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762742" cy="180088"/>
            </a:xfrm>
            <a:custGeom>
              <a:avLst/>
              <a:gdLst/>
              <a:ahLst/>
              <a:cxnLst/>
              <a:rect l="l" t="t" r="r" b="b"/>
              <a:pathLst>
                <a:path w="10762742" h="180088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63195"/>
                  </a:lnTo>
                  <a:cubicBezTo>
                    <a:pt x="10762742" y="172593"/>
                    <a:pt x="10755122" y="180086"/>
                    <a:pt x="10745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745851" y="146304"/>
                  </a:lnTo>
                  <a:lnTo>
                    <a:pt x="10745851" y="163195"/>
                  </a:lnTo>
                  <a:lnTo>
                    <a:pt x="10728960" y="163195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784080" y="2194560"/>
            <a:ext cx="7680960" cy="822960"/>
            <a:chOff x="0" y="0"/>
            <a:chExt cx="1024128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02412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 2 — Integration Testbenches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84080" y="3200400"/>
            <a:ext cx="7680960" cy="5486400"/>
            <a:chOff x="0" y="0"/>
            <a:chExt cx="10241280" cy="7315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0" cy="7315200"/>
            </a:xfrm>
            <a:custGeom>
              <a:avLst/>
              <a:gdLst/>
              <a:ahLst/>
              <a:cxnLst/>
              <a:rect l="l" t="t" r="r" b="b"/>
              <a:pathLst>
                <a:path w="10241280" h="731520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10241280" cy="7381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48029" lvl="1" indent="-374015" algn="l">
                <a:lnSpc>
                  <a:spcPts val="3719"/>
                </a:lnSpc>
                <a:buFont typeface="Arial"/>
                <a:buChar char="•"/>
              </a:pPr>
              <a:r>
                <a:rPr lang="en-US" sz="30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combinational_TB  — MUX switching, CTRL routing across all blocks</a:t>
              </a:r>
            </a:p>
            <a:p>
              <a:pPr marL="748029" lvl="1" indent="-374015" algn="l">
                <a:lnSpc>
                  <a:spcPts val="3719"/>
                </a:lnSpc>
                <a:buFont typeface="Arial"/>
                <a:buChar char="•"/>
              </a:pPr>
              <a:r>
                <a:rPr lang="en-US" sz="30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crypto16_coprocessor_TB  — end-to-end: write ops, execute, readback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1703" y="9131303"/>
            <a:ext cx="16484603" cy="848363"/>
            <a:chOff x="0" y="0"/>
            <a:chExt cx="21979471" cy="113115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21945599" cy="1097280"/>
            </a:xfrm>
            <a:custGeom>
              <a:avLst/>
              <a:gdLst/>
              <a:ahLst/>
              <a:cxnLst/>
              <a:rect l="l" t="t" r="r" b="b"/>
              <a:pathLst>
                <a:path w="21945599" h="1097280">
                  <a:moveTo>
                    <a:pt x="0" y="0"/>
                  </a:moveTo>
                  <a:lnTo>
                    <a:pt x="21945599" y="0"/>
                  </a:lnTo>
                  <a:lnTo>
                    <a:pt x="2194559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2E4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21979382" cy="1131064"/>
            </a:xfrm>
            <a:custGeom>
              <a:avLst/>
              <a:gdLst/>
              <a:ahLst/>
              <a:cxnLst/>
              <a:rect l="l" t="t" r="r" b="b"/>
              <a:pathLst>
                <a:path w="21979382" h="1131064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114171"/>
                  </a:lnTo>
                  <a:cubicBezTo>
                    <a:pt x="21979382" y="1123569"/>
                    <a:pt x="21971763" y="1131062"/>
                    <a:pt x="21962490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1962490" y="1097280"/>
                  </a:lnTo>
                  <a:lnTo>
                    <a:pt x="21962490" y="1114171"/>
                  </a:lnTo>
                  <a:lnTo>
                    <a:pt x="21945600" y="111417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E45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14400" y="9180576"/>
            <a:ext cx="16459200" cy="694944"/>
            <a:chOff x="0" y="0"/>
            <a:chExt cx="2194560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8FA8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Directed stimulus  •  Expected outcomes in inline comments  •  Waveform inspection in Active-HDL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Results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95350" y="1992630"/>
            <a:ext cx="5341620" cy="7901940"/>
            <a:chOff x="0" y="0"/>
            <a:chExt cx="7122160" cy="10535920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7071360" cy="10485120"/>
            </a:xfrm>
            <a:custGeom>
              <a:avLst/>
              <a:gdLst/>
              <a:ahLst/>
              <a:cxnLst/>
              <a:rect l="l" t="t" r="r" b="b"/>
              <a:pathLst>
                <a:path w="7071360" h="10485120">
                  <a:moveTo>
                    <a:pt x="0" y="0"/>
                  </a:moveTo>
                  <a:lnTo>
                    <a:pt x="7071360" y="0"/>
                  </a:lnTo>
                  <a:lnTo>
                    <a:pt x="707136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122160" cy="10535920"/>
            </a:xfrm>
            <a:custGeom>
              <a:avLst/>
              <a:gdLst/>
              <a:ahLst/>
              <a:cxnLst/>
              <a:rect l="l" t="t" r="r" b="b"/>
              <a:pathLst>
                <a:path w="7122160" h="10535920">
                  <a:moveTo>
                    <a:pt x="25400" y="0"/>
                  </a:moveTo>
                  <a:lnTo>
                    <a:pt x="7096760" y="0"/>
                  </a:lnTo>
                  <a:cubicBezTo>
                    <a:pt x="7110730" y="0"/>
                    <a:pt x="7122160" y="11430"/>
                    <a:pt x="7122160" y="25400"/>
                  </a:cubicBezTo>
                  <a:lnTo>
                    <a:pt x="7122160" y="10510520"/>
                  </a:lnTo>
                  <a:cubicBezTo>
                    <a:pt x="7122160" y="10524489"/>
                    <a:pt x="7110730" y="10535920"/>
                    <a:pt x="709676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096760" y="10485120"/>
                  </a:lnTo>
                  <a:lnTo>
                    <a:pt x="7096760" y="10510520"/>
                  </a:lnTo>
                  <a:lnTo>
                    <a:pt x="7071360" y="10510520"/>
                  </a:lnTo>
                  <a:lnTo>
                    <a:pt x="7071360" y="25400"/>
                  </a:lnTo>
                  <a:lnTo>
                    <a:pt x="7096760" y="25400"/>
                  </a:lnTo>
                  <a:lnTo>
                    <a:pt x="7096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1998983"/>
            <a:ext cx="5328923" cy="848363"/>
            <a:chOff x="0" y="0"/>
            <a:chExt cx="7105231" cy="113115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D47A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1131064"/>
            </a:xfrm>
            <a:custGeom>
              <a:avLst/>
              <a:gdLst/>
              <a:ahLst/>
              <a:cxnLst/>
              <a:rect l="l" t="t" r="r" b="b"/>
              <a:pathLst>
                <a:path w="7105142" h="113106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114171"/>
                  </a:lnTo>
                  <a:cubicBezTo>
                    <a:pt x="7105142" y="1123569"/>
                    <a:pt x="7097522" y="1131062"/>
                    <a:pt x="70882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088251" y="1097280"/>
                  </a:lnTo>
                  <a:lnTo>
                    <a:pt x="7088251" y="1114171"/>
                  </a:lnTo>
                  <a:lnTo>
                    <a:pt x="7071360" y="1114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14400" y="2011680"/>
            <a:ext cx="5303520" cy="822960"/>
            <a:chOff x="0" y="0"/>
            <a:chExt cx="707136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4583" y="3096263"/>
            <a:ext cx="4963163" cy="1525019"/>
            <a:chOff x="0" y="0"/>
            <a:chExt cx="6617551" cy="203335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88720" y="3145536"/>
            <a:ext cx="3657600" cy="512064"/>
            <a:chOff x="0" y="0"/>
            <a:chExt cx="487680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89120" y="3145536"/>
            <a:ext cx="1371600" cy="512064"/>
            <a:chOff x="0" y="0"/>
            <a:chExt cx="1828800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88720" y="3657600"/>
            <a:ext cx="4754880" cy="402336"/>
            <a:chOff x="0" y="0"/>
            <a:chExt cx="6339840" cy="5364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A=0x0032, B=0x001E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88720" y="4059936"/>
            <a:ext cx="4754880" cy="402336"/>
            <a:chOff x="0" y="0"/>
            <a:chExt cx="6339840" cy="5364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0x0050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84583" y="4742183"/>
            <a:ext cx="4963163" cy="1525019"/>
            <a:chOff x="0" y="0"/>
            <a:chExt cx="6617551" cy="2033359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88720" y="4791456"/>
            <a:ext cx="3657600" cy="512064"/>
            <a:chOff x="0" y="0"/>
            <a:chExt cx="487680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9120" y="4791456"/>
            <a:ext cx="1371600" cy="512064"/>
            <a:chOff x="0" y="0"/>
            <a:chExt cx="1828800" cy="68275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88720" y="5303520"/>
            <a:ext cx="4754880" cy="402336"/>
            <a:chOff x="0" y="0"/>
            <a:chExt cx="6339840" cy="5364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A=0xF0F0, B=0x0F0F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88720" y="5705856"/>
            <a:ext cx="4754880" cy="402336"/>
            <a:chOff x="0" y="0"/>
            <a:chExt cx="6339840" cy="5364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0x0000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84583" y="6388103"/>
            <a:ext cx="4963163" cy="1525019"/>
            <a:chOff x="0" y="0"/>
            <a:chExt cx="6617551" cy="2033359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188720" y="6437376"/>
            <a:ext cx="3657600" cy="512064"/>
            <a:chOff x="0" y="0"/>
            <a:chExt cx="4876800" cy="68275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XOR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389120" y="6437376"/>
            <a:ext cx="1371600" cy="512064"/>
            <a:chOff x="0" y="0"/>
            <a:chExt cx="1828800" cy="68275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88720" y="6949440"/>
            <a:ext cx="4754880" cy="402336"/>
            <a:chOff x="0" y="0"/>
            <a:chExt cx="6339840" cy="5364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A=0xAAAA, B=0xAAAA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88720" y="7351776"/>
            <a:ext cx="4754880" cy="402336"/>
            <a:chOff x="0" y="0"/>
            <a:chExt cx="6339840" cy="536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0x0000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84583" y="8034023"/>
            <a:ext cx="4963163" cy="1525019"/>
            <a:chOff x="0" y="0"/>
            <a:chExt cx="6617551" cy="203335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188720" y="8083296"/>
            <a:ext cx="3657600" cy="512064"/>
            <a:chOff x="0" y="0"/>
            <a:chExt cx="4876800" cy="68275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389120" y="8083296"/>
            <a:ext cx="1371600" cy="512064"/>
            <a:chOff x="0" y="0"/>
            <a:chExt cx="1828800" cy="68275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88720" y="8595360"/>
            <a:ext cx="4754880" cy="402336"/>
            <a:chOff x="0" y="0"/>
            <a:chExt cx="6339840" cy="5364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A=0x00FF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88720" y="8997696"/>
            <a:ext cx="4754880" cy="402336"/>
            <a:chOff x="0" y="0"/>
            <a:chExt cx="633984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0xFF00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692646" y="1992630"/>
            <a:ext cx="5341620" cy="7901940"/>
            <a:chOff x="0" y="0"/>
            <a:chExt cx="7122160" cy="10535920"/>
          </a:xfrm>
        </p:grpSpPr>
        <p:sp>
          <p:nvSpPr>
            <p:cNvPr id="78" name="Freeform 78"/>
            <p:cNvSpPr/>
            <p:nvPr/>
          </p:nvSpPr>
          <p:spPr>
            <a:xfrm>
              <a:off x="25400" y="25400"/>
              <a:ext cx="7071360" cy="10485120"/>
            </a:xfrm>
            <a:custGeom>
              <a:avLst/>
              <a:gdLst/>
              <a:ahLst/>
              <a:cxnLst/>
              <a:rect l="l" t="t" r="r" b="b"/>
              <a:pathLst>
                <a:path w="7071360" h="10485120">
                  <a:moveTo>
                    <a:pt x="0" y="0"/>
                  </a:moveTo>
                  <a:lnTo>
                    <a:pt x="7071360" y="0"/>
                  </a:lnTo>
                  <a:lnTo>
                    <a:pt x="707136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7122160" cy="10535920"/>
            </a:xfrm>
            <a:custGeom>
              <a:avLst/>
              <a:gdLst/>
              <a:ahLst/>
              <a:cxnLst/>
              <a:rect l="l" t="t" r="r" b="b"/>
              <a:pathLst>
                <a:path w="7122160" h="10535920">
                  <a:moveTo>
                    <a:pt x="25400" y="0"/>
                  </a:moveTo>
                  <a:lnTo>
                    <a:pt x="7096760" y="0"/>
                  </a:lnTo>
                  <a:cubicBezTo>
                    <a:pt x="7110730" y="0"/>
                    <a:pt x="7122160" y="11430"/>
                    <a:pt x="7122160" y="25400"/>
                  </a:cubicBezTo>
                  <a:lnTo>
                    <a:pt x="7122160" y="10510520"/>
                  </a:lnTo>
                  <a:cubicBezTo>
                    <a:pt x="7122160" y="10524489"/>
                    <a:pt x="7110730" y="10535920"/>
                    <a:pt x="709676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096760" y="10485120"/>
                  </a:lnTo>
                  <a:lnTo>
                    <a:pt x="7096760" y="10510520"/>
                  </a:lnTo>
                  <a:lnTo>
                    <a:pt x="7071360" y="10510520"/>
                  </a:lnTo>
                  <a:lnTo>
                    <a:pt x="7071360" y="25400"/>
                  </a:lnTo>
                  <a:lnTo>
                    <a:pt x="7096760" y="25400"/>
                  </a:lnTo>
                  <a:lnTo>
                    <a:pt x="7096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6698999" y="1998983"/>
            <a:ext cx="5328923" cy="848363"/>
            <a:chOff x="0" y="0"/>
            <a:chExt cx="7105231" cy="1131151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7105142" cy="1131064"/>
            </a:xfrm>
            <a:custGeom>
              <a:avLst/>
              <a:gdLst/>
              <a:ahLst/>
              <a:cxnLst/>
              <a:rect l="l" t="t" r="r" b="b"/>
              <a:pathLst>
                <a:path w="7105142" h="113106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114171"/>
                  </a:lnTo>
                  <a:cubicBezTo>
                    <a:pt x="7105142" y="1123569"/>
                    <a:pt x="7097522" y="1131062"/>
                    <a:pt x="70882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088251" y="1097280"/>
                  </a:lnTo>
                  <a:lnTo>
                    <a:pt x="7088251" y="1114171"/>
                  </a:lnTo>
                  <a:lnTo>
                    <a:pt x="7071360" y="1114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6711696" y="2011680"/>
            <a:ext cx="5303520" cy="822960"/>
            <a:chOff x="0" y="0"/>
            <a:chExt cx="7071360" cy="109728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Shifter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881879" y="3096263"/>
            <a:ext cx="4963163" cy="1525019"/>
            <a:chOff x="0" y="0"/>
            <a:chExt cx="6617551" cy="2033359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6986016" y="3145536"/>
            <a:ext cx="3657600" cy="512064"/>
            <a:chOff x="0" y="0"/>
            <a:chExt cx="4876800" cy="68275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ROR8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186416" y="3145536"/>
            <a:ext cx="1371600" cy="512064"/>
            <a:chOff x="0" y="0"/>
            <a:chExt cx="1828800" cy="68275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986016" y="3657600"/>
            <a:ext cx="4754880" cy="402336"/>
            <a:chOff x="0" y="0"/>
            <a:chExt cx="6339840" cy="53644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A=0xABCD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986016" y="4059936"/>
            <a:ext cx="4754880" cy="402336"/>
            <a:chOff x="0" y="0"/>
            <a:chExt cx="6339840" cy="53644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0xCDAB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881879" y="4742183"/>
            <a:ext cx="4963163" cy="1525019"/>
            <a:chOff x="0" y="0"/>
            <a:chExt cx="6617551" cy="2033359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6986016" y="4791456"/>
            <a:ext cx="3657600" cy="512064"/>
            <a:chOff x="0" y="0"/>
            <a:chExt cx="4876800" cy="68275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ROR4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186416" y="4791456"/>
            <a:ext cx="1371600" cy="512064"/>
            <a:chOff x="0" y="0"/>
            <a:chExt cx="1828800" cy="682752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986016" y="5303520"/>
            <a:ext cx="4754880" cy="402336"/>
            <a:chOff x="0" y="0"/>
            <a:chExt cx="6339840" cy="53644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A=0xABCD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986016" y="5705856"/>
            <a:ext cx="4754880" cy="402336"/>
            <a:chOff x="0" y="0"/>
            <a:chExt cx="6339840" cy="53644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0xDABC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881879" y="6388103"/>
            <a:ext cx="4963163" cy="1525019"/>
            <a:chOff x="0" y="0"/>
            <a:chExt cx="6617551" cy="2033359"/>
          </a:xfrm>
        </p:grpSpPr>
        <p:sp>
          <p:nvSpPr>
            <p:cNvPr id="117" name="Freeform 117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6986016" y="6437376"/>
            <a:ext cx="3657600" cy="512064"/>
            <a:chOff x="0" y="0"/>
            <a:chExt cx="4876800" cy="68275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SLL8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0186416" y="6437376"/>
            <a:ext cx="1371600" cy="512064"/>
            <a:chOff x="0" y="0"/>
            <a:chExt cx="1828800" cy="68275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986016" y="6949440"/>
            <a:ext cx="4754880" cy="402336"/>
            <a:chOff x="0" y="0"/>
            <a:chExt cx="6339840" cy="53644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A=0xABCD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986016" y="7351776"/>
            <a:ext cx="4754880" cy="402336"/>
            <a:chOff x="0" y="0"/>
            <a:chExt cx="6339840" cy="536448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0xCD00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6881879" y="8034023"/>
            <a:ext cx="4963163" cy="1525019"/>
            <a:chOff x="0" y="0"/>
            <a:chExt cx="6617551" cy="2033359"/>
          </a:xfrm>
        </p:grpSpPr>
        <p:sp>
          <p:nvSpPr>
            <p:cNvPr id="132" name="Freeform 132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33" name="Freeform 133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34" name="Group 134"/>
          <p:cNvGrpSpPr/>
          <p:nvPr/>
        </p:nvGrpSpPr>
        <p:grpSpPr>
          <a:xfrm>
            <a:off x="6986016" y="8083296"/>
            <a:ext cx="3657600" cy="512064"/>
            <a:chOff x="0" y="0"/>
            <a:chExt cx="4876800" cy="682752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Undef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186416" y="8083296"/>
            <a:ext cx="1371600" cy="512064"/>
            <a:chOff x="0" y="0"/>
            <a:chExt cx="1828800" cy="682752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986016" y="8595360"/>
            <a:ext cx="4754880" cy="402336"/>
            <a:chOff x="0" y="0"/>
            <a:chExt cx="6339840" cy="536448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ctrl=1111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6986016" y="8997696"/>
            <a:ext cx="4754880" cy="402336"/>
            <a:chOff x="0" y="0"/>
            <a:chExt cx="6339840" cy="536448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0x0000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2489942" y="1992630"/>
            <a:ext cx="5341620" cy="7901940"/>
            <a:chOff x="0" y="0"/>
            <a:chExt cx="7122160" cy="10535920"/>
          </a:xfrm>
        </p:grpSpPr>
        <p:sp>
          <p:nvSpPr>
            <p:cNvPr id="147" name="Freeform 147"/>
            <p:cNvSpPr/>
            <p:nvPr/>
          </p:nvSpPr>
          <p:spPr>
            <a:xfrm>
              <a:off x="25400" y="25400"/>
              <a:ext cx="7071360" cy="10485120"/>
            </a:xfrm>
            <a:custGeom>
              <a:avLst/>
              <a:gdLst/>
              <a:ahLst/>
              <a:cxnLst/>
              <a:rect l="l" t="t" r="r" b="b"/>
              <a:pathLst>
                <a:path w="7071360" h="10485120">
                  <a:moveTo>
                    <a:pt x="0" y="0"/>
                  </a:moveTo>
                  <a:lnTo>
                    <a:pt x="7071360" y="0"/>
                  </a:lnTo>
                  <a:lnTo>
                    <a:pt x="707136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48" name="Freeform 148"/>
            <p:cNvSpPr/>
            <p:nvPr/>
          </p:nvSpPr>
          <p:spPr>
            <a:xfrm>
              <a:off x="0" y="0"/>
              <a:ext cx="7122160" cy="10535920"/>
            </a:xfrm>
            <a:custGeom>
              <a:avLst/>
              <a:gdLst/>
              <a:ahLst/>
              <a:cxnLst/>
              <a:rect l="l" t="t" r="r" b="b"/>
              <a:pathLst>
                <a:path w="7122160" h="10535920">
                  <a:moveTo>
                    <a:pt x="25400" y="0"/>
                  </a:moveTo>
                  <a:lnTo>
                    <a:pt x="7096760" y="0"/>
                  </a:lnTo>
                  <a:cubicBezTo>
                    <a:pt x="7110730" y="0"/>
                    <a:pt x="7122160" y="11430"/>
                    <a:pt x="7122160" y="25400"/>
                  </a:cubicBezTo>
                  <a:lnTo>
                    <a:pt x="7122160" y="10510520"/>
                  </a:lnTo>
                  <a:cubicBezTo>
                    <a:pt x="7122160" y="10524489"/>
                    <a:pt x="7110730" y="10535920"/>
                    <a:pt x="709676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096760" y="10485120"/>
                  </a:lnTo>
                  <a:lnTo>
                    <a:pt x="7096760" y="10510520"/>
                  </a:lnTo>
                  <a:lnTo>
                    <a:pt x="7071360" y="10510520"/>
                  </a:lnTo>
                  <a:lnTo>
                    <a:pt x="7071360" y="25400"/>
                  </a:lnTo>
                  <a:lnTo>
                    <a:pt x="7096760" y="25400"/>
                  </a:lnTo>
                  <a:lnTo>
                    <a:pt x="7096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49" name="Group 149"/>
          <p:cNvGrpSpPr/>
          <p:nvPr/>
        </p:nvGrpSpPr>
        <p:grpSpPr>
          <a:xfrm>
            <a:off x="12496295" y="1998983"/>
            <a:ext cx="5328923" cy="848363"/>
            <a:chOff x="0" y="0"/>
            <a:chExt cx="7105231" cy="1131151"/>
          </a:xfrm>
        </p:grpSpPr>
        <p:sp>
          <p:nvSpPr>
            <p:cNvPr id="150" name="Freeform 150"/>
            <p:cNvSpPr/>
            <p:nvPr/>
          </p:nvSpPr>
          <p:spPr>
            <a:xfrm>
              <a:off x="16891" y="16891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51" name="Freeform 151"/>
            <p:cNvSpPr/>
            <p:nvPr/>
          </p:nvSpPr>
          <p:spPr>
            <a:xfrm>
              <a:off x="0" y="0"/>
              <a:ext cx="7105142" cy="1131064"/>
            </a:xfrm>
            <a:custGeom>
              <a:avLst/>
              <a:gdLst/>
              <a:ahLst/>
              <a:cxnLst/>
              <a:rect l="l" t="t" r="r" b="b"/>
              <a:pathLst>
                <a:path w="7105142" h="113106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114171"/>
                  </a:lnTo>
                  <a:cubicBezTo>
                    <a:pt x="7105142" y="1123569"/>
                    <a:pt x="7097522" y="1131062"/>
                    <a:pt x="70882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088251" y="1097280"/>
                  </a:lnTo>
                  <a:lnTo>
                    <a:pt x="7088251" y="1114171"/>
                  </a:lnTo>
                  <a:lnTo>
                    <a:pt x="7071360" y="1114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52" name="Group 152"/>
          <p:cNvGrpSpPr/>
          <p:nvPr/>
        </p:nvGrpSpPr>
        <p:grpSpPr>
          <a:xfrm>
            <a:off x="12508992" y="2011680"/>
            <a:ext cx="5303520" cy="822960"/>
            <a:chOff x="0" y="0"/>
            <a:chExt cx="7071360" cy="1097280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154" name="TextBox 154"/>
            <p:cNvSpPr txBox="1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LUT (S-Box)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2679175" y="3096263"/>
            <a:ext cx="4963163" cy="1525019"/>
            <a:chOff x="0" y="0"/>
            <a:chExt cx="6617551" cy="2033359"/>
          </a:xfrm>
        </p:grpSpPr>
        <p:sp>
          <p:nvSpPr>
            <p:cNvPr id="156" name="Freeform 156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57" name="Freeform 157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58" name="Group 158"/>
          <p:cNvGrpSpPr/>
          <p:nvPr/>
        </p:nvGrpSpPr>
        <p:grpSpPr>
          <a:xfrm>
            <a:off x="12783312" y="3145536"/>
            <a:ext cx="3657600" cy="512064"/>
            <a:chOff x="0" y="0"/>
            <a:chExt cx="4876800" cy="682752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60" name="TextBox 160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0x00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5983712" y="3145536"/>
            <a:ext cx="1371600" cy="512064"/>
            <a:chOff x="0" y="0"/>
            <a:chExt cx="1828800" cy="682752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63" name="TextBox 163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12783312" y="3657600"/>
            <a:ext cx="4754880" cy="402336"/>
            <a:chOff x="0" y="0"/>
            <a:chExt cx="6339840" cy="536448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66" name="TextBox 166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LutIn=0x00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12783312" y="4059936"/>
            <a:ext cx="4754880" cy="402336"/>
            <a:chOff x="0" y="0"/>
            <a:chExt cx="6339840" cy="536448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69" name="TextBox 169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0x1F</a:t>
              </a:r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12679175" y="4742183"/>
            <a:ext cx="4963163" cy="1525019"/>
            <a:chOff x="0" y="0"/>
            <a:chExt cx="6617551" cy="2033359"/>
          </a:xfrm>
        </p:grpSpPr>
        <p:sp>
          <p:nvSpPr>
            <p:cNvPr id="171" name="Freeform 171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72" name="Freeform 172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73" name="Group 173"/>
          <p:cNvGrpSpPr/>
          <p:nvPr/>
        </p:nvGrpSpPr>
        <p:grpSpPr>
          <a:xfrm>
            <a:off x="12783312" y="4791456"/>
            <a:ext cx="3657600" cy="512064"/>
            <a:chOff x="0" y="0"/>
            <a:chExt cx="4876800" cy="682752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75" name="TextBox 175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0x0FB</a:t>
              </a:r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15983712" y="4791456"/>
            <a:ext cx="1371600" cy="512064"/>
            <a:chOff x="0" y="0"/>
            <a:chExt cx="1828800" cy="682752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78" name="TextBox 178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12783312" y="5303520"/>
            <a:ext cx="4754880" cy="402336"/>
            <a:chOff x="0" y="0"/>
            <a:chExt cx="6339840" cy="536448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81" name="TextBox 181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LutIn=0x0B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12783312" y="5705856"/>
            <a:ext cx="4754880" cy="402336"/>
            <a:chOff x="0" y="0"/>
            <a:chExt cx="6339840" cy="536448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84" name="TextBox 184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0x11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12679175" y="6388103"/>
            <a:ext cx="4963163" cy="1525019"/>
            <a:chOff x="0" y="0"/>
            <a:chExt cx="6617551" cy="2033359"/>
          </a:xfrm>
        </p:grpSpPr>
        <p:sp>
          <p:nvSpPr>
            <p:cNvPr id="186" name="Freeform 186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87" name="Freeform 187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88" name="Group 188"/>
          <p:cNvGrpSpPr/>
          <p:nvPr/>
        </p:nvGrpSpPr>
        <p:grpSpPr>
          <a:xfrm>
            <a:off x="12783312" y="6437376"/>
            <a:ext cx="3657600" cy="512064"/>
            <a:chOff x="0" y="0"/>
            <a:chExt cx="4876800" cy="682752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90" name="TextBox 190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256 values</a:t>
              </a:r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15983712" y="6437376"/>
            <a:ext cx="1371600" cy="512064"/>
            <a:chOff x="0" y="0"/>
            <a:chExt cx="1828800" cy="682752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93" name="TextBox 193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94" name="Group 194"/>
          <p:cNvGrpSpPr/>
          <p:nvPr/>
        </p:nvGrpSpPr>
        <p:grpSpPr>
          <a:xfrm>
            <a:off x="12783312" y="6949440"/>
            <a:ext cx="4754880" cy="402336"/>
            <a:chOff x="0" y="0"/>
            <a:chExt cx="6339840" cy="536448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96" name="TextBox 196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Full sweep</a:t>
              </a:r>
            </a:p>
          </p:txBody>
        </p:sp>
      </p:grpSp>
      <p:grpSp>
        <p:nvGrpSpPr>
          <p:cNvPr id="197" name="Group 197"/>
          <p:cNvGrpSpPr/>
          <p:nvPr/>
        </p:nvGrpSpPr>
        <p:grpSpPr>
          <a:xfrm>
            <a:off x="12783312" y="7351776"/>
            <a:ext cx="4754880" cy="402336"/>
            <a:chOff x="0" y="0"/>
            <a:chExt cx="6339840" cy="536448"/>
          </a:xfrm>
        </p:grpSpPr>
        <p:sp>
          <p:nvSpPr>
            <p:cNvPr id="198" name="Freeform 198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99" name="TextBox 199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All match table</a:t>
              </a:r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12679175" y="8034023"/>
            <a:ext cx="4963163" cy="1525019"/>
            <a:chOff x="0" y="0"/>
            <a:chExt cx="6617551" cy="2033359"/>
          </a:xfrm>
        </p:grpSpPr>
        <p:sp>
          <p:nvSpPr>
            <p:cNvPr id="201" name="Freeform 201"/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202" name="Freeform 202"/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203" name="Group 203"/>
          <p:cNvGrpSpPr/>
          <p:nvPr/>
        </p:nvGrpSpPr>
        <p:grpSpPr>
          <a:xfrm>
            <a:off x="12783312" y="8083296"/>
            <a:ext cx="3657600" cy="512064"/>
            <a:chOff x="0" y="0"/>
            <a:chExt cx="4876800" cy="682752"/>
          </a:xfrm>
        </p:grpSpPr>
        <p:sp>
          <p:nvSpPr>
            <p:cNvPr id="204" name="Freeform 204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205" name="TextBox 205"/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Upper 8 bits</a:t>
              </a:r>
            </a:p>
          </p:txBody>
        </p:sp>
      </p:grpSp>
      <p:grpSp>
        <p:nvGrpSpPr>
          <p:cNvPr id="206" name="Group 206"/>
          <p:cNvGrpSpPr/>
          <p:nvPr/>
        </p:nvGrpSpPr>
        <p:grpSpPr>
          <a:xfrm>
            <a:off x="15983712" y="8083296"/>
            <a:ext cx="1371600" cy="512064"/>
            <a:chOff x="0" y="0"/>
            <a:chExt cx="1828800" cy="682752"/>
          </a:xfrm>
        </p:grpSpPr>
        <p:sp>
          <p:nvSpPr>
            <p:cNvPr id="207" name="Freeform 207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208" name="TextBox 208"/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12783312" y="8595360"/>
            <a:ext cx="4754880" cy="402336"/>
            <a:chOff x="0" y="0"/>
            <a:chExt cx="6339840" cy="536448"/>
          </a:xfrm>
        </p:grpSpPr>
        <p:sp>
          <p:nvSpPr>
            <p:cNvPr id="210" name="Freeform 210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211" name="TextBox 211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ABus=0xFF12</a:t>
              </a:r>
            </a:p>
          </p:txBody>
        </p:sp>
      </p:grpSp>
      <p:grpSp>
        <p:nvGrpSpPr>
          <p:cNvPr id="212" name="Group 212"/>
          <p:cNvGrpSpPr/>
          <p:nvPr/>
        </p:nvGrpSpPr>
        <p:grpSpPr>
          <a:xfrm>
            <a:off x="12783312" y="8997696"/>
            <a:ext cx="4754880" cy="402336"/>
            <a:chOff x="0" y="0"/>
            <a:chExt cx="6339840" cy="536448"/>
          </a:xfrm>
        </p:grpSpPr>
        <p:sp>
          <p:nvSpPr>
            <p:cNvPr id="213" name="Freeform 213"/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214" name="TextBox 214"/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Upper=0xFF pass-through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FA58C-3F94-364E-ABC9-30A62DDA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451C96-0095-F4BA-429D-029C46262E20}"/>
              </a:ext>
            </a:extLst>
          </p:cNvPr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56CB26-7AD6-40A8-280F-55DADD85B886}"/>
                </a:ext>
              </a:extLst>
            </p:cNvPr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633C740-B80C-BABB-1496-AB3170AEE1C4}"/>
                </a:ext>
              </a:extLst>
            </p:cNvPr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Level Results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9819745-A209-7019-51A6-399FC59A6316}"/>
              </a:ext>
            </a:extLst>
          </p:cNvPr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FDAA43-2808-A8BF-CE49-64A61FFA7C4F}"/>
                </a:ext>
              </a:extLst>
            </p:cNvPr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0E49785-2D9C-A426-BFC2-27C5823E5833}"/>
                </a:ext>
              </a:extLst>
            </p:cNvPr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46" name="Group 146">
            <a:extLst>
              <a:ext uri="{FF2B5EF4-FFF2-40B4-BE49-F238E27FC236}">
                <a16:creationId xmlns:a16="http://schemas.microsoft.com/office/drawing/2014/main" id="{9809F169-ED6C-311E-970F-B949044ECFEC}"/>
              </a:ext>
            </a:extLst>
          </p:cNvPr>
          <p:cNvGrpSpPr/>
          <p:nvPr/>
        </p:nvGrpSpPr>
        <p:grpSpPr>
          <a:xfrm>
            <a:off x="1295400" y="1992630"/>
            <a:ext cx="15709839" cy="3189922"/>
            <a:chOff x="0" y="0"/>
            <a:chExt cx="7122160" cy="10535920"/>
          </a:xfrm>
        </p:grpSpPr>
        <p:sp>
          <p:nvSpPr>
            <p:cNvPr id="147" name="Freeform 147">
              <a:extLst>
                <a:ext uri="{FF2B5EF4-FFF2-40B4-BE49-F238E27FC236}">
                  <a16:creationId xmlns:a16="http://schemas.microsoft.com/office/drawing/2014/main" id="{831F403D-9694-03E1-B11C-1B4B8E361902}"/>
                </a:ext>
              </a:extLst>
            </p:cNvPr>
            <p:cNvSpPr/>
            <p:nvPr/>
          </p:nvSpPr>
          <p:spPr>
            <a:xfrm>
              <a:off x="25400" y="25400"/>
              <a:ext cx="7071360" cy="10485120"/>
            </a:xfrm>
            <a:custGeom>
              <a:avLst/>
              <a:gdLst/>
              <a:ahLst/>
              <a:cxnLst/>
              <a:rect l="l" t="t" r="r" b="b"/>
              <a:pathLst>
                <a:path w="7071360" h="10485120">
                  <a:moveTo>
                    <a:pt x="0" y="0"/>
                  </a:moveTo>
                  <a:lnTo>
                    <a:pt x="7071360" y="0"/>
                  </a:lnTo>
                  <a:lnTo>
                    <a:pt x="707136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48" name="Freeform 148">
              <a:extLst>
                <a:ext uri="{FF2B5EF4-FFF2-40B4-BE49-F238E27FC236}">
                  <a16:creationId xmlns:a16="http://schemas.microsoft.com/office/drawing/2014/main" id="{73966A39-3727-4324-F4E5-302D9E33056E}"/>
                </a:ext>
              </a:extLst>
            </p:cNvPr>
            <p:cNvSpPr/>
            <p:nvPr/>
          </p:nvSpPr>
          <p:spPr>
            <a:xfrm>
              <a:off x="0" y="0"/>
              <a:ext cx="7122160" cy="10535920"/>
            </a:xfrm>
            <a:custGeom>
              <a:avLst/>
              <a:gdLst/>
              <a:ahLst/>
              <a:cxnLst/>
              <a:rect l="l" t="t" r="r" b="b"/>
              <a:pathLst>
                <a:path w="7122160" h="10535920">
                  <a:moveTo>
                    <a:pt x="25400" y="0"/>
                  </a:moveTo>
                  <a:lnTo>
                    <a:pt x="7096760" y="0"/>
                  </a:lnTo>
                  <a:cubicBezTo>
                    <a:pt x="7110730" y="0"/>
                    <a:pt x="7122160" y="11430"/>
                    <a:pt x="7122160" y="25400"/>
                  </a:cubicBezTo>
                  <a:lnTo>
                    <a:pt x="7122160" y="10510520"/>
                  </a:lnTo>
                  <a:cubicBezTo>
                    <a:pt x="7122160" y="10524489"/>
                    <a:pt x="7110730" y="10535920"/>
                    <a:pt x="709676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096760" y="10485120"/>
                  </a:lnTo>
                  <a:lnTo>
                    <a:pt x="7096760" y="10510520"/>
                  </a:lnTo>
                  <a:lnTo>
                    <a:pt x="7071360" y="10510520"/>
                  </a:lnTo>
                  <a:lnTo>
                    <a:pt x="7071360" y="25400"/>
                  </a:lnTo>
                  <a:lnTo>
                    <a:pt x="7096760" y="25400"/>
                  </a:lnTo>
                  <a:lnTo>
                    <a:pt x="7096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49" name="Group 149">
            <a:extLst>
              <a:ext uri="{FF2B5EF4-FFF2-40B4-BE49-F238E27FC236}">
                <a16:creationId xmlns:a16="http://schemas.microsoft.com/office/drawing/2014/main" id="{8641762F-84A6-D638-99E0-2E2A4816EB44}"/>
              </a:ext>
            </a:extLst>
          </p:cNvPr>
          <p:cNvGrpSpPr/>
          <p:nvPr/>
        </p:nvGrpSpPr>
        <p:grpSpPr>
          <a:xfrm>
            <a:off x="1364135" y="1998983"/>
            <a:ext cx="15585078" cy="848363"/>
            <a:chOff x="0" y="0"/>
            <a:chExt cx="7105231" cy="1131151"/>
          </a:xfrm>
        </p:grpSpPr>
        <p:sp>
          <p:nvSpPr>
            <p:cNvPr id="150" name="Freeform 150">
              <a:extLst>
                <a:ext uri="{FF2B5EF4-FFF2-40B4-BE49-F238E27FC236}">
                  <a16:creationId xmlns:a16="http://schemas.microsoft.com/office/drawing/2014/main" id="{3806B3C0-17D0-6DF5-DA00-DAA4866FF234}"/>
                </a:ext>
              </a:extLst>
            </p:cNvPr>
            <p:cNvSpPr/>
            <p:nvPr/>
          </p:nvSpPr>
          <p:spPr>
            <a:xfrm>
              <a:off x="16891" y="16891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151" name="Freeform 151">
              <a:extLst>
                <a:ext uri="{FF2B5EF4-FFF2-40B4-BE49-F238E27FC236}">
                  <a16:creationId xmlns:a16="http://schemas.microsoft.com/office/drawing/2014/main" id="{1B8627BB-BE60-6098-53C2-61FD2EAD18CC}"/>
                </a:ext>
              </a:extLst>
            </p:cNvPr>
            <p:cNvSpPr/>
            <p:nvPr/>
          </p:nvSpPr>
          <p:spPr>
            <a:xfrm>
              <a:off x="0" y="0"/>
              <a:ext cx="7105142" cy="1131064"/>
            </a:xfrm>
            <a:custGeom>
              <a:avLst/>
              <a:gdLst/>
              <a:ahLst/>
              <a:cxnLst/>
              <a:rect l="l" t="t" r="r" b="b"/>
              <a:pathLst>
                <a:path w="7105142" h="113106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114171"/>
                  </a:lnTo>
                  <a:cubicBezTo>
                    <a:pt x="7105142" y="1123569"/>
                    <a:pt x="7097522" y="1131062"/>
                    <a:pt x="70882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088251" y="1097280"/>
                  </a:lnTo>
                  <a:lnTo>
                    <a:pt x="7088251" y="1114171"/>
                  </a:lnTo>
                  <a:lnTo>
                    <a:pt x="7071360" y="1114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52" name="Group 152">
            <a:extLst>
              <a:ext uri="{FF2B5EF4-FFF2-40B4-BE49-F238E27FC236}">
                <a16:creationId xmlns:a16="http://schemas.microsoft.com/office/drawing/2014/main" id="{9F8BF60D-C7BC-7700-A069-33C1CE5A1D67}"/>
              </a:ext>
            </a:extLst>
          </p:cNvPr>
          <p:cNvGrpSpPr/>
          <p:nvPr/>
        </p:nvGrpSpPr>
        <p:grpSpPr>
          <a:xfrm>
            <a:off x="1351427" y="2011680"/>
            <a:ext cx="15597591" cy="822960"/>
            <a:chOff x="0" y="0"/>
            <a:chExt cx="7071360" cy="1097280"/>
          </a:xfrm>
        </p:grpSpPr>
        <p:sp>
          <p:nvSpPr>
            <p:cNvPr id="153" name="Freeform 153">
              <a:extLst>
                <a:ext uri="{FF2B5EF4-FFF2-40B4-BE49-F238E27FC236}">
                  <a16:creationId xmlns:a16="http://schemas.microsoft.com/office/drawing/2014/main" id="{BA59E899-6701-C0F7-7908-D6D074186BF6}"/>
                </a:ext>
              </a:extLst>
            </p:cNvPr>
            <p:cNvSpPr/>
            <p:nvPr/>
          </p:nvSpPr>
          <p:spPr>
            <a:xfrm>
              <a:off x="0" y="0"/>
              <a:ext cx="7071360" cy="1097280"/>
            </a:xfrm>
            <a:custGeom>
              <a:avLst/>
              <a:gdLst/>
              <a:ahLst/>
              <a:cxnLst/>
              <a:rect l="l" t="t" r="r" b="b"/>
              <a:pathLst>
                <a:path w="7071360" h="109728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154" name="TextBox 154">
              <a:extLst>
                <a:ext uri="{FF2B5EF4-FFF2-40B4-BE49-F238E27FC236}">
                  <a16:creationId xmlns:a16="http://schemas.microsoft.com/office/drawing/2014/main" id="{F4659A77-43B6-4789-DA54-878B4403BA11}"/>
                </a:ext>
              </a:extLst>
            </p:cNvPr>
            <p:cNvSpPr txBox="1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results</a:t>
              </a:r>
            </a:p>
          </p:txBody>
        </p:sp>
      </p:grpSp>
      <p:grpSp>
        <p:nvGrpSpPr>
          <p:cNvPr id="155" name="Group 155">
            <a:extLst>
              <a:ext uri="{FF2B5EF4-FFF2-40B4-BE49-F238E27FC236}">
                <a16:creationId xmlns:a16="http://schemas.microsoft.com/office/drawing/2014/main" id="{43D8500A-D7A5-44AF-9F24-C5D2B77B9063}"/>
              </a:ext>
            </a:extLst>
          </p:cNvPr>
          <p:cNvGrpSpPr/>
          <p:nvPr/>
        </p:nvGrpSpPr>
        <p:grpSpPr>
          <a:xfrm>
            <a:off x="11811000" y="3237481"/>
            <a:ext cx="4963163" cy="1525019"/>
            <a:chOff x="0" y="0"/>
            <a:chExt cx="6617551" cy="2033359"/>
          </a:xfrm>
        </p:grpSpPr>
        <p:sp>
          <p:nvSpPr>
            <p:cNvPr id="156" name="Freeform 156">
              <a:extLst>
                <a:ext uri="{FF2B5EF4-FFF2-40B4-BE49-F238E27FC236}">
                  <a16:creationId xmlns:a16="http://schemas.microsoft.com/office/drawing/2014/main" id="{78085331-48EE-98E2-1D1A-5AC40A22DAEC}"/>
                </a:ext>
              </a:extLst>
            </p:cNvPr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57" name="Freeform 157">
              <a:extLst>
                <a:ext uri="{FF2B5EF4-FFF2-40B4-BE49-F238E27FC236}">
                  <a16:creationId xmlns:a16="http://schemas.microsoft.com/office/drawing/2014/main" id="{81397FBD-C073-8E04-3007-E35E5289EFA1}"/>
                </a:ext>
              </a:extLst>
            </p:cNvPr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58" name="Group 158">
            <a:extLst>
              <a:ext uri="{FF2B5EF4-FFF2-40B4-BE49-F238E27FC236}">
                <a16:creationId xmlns:a16="http://schemas.microsoft.com/office/drawing/2014/main" id="{51D3EB2A-0680-612D-32D7-730FFA454447}"/>
              </a:ext>
            </a:extLst>
          </p:cNvPr>
          <p:cNvGrpSpPr/>
          <p:nvPr/>
        </p:nvGrpSpPr>
        <p:grpSpPr>
          <a:xfrm>
            <a:off x="11915137" y="3286754"/>
            <a:ext cx="3657600" cy="512064"/>
            <a:chOff x="0" y="0"/>
            <a:chExt cx="4876800" cy="682752"/>
          </a:xfrm>
        </p:grpSpPr>
        <p:sp>
          <p:nvSpPr>
            <p:cNvPr id="159" name="Freeform 159">
              <a:extLst>
                <a:ext uri="{FF2B5EF4-FFF2-40B4-BE49-F238E27FC236}">
                  <a16:creationId xmlns:a16="http://schemas.microsoft.com/office/drawing/2014/main" id="{44DC199B-9E0A-9401-8369-CC5E98630D45}"/>
                </a:ext>
              </a:extLst>
            </p:cNvPr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60" name="TextBox 160">
              <a:extLst>
                <a:ext uri="{FF2B5EF4-FFF2-40B4-BE49-F238E27FC236}">
                  <a16:creationId xmlns:a16="http://schemas.microsoft.com/office/drawing/2014/main" id="{5483E8EC-3517-7008-603C-2CC427C996BF}"/>
                </a:ext>
              </a:extLst>
            </p:cNvPr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 =&gt; B (LUT)</a:t>
              </a:r>
            </a:p>
          </p:txBody>
        </p:sp>
      </p:grpSp>
      <p:grpSp>
        <p:nvGrpSpPr>
          <p:cNvPr id="161" name="Group 161">
            <a:extLst>
              <a:ext uri="{FF2B5EF4-FFF2-40B4-BE49-F238E27FC236}">
                <a16:creationId xmlns:a16="http://schemas.microsoft.com/office/drawing/2014/main" id="{1EF8F0EE-2FA6-AF5E-F448-1125B0616FE0}"/>
              </a:ext>
            </a:extLst>
          </p:cNvPr>
          <p:cNvGrpSpPr/>
          <p:nvPr/>
        </p:nvGrpSpPr>
        <p:grpSpPr>
          <a:xfrm>
            <a:off x="15115537" y="3286754"/>
            <a:ext cx="1371600" cy="512064"/>
            <a:chOff x="0" y="0"/>
            <a:chExt cx="1828800" cy="682752"/>
          </a:xfrm>
        </p:grpSpPr>
        <p:sp>
          <p:nvSpPr>
            <p:cNvPr id="162" name="Freeform 162">
              <a:extLst>
                <a:ext uri="{FF2B5EF4-FFF2-40B4-BE49-F238E27FC236}">
                  <a16:creationId xmlns:a16="http://schemas.microsoft.com/office/drawing/2014/main" id="{1B196FC2-9CA0-AC91-CEEB-79F434A98D65}"/>
                </a:ext>
              </a:extLst>
            </p:cNvPr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63" name="TextBox 163">
              <a:extLst>
                <a:ext uri="{FF2B5EF4-FFF2-40B4-BE49-F238E27FC236}">
                  <a16:creationId xmlns:a16="http://schemas.microsoft.com/office/drawing/2014/main" id="{2B5A601A-E3DA-1D4E-DC8A-E9102F835C07}"/>
                </a:ext>
              </a:extLst>
            </p:cNvPr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64" name="Group 164">
            <a:extLst>
              <a:ext uri="{FF2B5EF4-FFF2-40B4-BE49-F238E27FC236}">
                <a16:creationId xmlns:a16="http://schemas.microsoft.com/office/drawing/2014/main" id="{53B08A9C-68C3-0DC9-A381-2439EE3461E6}"/>
              </a:ext>
            </a:extLst>
          </p:cNvPr>
          <p:cNvGrpSpPr/>
          <p:nvPr/>
        </p:nvGrpSpPr>
        <p:grpSpPr>
          <a:xfrm>
            <a:off x="11915137" y="3798818"/>
            <a:ext cx="4754880" cy="402336"/>
            <a:chOff x="0" y="0"/>
            <a:chExt cx="6339840" cy="536448"/>
          </a:xfrm>
        </p:grpSpPr>
        <p:sp>
          <p:nvSpPr>
            <p:cNvPr id="165" name="Freeform 165">
              <a:extLst>
                <a:ext uri="{FF2B5EF4-FFF2-40B4-BE49-F238E27FC236}">
                  <a16:creationId xmlns:a16="http://schemas.microsoft.com/office/drawing/2014/main" id="{DFCBF17A-1068-2E3B-90E9-27F8B4362FA1}"/>
                </a:ext>
              </a:extLst>
            </p:cNvPr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66" name="TextBox 166">
              <a:extLst>
                <a:ext uri="{FF2B5EF4-FFF2-40B4-BE49-F238E27FC236}">
                  <a16:creationId xmlns:a16="http://schemas.microsoft.com/office/drawing/2014/main" id="{E41691CB-2E69-1BE7-24B3-B7D5ADB1E6C3}"/>
                </a:ext>
              </a:extLst>
            </p:cNvPr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 err="1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LutIn</a:t>
              </a:r>
              <a:r>
                <a:rPr lang="en-US" sz="1900" dirty="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=0xEF</a:t>
              </a:r>
            </a:p>
          </p:txBody>
        </p:sp>
      </p:grpSp>
      <p:grpSp>
        <p:nvGrpSpPr>
          <p:cNvPr id="167" name="Group 167">
            <a:extLst>
              <a:ext uri="{FF2B5EF4-FFF2-40B4-BE49-F238E27FC236}">
                <a16:creationId xmlns:a16="http://schemas.microsoft.com/office/drawing/2014/main" id="{B7942FF6-CB28-7C6E-E7F9-C0919AFE120C}"/>
              </a:ext>
            </a:extLst>
          </p:cNvPr>
          <p:cNvGrpSpPr/>
          <p:nvPr/>
        </p:nvGrpSpPr>
        <p:grpSpPr>
          <a:xfrm>
            <a:off x="11915137" y="4201154"/>
            <a:ext cx="4754880" cy="402336"/>
            <a:chOff x="0" y="0"/>
            <a:chExt cx="6339840" cy="536448"/>
          </a:xfrm>
        </p:grpSpPr>
        <p:sp>
          <p:nvSpPr>
            <p:cNvPr id="168" name="Freeform 168">
              <a:extLst>
                <a:ext uri="{FF2B5EF4-FFF2-40B4-BE49-F238E27FC236}">
                  <a16:creationId xmlns:a16="http://schemas.microsoft.com/office/drawing/2014/main" id="{47EDAB4B-48B7-5098-E339-9AA563AD38F3}"/>
                </a:ext>
              </a:extLst>
            </p:cNvPr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69" name="TextBox 169">
              <a:extLst>
                <a:ext uri="{FF2B5EF4-FFF2-40B4-BE49-F238E27FC236}">
                  <a16:creationId xmlns:a16="http://schemas.microsoft.com/office/drawing/2014/main" id="{AA974BFE-5304-DC60-C02E-7EE9D92555F3}"/>
                </a:ext>
              </a:extLst>
            </p:cNvPr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0x0F56</a:t>
              </a:r>
            </a:p>
          </p:txBody>
        </p:sp>
      </p:grpSp>
      <p:grpSp>
        <p:nvGrpSpPr>
          <p:cNvPr id="170" name="Group 170">
            <a:extLst>
              <a:ext uri="{FF2B5EF4-FFF2-40B4-BE49-F238E27FC236}">
                <a16:creationId xmlns:a16="http://schemas.microsoft.com/office/drawing/2014/main" id="{18CC173D-9225-062F-DC7E-FDFCC2444B46}"/>
              </a:ext>
            </a:extLst>
          </p:cNvPr>
          <p:cNvGrpSpPr/>
          <p:nvPr/>
        </p:nvGrpSpPr>
        <p:grpSpPr>
          <a:xfrm>
            <a:off x="1676400" y="3238500"/>
            <a:ext cx="4963163" cy="1525019"/>
            <a:chOff x="0" y="0"/>
            <a:chExt cx="6617551" cy="2033359"/>
          </a:xfrm>
        </p:grpSpPr>
        <p:sp>
          <p:nvSpPr>
            <p:cNvPr id="171" name="Freeform 171">
              <a:extLst>
                <a:ext uri="{FF2B5EF4-FFF2-40B4-BE49-F238E27FC236}">
                  <a16:creationId xmlns:a16="http://schemas.microsoft.com/office/drawing/2014/main" id="{8BB5FC7D-1F92-4239-6D22-7E9412E0CB02}"/>
                </a:ext>
              </a:extLst>
            </p:cNvPr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72" name="Freeform 172">
              <a:extLst>
                <a:ext uri="{FF2B5EF4-FFF2-40B4-BE49-F238E27FC236}">
                  <a16:creationId xmlns:a16="http://schemas.microsoft.com/office/drawing/2014/main" id="{2D8881B4-50D0-1855-D039-BFE4D33AA130}"/>
                </a:ext>
              </a:extLst>
            </p:cNvPr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173" name="Group 173">
            <a:extLst>
              <a:ext uri="{FF2B5EF4-FFF2-40B4-BE49-F238E27FC236}">
                <a16:creationId xmlns:a16="http://schemas.microsoft.com/office/drawing/2014/main" id="{C4E39E39-FF42-E1AA-4005-05B2BC922F06}"/>
              </a:ext>
            </a:extLst>
          </p:cNvPr>
          <p:cNvGrpSpPr/>
          <p:nvPr/>
        </p:nvGrpSpPr>
        <p:grpSpPr>
          <a:xfrm>
            <a:off x="1780537" y="3287773"/>
            <a:ext cx="3657600" cy="512064"/>
            <a:chOff x="0" y="0"/>
            <a:chExt cx="4876800" cy="682752"/>
          </a:xfrm>
        </p:grpSpPr>
        <p:sp>
          <p:nvSpPr>
            <p:cNvPr id="174" name="Freeform 174">
              <a:extLst>
                <a:ext uri="{FF2B5EF4-FFF2-40B4-BE49-F238E27FC236}">
                  <a16:creationId xmlns:a16="http://schemas.microsoft.com/office/drawing/2014/main" id="{2ADD1CF2-DB60-1E11-5CA2-B7906874BF7A}"/>
                </a:ext>
              </a:extLst>
            </p:cNvPr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175" name="TextBox 175">
              <a:extLst>
                <a:ext uri="{FF2B5EF4-FFF2-40B4-BE49-F238E27FC236}">
                  <a16:creationId xmlns:a16="http://schemas.microsoft.com/office/drawing/2014/main" id="{58A36121-74EC-9177-8C46-B9ED2C22EE01}"/>
                </a:ext>
              </a:extLst>
            </p:cNvPr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 =&gt; A (SLL8)</a:t>
              </a:r>
            </a:p>
          </p:txBody>
        </p:sp>
      </p:grpSp>
      <p:grpSp>
        <p:nvGrpSpPr>
          <p:cNvPr id="176" name="Group 176">
            <a:extLst>
              <a:ext uri="{FF2B5EF4-FFF2-40B4-BE49-F238E27FC236}">
                <a16:creationId xmlns:a16="http://schemas.microsoft.com/office/drawing/2014/main" id="{569F199D-2332-5497-E2E8-E9A069A21D9D}"/>
              </a:ext>
            </a:extLst>
          </p:cNvPr>
          <p:cNvGrpSpPr/>
          <p:nvPr/>
        </p:nvGrpSpPr>
        <p:grpSpPr>
          <a:xfrm>
            <a:off x="4980937" y="3287773"/>
            <a:ext cx="1371600" cy="512064"/>
            <a:chOff x="0" y="0"/>
            <a:chExt cx="1828800" cy="682752"/>
          </a:xfrm>
        </p:grpSpPr>
        <p:sp>
          <p:nvSpPr>
            <p:cNvPr id="177" name="Freeform 177">
              <a:extLst>
                <a:ext uri="{FF2B5EF4-FFF2-40B4-BE49-F238E27FC236}">
                  <a16:creationId xmlns:a16="http://schemas.microsoft.com/office/drawing/2014/main" id="{63E4E4D2-31C8-A011-B92C-B70092EB3D5B}"/>
                </a:ext>
              </a:extLst>
            </p:cNvPr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178" name="TextBox 178">
              <a:extLst>
                <a:ext uri="{FF2B5EF4-FFF2-40B4-BE49-F238E27FC236}">
                  <a16:creationId xmlns:a16="http://schemas.microsoft.com/office/drawing/2014/main" id="{CBB986ED-EAEA-03B6-9841-D07579B748EF}"/>
                </a:ext>
              </a:extLst>
            </p:cNvPr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179" name="Group 179">
            <a:extLst>
              <a:ext uri="{FF2B5EF4-FFF2-40B4-BE49-F238E27FC236}">
                <a16:creationId xmlns:a16="http://schemas.microsoft.com/office/drawing/2014/main" id="{FB04F6E6-E457-8E8E-1EEC-39902A2BEEB6}"/>
              </a:ext>
            </a:extLst>
          </p:cNvPr>
          <p:cNvGrpSpPr/>
          <p:nvPr/>
        </p:nvGrpSpPr>
        <p:grpSpPr>
          <a:xfrm>
            <a:off x="1780537" y="3799837"/>
            <a:ext cx="4754880" cy="402336"/>
            <a:chOff x="0" y="0"/>
            <a:chExt cx="6339840" cy="536448"/>
          </a:xfrm>
        </p:grpSpPr>
        <p:sp>
          <p:nvSpPr>
            <p:cNvPr id="180" name="Freeform 180">
              <a:extLst>
                <a:ext uri="{FF2B5EF4-FFF2-40B4-BE49-F238E27FC236}">
                  <a16:creationId xmlns:a16="http://schemas.microsoft.com/office/drawing/2014/main" id="{7B5CEF7B-4846-8BCB-B543-48075B7F89F3}"/>
                </a:ext>
              </a:extLst>
            </p:cNvPr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81" name="TextBox 181">
              <a:extLst>
                <a:ext uri="{FF2B5EF4-FFF2-40B4-BE49-F238E27FC236}">
                  <a16:creationId xmlns:a16="http://schemas.microsoft.com/office/drawing/2014/main" id="{55146CC8-88B6-92EC-D180-88DBEDC5EA5D}"/>
                </a:ext>
              </a:extLst>
            </p:cNvPr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Shifter=</a:t>
              </a:r>
              <a:r>
                <a:rPr lang="en-US" sz="1900" dirty="0" err="1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Shiftin</a:t>
              </a:r>
              <a:r>
                <a:rPr lang="en-US" sz="1900" dirty="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(7 </a:t>
              </a:r>
              <a:r>
                <a:rPr lang="en-US" sz="1900" dirty="0" err="1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downto</a:t>
              </a:r>
              <a:r>
                <a:rPr lang="en-US" sz="1900" dirty="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 0) &amp; x“00"</a:t>
              </a:r>
            </a:p>
          </p:txBody>
        </p:sp>
      </p:grpSp>
      <p:grpSp>
        <p:nvGrpSpPr>
          <p:cNvPr id="182" name="Group 182">
            <a:extLst>
              <a:ext uri="{FF2B5EF4-FFF2-40B4-BE49-F238E27FC236}">
                <a16:creationId xmlns:a16="http://schemas.microsoft.com/office/drawing/2014/main" id="{9D811526-B13D-0C84-3B0D-E2F8152D48B1}"/>
              </a:ext>
            </a:extLst>
          </p:cNvPr>
          <p:cNvGrpSpPr/>
          <p:nvPr/>
        </p:nvGrpSpPr>
        <p:grpSpPr>
          <a:xfrm>
            <a:off x="1780537" y="4202173"/>
            <a:ext cx="4754880" cy="402336"/>
            <a:chOff x="0" y="0"/>
            <a:chExt cx="6339840" cy="536448"/>
          </a:xfrm>
        </p:grpSpPr>
        <p:sp>
          <p:nvSpPr>
            <p:cNvPr id="183" name="Freeform 183">
              <a:extLst>
                <a:ext uri="{FF2B5EF4-FFF2-40B4-BE49-F238E27FC236}">
                  <a16:creationId xmlns:a16="http://schemas.microsoft.com/office/drawing/2014/main" id="{5A584DF6-D67A-7124-88BD-9901BD0BC24B}"/>
                </a:ext>
              </a:extLst>
            </p:cNvPr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184" name="TextBox 184">
              <a:extLst>
                <a:ext uri="{FF2B5EF4-FFF2-40B4-BE49-F238E27FC236}">
                  <a16:creationId xmlns:a16="http://schemas.microsoft.com/office/drawing/2014/main" id="{63419046-EF6F-E70D-27C3-929528978C5F}"/>
                </a:ext>
              </a:extLst>
            </p:cNvPr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0xFF00</a:t>
              </a:r>
            </a:p>
          </p:txBody>
        </p:sp>
      </p:grpSp>
      <p:pic>
        <p:nvPicPr>
          <p:cNvPr id="218" name="Picture 217">
            <a:extLst>
              <a:ext uri="{FF2B5EF4-FFF2-40B4-BE49-F238E27FC236}">
                <a16:creationId xmlns:a16="http://schemas.microsoft.com/office/drawing/2014/main" id="{9908ACF3-6A78-F227-EDFF-AD675A534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5702646"/>
            <a:ext cx="15709839" cy="3925424"/>
          </a:xfrm>
          <a:prstGeom prst="rect">
            <a:avLst/>
          </a:prstGeom>
        </p:spPr>
      </p:pic>
      <p:grpSp>
        <p:nvGrpSpPr>
          <p:cNvPr id="219" name="Group 170">
            <a:extLst>
              <a:ext uri="{FF2B5EF4-FFF2-40B4-BE49-F238E27FC236}">
                <a16:creationId xmlns:a16="http://schemas.microsoft.com/office/drawing/2014/main" id="{B800A028-6A2F-168F-0E22-98AD25E52222}"/>
              </a:ext>
            </a:extLst>
          </p:cNvPr>
          <p:cNvGrpSpPr/>
          <p:nvPr/>
        </p:nvGrpSpPr>
        <p:grpSpPr>
          <a:xfrm>
            <a:off x="6771637" y="3237481"/>
            <a:ext cx="4963163" cy="1525019"/>
            <a:chOff x="0" y="0"/>
            <a:chExt cx="6617551" cy="2033359"/>
          </a:xfrm>
        </p:grpSpPr>
        <p:sp>
          <p:nvSpPr>
            <p:cNvPr id="220" name="Freeform 171">
              <a:extLst>
                <a:ext uri="{FF2B5EF4-FFF2-40B4-BE49-F238E27FC236}">
                  <a16:creationId xmlns:a16="http://schemas.microsoft.com/office/drawing/2014/main" id="{3CDD0BC9-ADE5-558B-2FD3-5BD6036042A6}"/>
                </a:ext>
              </a:extLst>
            </p:cNvPr>
            <p:cNvSpPr/>
            <p:nvPr/>
          </p:nvSpPr>
          <p:spPr>
            <a:xfrm>
              <a:off x="16891" y="16891"/>
              <a:ext cx="6583681" cy="1999488"/>
            </a:xfrm>
            <a:custGeom>
              <a:avLst/>
              <a:gdLst/>
              <a:ahLst/>
              <a:cxnLst/>
              <a:rect l="l" t="t" r="r" b="b"/>
              <a:pathLst>
                <a:path w="6583681" h="1999488">
                  <a:moveTo>
                    <a:pt x="0" y="0"/>
                  </a:moveTo>
                  <a:lnTo>
                    <a:pt x="6583681" y="0"/>
                  </a:lnTo>
                  <a:lnTo>
                    <a:pt x="65836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221" name="Freeform 172">
              <a:extLst>
                <a:ext uri="{FF2B5EF4-FFF2-40B4-BE49-F238E27FC236}">
                  <a16:creationId xmlns:a16="http://schemas.microsoft.com/office/drawing/2014/main" id="{754F0C31-E156-2A3B-0E3E-9247B98E7FBB}"/>
                </a:ext>
              </a:extLst>
            </p:cNvPr>
            <p:cNvSpPr/>
            <p:nvPr/>
          </p:nvSpPr>
          <p:spPr>
            <a:xfrm>
              <a:off x="0" y="0"/>
              <a:ext cx="6617462" cy="2033270"/>
            </a:xfrm>
            <a:custGeom>
              <a:avLst/>
              <a:gdLst/>
              <a:ahLst/>
              <a:cxnLst/>
              <a:rect l="l" t="t" r="r" b="b"/>
              <a:pathLst>
                <a:path w="6617462" h="2033270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2016379"/>
                  </a:lnTo>
                  <a:cubicBezTo>
                    <a:pt x="6617462" y="2025777"/>
                    <a:pt x="6609842" y="2033270"/>
                    <a:pt x="6600572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6600572" y="1999488"/>
                  </a:lnTo>
                  <a:lnTo>
                    <a:pt x="6600572" y="2016379"/>
                  </a:lnTo>
                  <a:lnTo>
                    <a:pt x="6583680" y="2016379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222" name="Group 173">
            <a:extLst>
              <a:ext uri="{FF2B5EF4-FFF2-40B4-BE49-F238E27FC236}">
                <a16:creationId xmlns:a16="http://schemas.microsoft.com/office/drawing/2014/main" id="{98C34F2B-5A7E-2BE2-8BCA-1E38457CD082}"/>
              </a:ext>
            </a:extLst>
          </p:cNvPr>
          <p:cNvGrpSpPr/>
          <p:nvPr/>
        </p:nvGrpSpPr>
        <p:grpSpPr>
          <a:xfrm>
            <a:off x="6875774" y="3286754"/>
            <a:ext cx="3657600" cy="512064"/>
            <a:chOff x="0" y="0"/>
            <a:chExt cx="4876800" cy="682752"/>
          </a:xfrm>
        </p:grpSpPr>
        <p:sp>
          <p:nvSpPr>
            <p:cNvPr id="223" name="Freeform 174">
              <a:extLst>
                <a:ext uri="{FF2B5EF4-FFF2-40B4-BE49-F238E27FC236}">
                  <a16:creationId xmlns:a16="http://schemas.microsoft.com/office/drawing/2014/main" id="{5AA2BF44-AC84-78C5-FFD7-A59C54327573}"/>
                </a:ext>
              </a:extLst>
            </p:cNvPr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224" name="TextBox 175">
              <a:extLst>
                <a:ext uri="{FF2B5EF4-FFF2-40B4-BE49-F238E27FC236}">
                  <a16:creationId xmlns:a16="http://schemas.microsoft.com/office/drawing/2014/main" id="{83021ED8-7200-4DB2-85E9-C92FEB516D94}"/>
                </a:ext>
              </a:extLst>
            </p:cNvPr>
            <p:cNvSpPr txBox="1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CTRL =&gt; 0 (ALU addition)</a:t>
              </a:r>
            </a:p>
          </p:txBody>
        </p:sp>
      </p:grpSp>
      <p:grpSp>
        <p:nvGrpSpPr>
          <p:cNvPr id="225" name="Group 176">
            <a:extLst>
              <a:ext uri="{FF2B5EF4-FFF2-40B4-BE49-F238E27FC236}">
                <a16:creationId xmlns:a16="http://schemas.microsoft.com/office/drawing/2014/main" id="{9E147735-E800-2793-35BC-5DCF832B82C3}"/>
              </a:ext>
            </a:extLst>
          </p:cNvPr>
          <p:cNvGrpSpPr/>
          <p:nvPr/>
        </p:nvGrpSpPr>
        <p:grpSpPr>
          <a:xfrm>
            <a:off x="10076174" y="3286754"/>
            <a:ext cx="1371600" cy="512064"/>
            <a:chOff x="0" y="0"/>
            <a:chExt cx="1828800" cy="682752"/>
          </a:xfrm>
        </p:grpSpPr>
        <p:sp>
          <p:nvSpPr>
            <p:cNvPr id="226" name="Freeform 177">
              <a:extLst>
                <a:ext uri="{FF2B5EF4-FFF2-40B4-BE49-F238E27FC236}">
                  <a16:creationId xmlns:a16="http://schemas.microsoft.com/office/drawing/2014/main" id="{B3FD2EFF-A008-2396-847C-CFC99E6D6CD0}"/>
                </a:ext>
              </a:extLst>
            </p:cNvPr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2" b="-2192"/>
              </a:stretch>
            </a:blipFill>
          </p:spPr>
        </p:sp>
        <p:sp>
          <p:nvSpPr>
            <p:cNvPr id="227" name="TextBox 178">
              <a:extLst>
                <a:ext uri="{FF2B5EF4-FFF2-40B4-BE49-F238E27FC236}">
                  <a16:creationId xmlns:a16="http://schemas.microsoft.com/office/drawing/2014/main" id="{303985CF-7020-3DB8-28BC-386C0A3CF085}"/>
                </a:ext>
              </a:extLst>
            </p:cNvPr>
            <p:cNvSpPr txBox="1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PASS</a:t>
              </a:r>
            </a:p>
          </p:txBody>
        </p:sp>
      </p:grpSp>
      <p:grpSp>
        <p:nvGrpSpPr>
          <p:cNvPr id="228" name="Group 179">
            <a:extLst>
              <a:ext uri="{FF2B5EF4-FFF2-40B4-BE49-F238E27FC236}">
                <a16:creationId xmlns:a16="http://schemas.microsoft.com/office/drawing/2014/main" id="{88EC70FC-4068-4BC2-4B9D-33B8408C8114}"/>
              </a:ext>
            </a:extLst>
          </p:cNvPr>
          <p:cNvGrpSpPr/>
          <p:nvPr/>
        </p:nvGrpSpPr>
        <p:grpSpPr>
          <a:xfrm>
            <a:off x="6875774" y="3798818"/>
            <a:ext cx="4754880" cy="402336"/>
            <a:chOff x="0" y="0"/>
            <a:chExt cx="6339840" cy="536448"/>
          </a:xfrm>
        </p:grpSpPr>
        <p:sp>
          <p:nvSpPr>
            <p:cNvPr id="229" name="Freeform 180">
              <a:extLst>
                <a:ext uri="{FF2B5EF4-FFF2-40B4-BE49-F238E27FC236}">
                  <a16:creationId xmlns:a16="http://schemas.microsoft.com/office/drawing/2014/main" id="{AE35CAF1-A6D1-C707-5A39-FCAF671F2B58}"/>
                </a:ext>
              </a:extLst>
            </p:cNvPr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230" name="TextBox 181">
              <a:extLst>
                <a:ext uri="{FF2B5EF4-FFF2-40B4-BE49-F238E27FC236}">
                  <a16:creationId xmlns:a16="http://schemas.microsoft.com/office/drawing/2014/main" id="{5DF987FC-49D0-6550-9D0D-752782A405C8}"/>
                </a:ext>
              </a:extLst>
            </p:cNvPr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8FA8B8"/>
                  </a:solidFill>
                  <a:latin typeface="Consolas"/>
                  <a:ea typeface="Consolas"/>
                  <a:cs typeface="Consolas"/>
                  <a:sym typeface="Consolas"/>
                </a:rPr>
                <a:t>ABUS + BBUS</a:t>
              </a:r>
            </a:p>
          </p:txBody>
        </p:sp>
      </p:grpSp>
      <p:grpSp>
        <p:nvGrpSpPr>
          <p:cNvPr id="231" name="Group 182">
            <a:extLst>
              <a:ext uri="{FF2B5EF4-FFF2-40B4-BE49-F238E27FC236}">
                <a16:creationId xmlns:a16="http://schemas.microsoft.com/office/drawing/2014/main" id="{2B3FF427-2911-B211-4371-DAD8D5C3E1C1}"/>
              </a:ext>
            </a:extLst>
          </p:cNvPr>
          <p:cNvGrpSpPr/>
          <p:nvPr/>
        </p:nvGrpSpPr>
        <p:grpSpPr>
          <a:xfrm>
            <a:off x="6875774" y="4201154"/>
            <a:ext cx="4754880" cy="402336"/>
            <a:chOff x="0" y="0"/>
            <a:chExt cx="6339840" cy="536448"/>
          </a:xfrm>
        </p:grpSpPr>
        <p:sp>
          <p:nvSpPr>
            <p:cNvPr id="232" name="Freeform 183">
              <a:extLst>
                <a:ext uri="{FF2B5EF4-FFF2-40B4-BE49-F238E27FC236}">
                  <a16:creationId xmlns:a16="http://schemas.microsoft.com/office/drawing/2014/main" id="{995BC9FE-370A-733B-8029-B93895FAAE54}"/>
                </a:ext>
              </a:extLst>
            </p:cNvPr>
            <p:cNvSpPr/>
            <p:nvPr/>
          </p:nvSpPr>
          <p:spPr>
            <a:xfrm>
              <a:off x="0" y="0"/>
              <a:ext cx="6339840" cy="536448"/>
            </a:xfrm>
            <a:custGeom>
              <a:avLst/>
              <a:gdLst/>
              <a:ahLst/>
              <a:cxnLst/>
              <a:rect l="l" t="t" r="r" b="b"/>
              <a:pathLst>
                <a:path w="6339840" h="536448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277" b="-180277"/>
              </a:stretch>
            </a:blipFill>
          </p:spPr>
        </p:sp>
        <p:sp>
          <p:nvSpPr>
            <p:cNvPr id="233" name="TextBox 184">
              <a:extLst>
                <a:ext uri="{FF2B5EF4-FFF2-40B4-BE49-F238E27FC236}">
                  <a16:creationId xmlns:a16="http://schemas.microsoft.com/office/drawing/2014/main" id="{03D37A72-DFA0-0515-6EAF-0BAE8E144AD7}"/>
                </a:ext>
              </a:extLst>
            </p:cNvPr>
            <p:cNvSpPr txBox="1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→ 0x0FEF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4181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Strengths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95350" y="2084070"/>
            <a:ext cx="8084820" cy="2269236"/>
            <a:chOff x="0" y="0"/>
            <a:chExt cx="10779760" cy="3025648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728960" cy="2974848"/>
            </a:xfrm>
            <a:custGeom>
              <a:avLst/>
              <a:gdLst/>
              <a:ahLst/>
              <a:cxnLst/>
              <a:rect l="l" t="t" r="r" b="b"/>
              <a:pathLst>
                <a:path w="10728960" h="2974848">
                  <a:moveTo>
                    <a:pt x="0" y="0"/>
                  </a:moveTo>
                  <a:lnTo>
                    <a:pt x="10728960" y="0"/>
                  </a:lnTo>
                  <a:lnTo>
                    <a:pt x="107289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779760" cy="3025648"/>
            </a:xfrm>
            <a:custGeom>
              <a:avLst/>
              <a:gdLst/>
              <a:ahLst/>
              <a:cxnLst/>
              <a:rect l="l" t="t" r="r" b="b"/>
              <a:pathLst>
                <a:path w="10779760" h="3025648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3000248"/>
                  </a:lnTo>
                  <a:cubicBezTo>
                    <a:pt x="10779760" y="3014218"/>
                    <a:pt x="10768330" y="3025648"/>
                    <a:pt x="10754360" y="3025648"/>
                  </a:cubicBezTo>
                  <a:lnTo>
                    <a:pt x="25400" y="3025648"/>
                  </a:lnTo>
                  <a:cubicBezTo>
                    <a:pt x="11430" y="3025648"/>
                    <a:pt x="0" y="3014218"/>
                    <a:pt x="0" y="30002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000248"/>
                  </a:lnTo>
                  <a:lnTo>
                    <a:pt x="25400" y="3000248"/>
                  </a:lnTo>
                  <a:lnTo>
                    <a:pt x="25400" y="2974848"/>
                  </a:lnTo>
                  <a:lnTo>
                    <a:pt x="10754360" y="2974848"/>
                  </a:lnTo>
                  <a:lnTo>
                    <a:pt x="10754360" y="3000248"/>
                  </a:lnTo>
                  <a:lnTo>
                    <a:pt x="10728960" y="3000248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2286000"/>
            <a:ext cx="1280160" cy="1828800"/>
            <a:chOff x="0" y="0"/>
            <a:chExt cx="1706880" cy="2438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6880" cy="2438400"/>
            </a:xfrm>
            <a:custGeom>
              <a:avLst/>
              <a:gdLst/>
              <a:ahLst/>
              <a:cxnLst/>
              <a:rect l="l" t="t" r="r" b="b"/>
              <a:pathLst>
                <a:path w="1706880" h="2438400">
                  <a:moveTo>
                    <a:pt x="0" y="0"/>
                  </a:moveTo>
                  <a:lnTo>
                    <a:pt x="1706880" y="0"/>
                  </a:lnTo>
                  <a:lnTo>
                    <a:pt x="17068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1706880" cy="255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C6D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68880" y="2249424"/>
            <a:ext cx="6309360" cy="694944"/>
            <a:chOff x="0" y="0"/>
            <a:chExt cx="8412480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4124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Highly Modular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68880" y="2980944"/>
            <a:ext cx="6309360" cy="1207008"/>
            <a:chOff x="0" y="0"/>
            <a:chExt cx="8412480" cy="1609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12480" cy="1609344"/>
            </a:xfrm>
            <a:custGeom>
              <a:avLst/>
              <a:gdLst/>
              <a:ahLst/>
              <a:cxnLst/>
              <a:rect l="l" t="t" r="r" b="b"/>
              <a:pathLst>
                <a:path w="8412480" h="1609344">
                  <a:moveTo>
                    <a:pt x="0" y="0"/>
                  </a:moveTo>
                  <a:lnTo>
                    <a:pt x="8412480" y="0"/>
                  </a:lnTo>
                  <a:lnTo>
                    <a:pt x="84124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853" b="-5185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41248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block independently instantiable and testable. Swap or upgrade any unit without touching others.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07830" y="2084070"/>
            <a:ext cx="8084820" cy="2269236"/>
            <a:chOff x="0" y="0"/>
            <a:chExt cx="10779760" cy="3025648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10728960" cy="2974848"/>
            </a:xfrm>
            <a:custGeom>
              <a:avLst/>
              <a:gdLst/>
              <a:ahLst/>
              <a:cxnLst/>
              <a:rect l="l" t="t" r="r" b="b"/>
              <a:pathLst>
                <a:path w="10728960" h="2974848">
                  <a:moveTo>
                    <a:pt x="0" y="0"/>
                  </a:moveTo>
                  <a:lnTo>
                    <a:pt x="10728960" y="0"/>
                  </a:lnTo>
                  <a:lnTo>
                    <a:pt x="107289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0779760" cy="3025648"/>
            </a:xfrm>
            <a:custGeom>
              <a:avLst/>
              <a:gdLst/>
              <a:ahLst/>
              <a:cxnLst/>
              <a:rect l="l" t="t" r="r" b="b"/>
              <a:pathLst>
                <a:path w="10779760" h="3025648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3000248"/>
                  </a:lnTo>
                  <a:cubicBezTo>
                    <a:pt x="10779760" y="3014218"/>
                    <a:pt x="10768330" y="3025648"/>
                    <a:pt x="10754360" y="3025648"/>
                  </a:cubicBezTo>
                  <a:lnTo>
                    <a:pt x="25400" y="3025648"/>
                  </a:lnTo>
                  <a:cubicBezTo>
                    <a:pt x="11430" y="3025648"/>
                    <a:pt x="0" y="3014218"/>
                    <a:pt x="0" y="30002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000248"/>
                  </a:lnTo>
                  <a:lnTo>
                    <a:pt x="25400" y="3000248"/>
                  </a:lnTo>
                  <a:lnTo>
                    <a:pt x="25400" y="2974848"/>
                  </a:lnTo>
                  <a:lnTo>
                    <a:pt x="10754360" y="2974848"/>
                  </a:lnTo>
                  <a:lnTo>
                    <a:pt x="10754360" y="3000248"/>
                  </a:lnTo>
                  <a:lnTo>
                    <a:pt x="10728960" y="3000248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509760" y="2286000"/>
            <a:ext cx="1280160" cy="1828800"/>
            <a:chOff x="0" y="0"/>
            <a:chExt cx="1706880" cy="2438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06880" cy="2438400"/>
            </a:xfrm>
            <a:custGeom>
              <a:avLst/>
              <a:gdLst/>
              <a:ahLst/>
              <a:cxnLst/>
              <a:rect l="l" t="t" r="r" b="b"/>
              <a:pathLst>
                <a:path w="1706880" h="2438400">
                  <a:moveTo>
                    <a:pt x="0" y="0"/>
                  </a:moveTo>
                  <a:lnTo>
                    <a:pt x="1706880" y="0"/>
                  </a:lnTo>
                  <a:lnTo>
                    <a:pt x="17068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14300"/>
              <a:ext cx="1706880" cy="255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D4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881360" y="2249424"/>
            <a:ext cx="6309360" cy="694944"/>
            <a:chOff x="0" y="0"/>
            <a:chExt cx="841248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4124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Structurally Explicit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81360" y="2980944"/>
            <a:ext cx="6309360" cy="1207008"/>
            <a:chOff x="0" y="0"/>
            <a:chExt cx="8412480" cy="16093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12480" cy="1609344"/>
            </a:xfrm>
            <a:custGeom>
              <a:avLst/>
              <a:gdLst/>
              <a:ahLst/>
              <a:cxnLst/>
              <a:rect l="l" t="t" r="r" b="b"/>
              <a:pathLst>
                <a:path w="8412480" h="1609344">
                  <a:moveTo>
                    <a:pt x="0" y="0"/>
                  </a:moveTo>
                  <a:lnTo>
                    <a:pt x="8412480" y="0"/>
                  </a:lnTo>
                  <a:lnTo>
                    <a:pt x="84124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853" b="-5185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841248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Ripple-carry adder built from primitive full adders — every gate traceable for formal verification.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5350" y="4644390"/>
            <a:ext cx="8084820" cy="2269236"/>
            <a:chOff x="0" y="0"/>
            <a:chExt cx="10779760" cy="3025648"/>
          </a:xfrm>
        </p:grpSpPr>
        <p:sp>
          <p:nvSpPr>
            <p:cNvPr id="33" name="Freeform 33"/>
            <p:cNvSpPr/>
            <p:nvPr/>
          </p:nvSpPr>
          <p:spPr>
            <a:xfrm>
              <a:off x="25400" y="25400"/>
              <a:ext cx="10728960" cy="2974848"/>
            </a:xfrm>
            <a:custGeom>
              <a:avLst/>
              <a:gdLst/>
              <a:ahLst/>
              <a:cxnLst/>
              <a:rect l="l" t="t" r="r" b="b"/>
              <a:pathLst>
                <a:path w="10728960" h="2974848">
                  <a:moveTo>
                    <a:pt x="0" y="0"/>
                  </a:moveTo>
                  <a:lnTo>
                    <a:pt x="10728960" y="0"/>
                  </a:lnTo>
                  <a:lnTo>
                    <a:pt x="107289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779760" cy="3025648"/>
            </a:xfrm>
            <a:custGeom>
              <a:avLst/>
              <a:gdLst/>
              <a:ahLst/>
              <a:cxnLst/>
              <a:rect l="l" t="t" r="r" b="b"/>
              <a:pathLst>
                <a:path w="10779760" h="3025648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3000248"/>
                  </a:lnTo>
                  <a:cubicBezTo>
                    <a:pt x="10779760" y="3014218"/>
                    <a:pt x="10768330" y="3025648"/>
                    <a:pt x="10754360" y="3025648"/>
                  </a:cubicBezTo>
                  <a:lnTo>
                    <a:pt x="25400" y="3025648"/>
                  </a:lnTo>
                  <a:cubicBezTo>
                    <a:pt x="11430" y="3025648"/>
                    <a:pt x="0" y="3014218"/>
                    <a:pt x="0" y="30002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000248"/>
                  </a:lnTo>
                  <a:lnTo>
                    <a:pt x="25400" y="3000248"/>
                  </a:lnTo>
                  <a:lnTo>
                    <a:pt x="25400" y="2974848"/>
                  </a:lnTo>
                  <a:lnTo>
                    <a:pt x="10754360" y="2974848"/>
                  </a:lnTo>
                  <a:lnTo>
                    <a:pt x="10754360" y="3000248"/>
                  </a:lnTo>
                  <a:lnTo>
                    <a:pt x="10728960" y="3000248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B347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97280" y="4846320"/>
            <a:ext cx="1280160" cy="1828800"/>
            <a:chOff x="0" y="0"/>
            <a:chExt cx="1706880" cy="2438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06880" cy="2438400"/>
            </a:xfrm>
            <a:custGeom>
              <a:avLst/>
              <a:gdLst/>
              <a:ahLst/>
              <a:cxnLst/>
              <a:rect l="l" t="t" r="r" b="b"/>
              <a:pathLst>
                <a:path w="1706880" h="2438400">
                  <a:moveTo>
                    <a:pt x="0" y="0"/>
                  </a:moveTo>
                  <a:lnTo>
                    <a:pt x="1706880" y="0"/>
                  </a:lnTo>
                  <a:lnTo>
                    <a:pt x="17068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14300"/>
              <a:ext cx="1706880" cy="255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468880" y="4809744"/>
            <a:ext cx="6309360" cy="694944"/>
            <a:chOff x="0" y="0"/>
            <a:chExt cx="841248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84124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Separation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468880" y="5541264"/>
            <a:ext cx="6309360" cy="1207008"/>
            <a:chOff x="0" y="0"/>
            <a:chExt cx="8412480" cy="16093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412480" cy="1609344"/>
            </a:xfrm>
            <a:custGeom>
              <a:avLst/>
              <a:gdLst/>
              <a:ahLst/>
              <a:cxnLst/>
              <a:rect l="l" t="t" r="r" b="b"/>
              <a:pathLst>
                <a:path w="8412480" h="1609344">
                  <a:moveTo>
                    <a:pt x="0" y="0"/>
                  </a:moveTo>
                  <a:lnTo>
                    <a:pt x="8412480" y="0"/>
                  </a:lnTo>
                  <a:lnTo>
                    <a:pt x="84124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853" b="-5185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41248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Storage, computation, and control are logically partitioned across distinct entities.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07830" y="4644390"/>
            <a:ext cx="8084820" cy="2269236"/>
            <a:chOff x="0" y="0"/>
            <a:chExt cx="10779760" cy="3025648"/>
          </a:xfrm>
        </p:grpSpPr>
        <p:sp>
          <p:nvSpPr>
            <p:cNvPr id="45" name="Freeform 45"/>
            <p:cNvSpPr/>
            <p:nvPr/>
          </p:nvSpPr>
          <p:spPr>
            <a:xfrm>
              <a:off x="25400" y="25400"/>
              <a:ext cx="10728960" cy="2974848"/>
            </a:xfrm>
            <a:custGeom>
              <a:avLst/>
              <a:gdLst/>
              <a:ahLst/>
              <a:cxnLst/>
              <a:rect l="l" t="t" r="r" b="b"/>
              <a:pathLst>
                <a:path w="10728960" h="2974848">
                  <a:moveTo>
                    <a:pt x="0" y="0"/>
                  </a:moveTo>
                  <a:lnTo>
                    <a:pt x="10728960" y="0"/>
                  </a:lnTo>
                  <a:lnTo>
                    <a:pt x="107289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0779760" cy="3025648"/>
            </a:xfrm>
            <a:custGeom>
              <a:avLst/>
              <a:gdLst/>
              <a:ahLst/>
              <a:cxnLst/>
              <a:rect l="l" t="t" r="r" b="b"/>
              <a:pathLst>
                <a:path w="10779760" h="3025648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3000248"/>
                  </a:lnTo>
                  <a:cubicBezTo>
                    <a:pt x="10779760" y="3014218"/>
                    <a:pt x="10768330" y="3025648"/>
                    <a:pt x="10754360" y="3025648"/>
                  </a:cubicBezTo>
                  <a:lnTo>
                    <a:pt x="25400" y="3025648"/>
                  </a:lnTo>
                  <a:cubicBezTo>
                    <a:pt x="11430" y="3025648"/>
                    <a:pt x="0" y="3014218"/>
                    <a:pt x="0" y="30002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000248"/>
                  </a:lnTo>
                  <a:lnTo>
                    <a:pt x="25400" y="3000248"/>
                  </a:lnTo>
                  <a:lnTo>
                    <a:pt x="25400" y="2974848"/>
                  </a:lnTo>
                  <a:lnTo>
                    <a:pt x="10754360" y="2974848"/>
                  </a:lnTo>
                  <a:lnTo>
                    <a:pt x="10754360" y="3000248"/>
                  </a:lnTo>
                  <a:lnTo>
                    <a:pt x="10728960" y="3000248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9509760" y="4846320"/>
            <a:ext cx="1280160" cy="1828800"/>
            <a:chOff x="0" y="0"/>
            <a:chExt cx="1706880" cy="2438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06880" cy="2438400"/>
            </a:xfrm>
            <a:custGeom>
              <a:avLst/>
              <a:gdLst/>
              <a:ahLst/>
              <a:cxnLst/>
              <a:rect l="l" t="t" r="r" b="b"/>
              <a:pathLst>
                <a:path w="1706880" h="2438400">
                  <a:moveTo>
                    <a:pt x="0" y="0"/>
                  </a:moveTo>
                  <a:lnTo>
                    <a:pt x="1706880" y="0"/>
                  </a:lnTo>
                  <a:lnTo>
                    <a:pt x="17068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14300"/>
              <a:ext cx="1706880" cy="255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881360" y="4809744"/>
            <a:ext cx="6309360" cy="694944"/>
            <a:chOff x="0" y="0"/>
            <a:chExt cx="8412480" cy="9265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84124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Deterministic Reset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881360" y="5541264"/>
            <a:ext cx="6309360" cy="1207008"/>
            <a:chOff x="0" y="0"/>
            <a:chExt cx="8412480" cy="16093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412480" cy="1609344"/>
            </a:xfrm>
            <a:custGeom>
              <a:avLst/>
              <a:gdLst/>
              <a:ahLst/>
              <a:cxnLst/>
              <a:rect l="l" t="t" r="r" b="b"/>
              <a:pathLst>
                <a:path w="8412480" h="1609344">
                  <a:moveTo>
                    <a:pt x="0" y="0"/>
                  </a:moveTo>
                  <a:lnTo>
                    <a:pt x="8412480" y="0"/>
                  </a:lnTo>
                  <a:lnTo>
                    <a:pt x="84124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853" b="-5185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41248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registers clear to 0x0000 on reset. Undefined opcodes produce 0x0000. No undefined behavior.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95350" y="7204710"/>
            <a:ext cx="8084820" cy="2269236"/>
            <a:chOff x="0" y="0"/>
            <a:chExt cx="10779760" cy="3025648"/>
          </a:xfrm>
        </p:grpSpPr>
        <p:sp>
          <p:nvSpPr>
            <p:cNvPr id="57" name="Freeform 57"/>
            <p:cNvSpPr/>
            <p:nvPr/>
          </p:nvSpPr>
          <p:spPr>
            <a:xfrm>
              <a:off x="25400" y="25400"/>
              <a:ext cx="10728960" cy="2974848"/>
            </a:xfrm>
            <a:custGeom>
              <a:avLst/>
              <a:gdLst/>
              <a:ahLst/>
              <a:cxnLst/>
              <a:rect l="l" t="t" r="r" b="b"/>
              <a:pathLst>
                <a:path w="10728960" h="2974848">
                  <a:moveTo>
                    <a:pt x="0" y="0"/>
                  </a:moveTo>
                  <a:lnTo>
                    <a:pt x="10728960" y="0"/>
                  </a:lnTo>
                  <a:lnTo>
                    <a:pt x="107289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0779760" cy="3025648"/>
            </a:xfrm>
            <a:custGeom>
              <a:avLst/>
              <a:gdLst/>
              <a:ahLst/>
              <a:cxnLst/>
              <a:rect l="l" t="t" r="r" b="b"/>
              <a:pathLst>
                <a:path w="10779760" h="3025648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3000248"/>
                  </a:lnTo>
                  <a:cubicBezTo>
                    <a:pt x="10779760" y="3014218"/>
                    <a:pt x="10768330" y="3025648"/>
                    <a:pt x="10754360" y="3025648"/>
                  </a:cubicBezTo>
                  <a:lnTo>
                    <a:pt x="25400" y="3025648"/>
                  </a:lnTo>
                  <a:cubicBezTo>
                    <a:pt x="11430" y="3025648"/>
                    <a:pt x="0" y="3014218"/>
                    <a:pt x="0" y="30002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000248"/>
                  </a:lnTo>
                  <a:lnTo>
                    <a:pt x="25400" y="3000248"/>
                  </a:lnTo>
                  <a:lnTo>
                    <a:pt x="25400" y="2974848"/>
                  </a:lnTo>
                  <a:lnTo>
                    <a:pt x="10754360" y="2974848"/>
                  </a:lnTo>
                  <a:lnTo>
                    <a:pt x="10754360" y="3000248"/>
                  </a:lnTo>
                  <a:lnTo>
                    <a:pt x="10728960" y="3000248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97280" y="7406640"/>
            <a:ext cx="1280160" cy="1828800"/>
            <a:chOff x="0" y="0"/>
            <a:chExt cx="1706880" cy="2438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706880" cy="2438400"/>
            </a:xfrm>
            <a:custGeom>
              <a:avLst/>
              <a:gdLst/>
              <a:ahLst/>
              <a:cxnLst/>
              <a:rect l="l" t="t" r="r" b="b"/>
              <a:pathLst>
                <a:path w="1706880" h="2438400">
                  <a:moveTo>
                    <a:pt x="0" y="0"/>
                  </a:moveTo>
                  <a:lnTo>
                    <a:pt x="1706880" y="0"/>
                  </a:lnTo>
                  <a:lnTo>
                    <a:pt x="17068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14300"/>
              <a:ext cx="1706880" cy="255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468880" y="7370064"/>
            <a:ext cx="6309360" cy="694944"/>
            <a:chOff x="0" y="0"/>
            <a:chExt cx="8412480" cy="9265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84124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97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 Crypto Classes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468880" y="8101584"/>
            <a:ext cx="6309360" cy="1207008"/>
            <a:chOff x="0" y="0"/>
            <a:chExt cx="8412480" cy="160934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412480" cy="1609344"/>
            </a:xfrm>
            <a:custGeom>
              <a:avLst/>
              <a:gdLst/>
              <a:ahLst/>
              <a:cxnLst/>
              <a:rect l="l" t="t" r="r" b="b"/>
              <a:pathLst>
                <a:path w="8412480" h="1609344">
                  <a:moveTo>
                    <a:pt x="0" y="0"/>
                  </a:moveTo>
                  <a:lnTo>
                    <a:pt x="8412480" y="0"/>
                  </a:lnTo>
                  <a:lnTo>
                    <a:pt x="84124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853" b="-5185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841248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ALU + Shifter + S-Box in one integrated 16-bit datapath — covers arithmetic, diffusion, and confusion.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307830" y="7204710"/>
            <a:ext cx="8084820" cy="2269236"/>
            <a:chOff x="0" y="0"/>
            <a:chExt cx="10779760" cy="3025648"/>
          </a:xfrm>
        </p:grpSpPr>
        <p:sp>
          <p:nvSpPr>
            <p:cNvPr id="69" name="Freeform 69"/>
            <p:cNvSpPr/>
            <p:nvPr/>
          </p:nvSpPr>
          <p:spPr>
            <a:xfrm>
              <a:off x="25400" y="25400"/>
              <a:ext cx="10728960" cy="2974848"/>
            </a:xfrm>
            <a:custGeom>
              <a:avLst/>
              <a:gdLst/>
              <a:ahLst/>
              <a:cxnLst/>
              <a:rect l="l" t="t" r="r" b="b"/>
              <a:pathLst>
                <a:path w="10728960" h="2974848">
                  <a:moveTo>
                    <a:pt x="0" y="0"/>
                  </a:moveTo>
                  <a:lnTo>
                    <a:pt x="10728960" y="0"/>
                  </a:lnTo>
                  <a:lnTo>
                    <a:pt x="107289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0779760" cy="3025648"/>
            </a:xfrm>
            <a:custGeom>
              <a:avLst/>
              <a:gdLst/>
              <a:ahLst/>
              <a:cxnLst/>
              <a:rect l="l" t="t" r="r" b="b"/>
              <a:pathLst>
                <a:path w="10779760" h="3025648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3000248"/>
                  </a:lnTo>
                  <a:cubicBezTo>
                    <a:pt x="10779760" y="3014218"/>
                    <a:pt x="10768330" y="3025648"/>
                    <a:pt x="10754360" y="3025648"/>
                  </a:cubicBezTo>
                  <a:lnTo>
                    <a:pt x="25400" y="3025648"/>
                  </a:lnTo>
                  <a:cubicBezTo>
                    <a:pt x="11430" y="3025648"/>
                    <a:pt x="0" y="3014218"/>
                    <a:pt x="0" y="30002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000248"/>
                  </a:lnTo>
                  <a:lnTo>
                    <a:pt x="25400" y="3000248"/>
                  </a:lnTo>
                  <a:lnTo>
                    <a:pt x="25400" y="2974848"/>
                  </a:lnTo>
                  <a:lnTo>
                    <a:pt x="10754360" y="2974848"/>
                  </a:lnTo>
                  <a:lnTo>
                    <a:pt x="10754360" y="3000248"/>
                  </a:lnTo>
                  <a:lnTo>
                    <a:pt x="10728960" y="3000248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FA8B8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509760" y="7406640"/>
            <a:ext cx="1280160" cy="1828800"/>
            <a:chOff x="0" y="0"/>
            <a:chExt cx="1706880" cy="2438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706880" cy="2438400"/>
            </a:xfrm>
            <a:custGeom>
              <a:avLst/>
              <a:gdLst/>
              <a:ahLst/>
              <a:cxnLst/>
              <a:rect l="l" t="t" r="r" b="b"/>
              <a:pathLst>
                <a:path w="1706880" h="2438400">
                  <a:moveTo>
                    <a:pt x="0" y="0"/>
                  </a:moveTo>
                  <a:lnTo>
                    <a:pt x="1706880" y="0"/>
                  </a:lnTo>
                  <a:lnTo>
                    <a:pt x="17068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14300"/>
              <a:ext cx="1706880" cy="255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◇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881360" y="7370064"/>
            <a:ext cx="6309360" cy="694944"/>
            <a:chOff x="0" y="0"/>
            <a:chExt cx="8412480" cy="9265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84124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8FA8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VHDL Best Practices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881360" y="8101584"/>
            <a:ext cx="6309360" cy="1207008"/>
            <a:chOff x="0" y="0"/>
            <a:chExt cx="8412480" cy="160934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412480" cy="1609344"/>
            </a:xfrm>
            <a:custGeom>
              <a:avLst/>
              <a:gdLst/>
              <a:ahLst/>
              <a:cxnLst/>
              <a:rect l="l" t="t" r="r" b="b"/>
              <a:pathLst>
                <a:path w="8412480" h="1609344">
                  <a:moveTo>
                    <a:pt x="0" y="0"/>
                  </a:moveTo>
                  <a:lnTo>
                    <a:pt x="8412480" y="0"/>
                  </a:lnTo>
                  <a:lnTo>
                    <a:pt x="84124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853" b="-5185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841248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ieee.numeric_std throughout. Hybrid reset synchronizer prevents metastability.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24663"/>
            <a:ext cx="16484603" cy="80267"/>
            <a:chOff x="0" y="0"/>
            <a:chExt cx="21979471" cy="1070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1945599" cy="73152"/>
            </a:xfrm>
            <a:custGeom>
              <a:avLst/>
              <a:gdLst/>
              <a:ahLst/>
              <a:cxnLst/>
              <a:rect l="l" t="t" r="r" b="b"/>
              <a:pathLst>
                <a:path w="21945599" h="73152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1979382" cy="106936"/>
            </a:xfrm>
            <a:custGeom>
              <a:avLst/>
              <a:gdLst/>
              <a:ahLst/>
              <a:cxnLst/>
              <a:rect l="l" t="t" r="r" b="b"/>
              <a:pathLst>
                <a:path w="21979382" h="106936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95350" y="1992630"/>
            <a:ext cx="7901940" cy="5707380"/>
            <a:chOff x="0" y="0"/>
            <a:chExt cx="10535920" cy="7609840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485120" cy="7559040"/>
            </a:xfrm>
            <a:custGeom>
              <a:avLst/>
              <a:gdLst/>
              <a:ahLst/>
              <a:cxnLst/>
              <a:rect l="l" t="t" r="r" b="b"/>
              <a:pathLst>
                <a:path w="10485120" h="7559040">
                  <a:moveTo>
                    <a:pt x="0" y="0"/>
                  </a:moveTo>
                  <a:lnTo>
                    <a:pt x="10485120" y="0"/>
                  </a:lnTo>
                  <a:lnTo>
                    <a:pt x="1048512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535920" cy="7609840"/>
            </a:xfrm>
            <a:custGeom>
              <a:avLst/>
              <a:gdLst/>
              <a:ahLst/>
              <a:cxnLst/>
              <a:rect l="l" t="t" r="r" b="b"/>
              <a:pathLst>
                <a:path w="10535920" h="7609840">
                  <a:moveTo>
                    <a:pt x="25400" y="0"/>
                  </a:moveTo>
                  <a:lnTo>
                    <a:pt x="10510520" y="0"/>
                  </a:lnTo>
                  <a:cubicBezTo>
                    <a:pt x="10524489" y="0"/>
                    <a:pt x="10535920" y="11430"/>
                    <a:pt x="10535920" y="25400"/>
                  </a:cubicBezTo>
                  <a:lnTo>
                    <a:pt x="10535920" y="7584440"/>
                  </a:lnTo>
                  <a:cubicBezTo>
                    <a:pt x="10535920" y="7598410"/>
                    <a:pt x="10524489" y="7609840"/>
                    <a:pt x="10510520" y="7609840"/>
                  </a:cubicBezTo>
                  <a:lnTo>
                    <a:pt x="25400" y="7609840"/>
                  </a:lnTo>
                  <a:cubicBezTo>
                    <a:pt x="11430" y="7609840"/>
                    <a:pt x="0" y="7598410"/>
                    <a:pt x="0" y="7584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584440"/>
                  </a:lnTo>
                  <a:lnTo>
                    <a:pt x="25400" y="7584440"/>
                  </a:lnTo>
                  <a:lnTo>
                    <a:pt x="25400" y="7559040"/>
                  </a:lnTo>
                  <a:lnTo>
                    <a:pt x="10510520" y="7559040"/>
                  </a:lnTo>
                  <a:lnTo>
                    <a:pt x="10510520" y="7584440"/>
                  </a:lnTo>
                  <a:lnTo>
                    <a:pt x="10485120" y="7584440"/>
                  </a:lnTo>
                  <a:lnTo>
                    <a:pt x="10485120" y="25400"/>
                  </a:lnTo>
                  <a:lnTo>
                    <a:pt x="10510520" y="25400"/>
                  </a:lnTo>
                  <a:lnTo>
                    <a:pt x="10510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2103120"/>
            <a:ext cx="7498080" cy="768096"/>
            <a:chOff x="0" y="0"/>
            <a:chExt cx="99974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97440" cy="1024128"/>
            </a:xfrm>
            <a:custGeom>
              <a:avLst/>
              <a:gdLst/>
              <a:ahLst/>
              <a:cxnLst/>
              <a:rect l="l" t="t" r="r" b="b"/>
              <a:pathLst>
                <a:path w="9997440" h="1024128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211" b="-14021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999744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C6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Built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7280" y="3017520"/>
            <a:ext cx="7498080" cy="4389120"/>
            <a:chOff x="0" y="0"/>
            <a:chExt cx="9997440" cy="58521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97440" cy="5852160"/>
            </a:xfrm>
            <a:custGeom>
              <a:avLst/>
              <a:gdLst/>
              <a:ahLst/>
              <a:cxnLst/>
              <a:rect l="l" t="t" r="r" b="b"/>
              <a:pathLst>
                <a:path w="9997440" h="5852160">
                  <a:moveTo>
                    <a:pt x="0" y="0"/>
                  </a:moveTo>
                  <a:lnTo>
                    <a:pt x="9997440" y="0"/>
                  </a:lnTo>
                  <a:lnTo>
                    <a:pt x="999744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104" r="-2510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997440" cy="5890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functional 16-bit cryptographic coprocessor in VHDL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execution units: ALU (7 ops), Shifter (3 ops), LUT (S-Box)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16×16-bit register file with async read / sync write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unit decoding 4-bit opcodes into datapath signals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 testbench suite at unit + integration level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24950" y="1992630"/>
            <a:ext cx="8267700" cy="5707380"/>
            <a:chOff x="0" y="0"/>
            <a:chExt cx="11023600" cy="7609840"/>
          </a:xfrm>
        </p:grpSpPr>
        <p:sp>
          <p:nvSpPr>
            <p:cNvPr id="18" name="Freeform 18"/>
            <p:cNvSpPr/>
            <p:nvPr/>
          </p:nvSpPr>
          <p:spPr>
            <a:xfrm>
              <a:off x="25400" y="25400"/>
              <a:ext cx="10972800" cy="7559040"/>
            </a:xfrm>
            <a:custGeom>
              <a:avLst/>
              <a:gdLst/>
              <a:ahLst/>
              <a:cxnLst/>
              <a:rect l="l" t="t" r="r" b="b"/>
              <a:pathLst>
                <a:path w="10972800" h="7559040">
                  <a:moveTo>
                    <a:pt x="0" y="0"/>
                  </a:moveTo>
                  <a:lnTo>
                    <a:pt x="10972800" y="0"/>
                  </a:lnTo>
                  <a:lnTo>
                    <a:pt x="1097280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1023600" cy="7609840"/>
            </a:xfrm>
            <a:custGeom>
              <a:avLst/>
              <a:gdLst/>
              <a:ahLst/>
              <a:cxnLst/>
              <a:rect l="l" t="t" r="r" b="b"/>
              <a:pathLst>
                <a:path w="11023600" h="760984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7584440"/>
                  </a:lnTo>
                  <a:cubicBezTo>
                    <a:pt x="11023600" y="7598410"/>
                    <a:pt x="11012170" y="7609840"/>
                    <a:pt x="10998200" y="7609840"/>
                  </a:cubicBezTo>
                  <a:lnTo>
                    <a:pt x="25400" y="7609840"/>
                  </a:lnTo>
                  <a:cubicBezTo>
                    <a:pt x="11430" y="7609840"/>
                    <a:pt x="0" y="7598410"/>
                    <a:pt x="0" y="7584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584440"/>
                  </a:lnTo>
                  <a:lnTo>
                    <a:pt x="25400" y="7584440"/>
                  </a:lnTo>
                  <a:lnTo>
                    <a:pt x="25400" y="7559040"/>
                  </a:lnTo>
                  <a:lnTo>
                    <a:pt x="10998200" y="7559040"/>
                  </a:lnTo>
                  <a:lnTo>
                    <a:pt x="10998200" y="7584440"/>
                  </a:lnTo>
                  <a:lnTo>
                    <a:pt x="10972800" y="75844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7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326880" y="2103120"/>
            <a:ext cx="7863840" cy="768096"/>
            <a:chOff x="0" y="0"/>
            <a:chExt cx="10485120" cy="1024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85120" cy="1024128"/>
            </a:xfrm>
            <a:custGeom>
              <a:avLst/>
              <a:gdLst/>
              <a:ahLst/>
              <a:cxnLst/>
              <a:rect l="l" t="t" r="r" b="b"/>
              <a:pathLst>
                <a:path w="10485120" h="1024128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489" b="-14948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04851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Learned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26880" y="3017520"/>
            <a:ext cx="7863840" cy="4389120"/>
            <a:chOff x="0" y="0"/>
            <a:chExt cx="10485120" cy="5852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85120" cy="5852160"/>
            </a:xfrm>
            <a:custGeom>
              <a:avLst/>
              <a:gdLst/>
              <a:ahLst/>
              <a:cxnLst/>
              <a:rect l="l" t="t" r="r" b="b"/>
              <a:pathLst>
                <a:path w="10485120" h="585216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485120" cy="5890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dedicated hardware accelerates &amp; secures cryptography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Structural vs behavioral VHDL — when to use each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design: independent units → easier testing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Bottom-up verification: test primitives before integration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of S-Boxes in resisting linear &amp; differential cryptanalysis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703" y="7942583"/>
            <a:ext cx="16484603" cy="1305563"/>
            <a:chOff x="0" y="0"/>
            <a:chExt cx="21979471" cy="174075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21945599" cy="1706880"/>
            </a:xfrm>
            <a:custGeom>
              <a:avLst/>
              <a:gdLst/>
              <a:ahLst/>
              <a:cxnLst/>
              <a:rect l="l" t="t" r="r" b="b"/>
              <a:pathLst>
                <a:path w="21945599" h="1706880">
                  <a:moveTo>
                    <a:pt x="0" y="0"/>
                  </a:moveTo>
                  <a:lnTo>
                    <a:pt x="21945599" y="0"/>
                  </a:lnTo>
                  <a:lnTo>
                    <a:pt x="219455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21979382" cy="1740662"/>
            </a:xfrm>
            <a:custGeom>
              <a:avLst/>
              <a:gdLst/>
              <a:ahLst/>
              <a:cxnLst/>
              <a:rect l="l" t="t" r="r" b="b"/>
              <a:pathLst>
                <a:path w="21979382" h="174066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723771"/>
                  </a:lnTo>
                  <a:cubicBezTo>
                    <a:pt x="21979382" y="1733169"/>
                    <a:pt x="21971763" y="1740662"/>
                    <a:pt x="219624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962490" y="1706880"/>
                  </a:lnTo>
                  <a:lnTo>
                    <a:pt x="21962490" y="1723771"/>
                  </a:lnTo>
                  <a:lnTo>
                    <a:pt x="21945600" y="172377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05840" y="8046720"/>
            <a:ext cx="16276320" cy="1097280"/>
            <a:chOff x="0" y="0"/>
            <a:chExt cx="2170176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01761" cy="1463040"/>
            </a:xfrm>
            <a:custGeom>
              <a:avLst/>
              <a:gdLst/>
              <a:ahLst/>
              <a:cxnLst/>
              <a:rect l="l" t="t" r="r" b="b"/>
              <a:pathLst>
                <a:path w="21701761" h="1463040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028" b="-23902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2170176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i="1">
                  <a:solidFill>
                    <a:srgbClr val="00C6D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Crypto16 bridges basic digital logic and real-world cryptographic hardware design.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281435" cy="10312403"/>
            <a:chOff x="0" y="0"/>
            <a:chExt cx="375247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341376" cy="13715999"/>
            </a:xfrm>
            <a:custGeom>
              <a:avLst/>
              <a:gdLst/>
              <a:ahLst/>
              <a:cxnLst/>
              <a:rect l="l" t="t" r="r" b="b"/>
              <a:pathLst>
                <a:path w="341376" h="13715999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75158" cy="13749782"/>
            </a:xfrm>
            <a:custGeom>
              <a:avLst/>
              <a:gdLst/>
              <a:ahLst/>
              <a:cxnLst/>
              <a:rect l="l" t="t" r="r" b="b"/>
              <a:pathLst>
                <a:path w="375158" h="13749782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914400"/>
            <a:ext cx="16824960" cy="2194560"/>
            <a:chOff x="0" y="0"/>
            <a:chExt cx="22433280" cy="29260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33280" cy="2926080"/>
            </a:xfrm>
            <a:custGeom>
              <a:avLst/>
              <a:gdLst/>
              <a:ahLst/>
              <a:cxnLst/>
              <a:rect l="l" t="t" r="r" b="b"/>
              <a:pathLst>
                <a:path w="22433280" h="2926080">
                  <a:moveTo>
                    <a:pt x="0" y="0"/>
                  </a:moveTo>
                  <a:lnTo>
                    <a:pt x="22433280" y="0"/>
                  </a:lnTo>
                  <a:lnTo>
                    <a:pt x="22433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76225"/>
              <a:ext cx="22433280" cy="3202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319"/>
                </a:lnSpc>
              </a:pPr>
              <a:r>
                <a:rPr lang="en-US" sz="1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1520" y="2926080"/>
            <a:ext cx="16824960" cy="1371600"/>
            <a:chOff x="0" y="0"/>
            <a:chExt cx="22433280" cy="182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33280" cy="1828800"/>
            </a:xfrm>
            <a:custGeom>
              <a:avLst/>
              <a:gdLst/>
              <a:ahLst/>
              <a:cxnLst/>
              <a:rect l="l" t="t" r="r" b="b"/>
              <a:pathLst>
                <a:path w="22433280" h="182880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016" b="-1890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61925"/>
              <a:ext cx="22433280" cy="199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>
                  <a:solidFill>
                    <a:srgbClr val="00C6D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4467863"/>
            <a:ext cx="10998203" cy="80267"/>
            <a:chOff x="0" y="0"/>
            <a:chExt cx="14664271" cy="10702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4630399" cy="73152"/>
            </a:xfrm>
            <a:custGeom>
              <a:avLst/>
              <a:gdLst/>
              <a:ahLst/>
              <a:cxnLst/>
              <a:rect l="l" t="t" r="r" b="b"/>
              <a:pathLst>
                <a:path w="14630399" h="73152">
                  <a:moveTo>
                    <a:pt x="0" y="0"/>
                  </a:moveTo>
                  <a:lnTo>
                    <a:pt x="14630399" y="0"/>
                  </a:lnTo>
                  <a:lnTo>
                    <a:pt x="146303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4664182" cy="106936"/>
            </a:xfrm>
            <a:custGeom>
              <a:avLst/>
              <a:gdLst/>
              <a:ahLst/>
              <a:cxnLst/>
              <a:rect l="l" t="t" r="r" b="b"/>
              <a:pathLst>
                <a:path w="14664182" h="106936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90043"/>
                  </a:lnTo>
                  <a:cubicBezTo>
                    <a:pt x="14664182" y="99441"/>
                    <a:pt x="14656563" y="106934"/>
                    <a:pt x="146472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4647290" y="73152"/>
                  </a:lnTo>
                  <a:lnTo>
                    <a:pt x="14647290" y="90043"/>
                  </a:lnTo>
                  <a:lnTo>
                    <a:pt x="14630400" y="900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31520" y="4754880"/>
            <a:ext cx="16459200" cy="694944"/>
            <a:chOff x="0" y="0"/>
            <a:chExt cx="21945600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8FA8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8714" y="5659568"/>
            <a:ext cx="8072123" cy="1086107"/>
            <a:chOff x="0" y="0"/>
            <a:chExt cx="10762831" cy="144814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0728960" cy="1414272"/>
            </a:xfrm>
            <a:custGeom>
              <a:avLst/>
              <a:gdLst/>
              <a:ahLst/>
              <a:cxnLst/>
              <a:rect l="l" t="t" r="r" b="b"/>
              <a:pathLst>
                <a:path w="10728960" h="1414272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43B5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0762742" cy="1448054"/>
            </a:xfrm>
            <a:custGeom>
              <a:avLst/>
              <a:gdLst/>
              <a:ahLst/>
              <a:cxnLst/>
              <a:rect l="l" t="t" r="r" b="b"/>
              <a:pathLst>
                <a:path w="10762742" h="144805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18823" y="5656583"/>
            <a:ext cx="135131" cy="1086107"/>
            <a:chOff x="0" y="0"/>
            <a:chExt cx="180175" cy="1448143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005840" y="4321032"/>
            <a:ext cx="13380720" cy="1896888"/>
            <a:chOff x="0" y="-1846432"/>
            <a:chExt cx="17840960" cy="2529184"/>
          </a:xfrm>
        </p:grpSpPr>
        <p:sp>
          <p:nvSpPr>
            <p:cNvPr id="24" name="Freeform 24"/>
            <p:cNvSpPr/>
            <p:nvPr/>
          </p:nvSpPr>
          <p:spPr>
            <a:xfrm>
              <a:off x="7599680" y="-1846432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endParaRPr lang="en-US" sz="24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6217920"/>
            <a:ext cx="7680960" cy="402336"/>
            <a:chOff x="0" y="0"/>
            <a:chExt cx="10241280" cy="5364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536448"/>
            </a:xfrm>
            <a:custGeom>
              <a:avLst/>
              <a:gdLst/>
              <a:ahLst/>
              <a:cxnLst/>
              <a:rect l="l" t="t" r="r" b="b"/>
              <a:pathLst>
                <a:path w="10241280" h="536448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dirty="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Coprocessor Integration, Control Unit, Presentation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8823" y="6936743"/>
            <a:ext cx="8072123" cy="1086107"/>
            <a:chOff x="0" y="0"/>
            <a:chExt cx="10762831" cy="144814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0728960" cy="1414272"/>
            </a:xfrm>
            <a:custGeom>
              <a:avLst/>
              <a:gdLst/>
              <a:ahLst/>
              <a:cxnLst/>
              <a:rect l="l" t="t" r="r" b="b"/>
              <a:pathLst>
                <a:path w="10728960" h="1414272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0762742" cy="1448054"/>
            </a:xfrm>
            <a:custGeom>
              <a:avLst/>
              <a:gdLst/>
              <a:ahLst/>
              <a:cxnLst/>
              <a:rect l="l" t="t" r="r" b="b"/>
              <a:pathLst>
                <a:path w="10762742" h="144805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718823" y="6936743"/>
            <a:ext cx="135131" cy="1086107"/>
            <a:chOff x="0" y="0"/>
            <a:chExt cx="180175" cy="1448143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05840" y="6986016"/>
            <a:ext cx="7680960" cy="512064"/>
            <a:chOff x="0" y="0"/>
            <a:chExt cx="1024128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Ibraheem Shaaban Abdel Nabi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498080"/>
            <a:ext cx="7680960" cy="402336"/>
            <a:chOff x="0" y="0"/>
            <a:chExt cx="10241280" cy="5364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536448"/>
            </a:xfrm>
            <a:custGeom>
              <a:avLst/>
              <a:gdLst/>
              <a:ahLst/>
              <a:cxnLst/>
              <a:rect l="l" t="t" r="r" b="b"/>
              <a:pathLst>
                <a:path w="10241280" h="536448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LUT, Report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8823" y="8216903"/>
            <a:ext cx="8072123" cy="1086107"/>
            <a:chOff x="0" y="0"/>
            <a:chExt cx="10762831" cy="144814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0728960" cy="1414272"/>
            </a:xfrm>
            <a:custGeom>
              <a:avLst/>
              <a:gdLst/>
              <a:ahLst/>
              <a:cxnLst/>
              <a:rect l="l" t="t" r="r" b="b"/>
              <a:pathLst>
                <a:path w="10728960" h="1414272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10762742" cy="1448054"/>
            </a:xfrm>
            <a:custGeom>
              <a:avLst/>
              <a:gdLst/>
              <a:ahLst/>
              <a:cxnLst/>
              <a:rect l="l" t="t" r="r" b="b"/>
              <a:pathLst>
                <a:path w="10762742" h="144805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718823" y="8216903"/>
            <a:ext cx="135131" cy="1086107"/>
            <a:chOff x="0" y="0"/>
            <a:chExt cx="180175" cy="1448143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05840" y="8266176"/>
            <a:ext cx="7680960" cy="512064"/>
            <a:chOff x="0" y="0"/>
            <a:chExt cx="10241280" cy="6827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Ahmed Tharwat Salah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05840" y="8778240"/>
            <a:ext cx="7680960" cy="402336"/>
            <a:chOff x="0" y="0"/>
            <a:chExt cx="10241280" cy="5364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41280" cy="536448"/>
            </a:xfrm>
            <a:custGeom>
              <a:avLst/>
              <a:gdLst/>
              <a:ahLst/>
              <a:cxnLst/>
              <a:rect l="l" t="t" r="r" b="b"/>
              <a:pathLst>
                <a:path w="10241280" h="536448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Combinational Integration, Presentation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31303" y="5656583"/>
            <a:ext cx="8072123" cy="1086107"/>
            <a:chOff x="0" y="0"/>
            <a:chExt cx="10762831" cy="1448143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0728960" cy="1414272"/>
            </a:xfrm>
            <a:custGeom>
              <a:avLst/>
              <a:gdLst/>
              <a:ahLst/>
              <a:cxnLst/>
              <a:rect l="l" t="t" r="r" b="b"/>
              <a:pathLst>
                <a:path w="10728960" h="1414272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0762742" cy="1448054"/>
            </a:xfrm>
            <a:custGeom>
              <a:avLst/>
              <a:gdLst/>
              <a:ahLst/>
              <a:cxnLst/>
              <a:rect l="l" t="t" r="r" b="b"/>
              <a:pathLst>
                <a:path w="10762742" h="144805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131303" y="5656583"/>
            <a:ext cx="135131" cy="1086107"/>
            <a:chOff x="0" y="0"/>
            <a:chExt cx="180175" cy="1448143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418320" y="5705856"/>
            <a:ext cx="7680960" cy="512064"/>
            <a:chOff x="0" y="0"/>
            <a:chExt cx="10241280" cy="6827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Ahmed Salah Abdel Majeed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18320" y="6217920"/>
            <a:ext cx="7680960" cy="402336"/>
            <a:chOff x="0" y="0"/>
            <a:chExt cx="10241280" cy="5364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241280" cy="536448"/>
            </a:xfrm>
            <a:custGeom>
              <a:avLst/>
              <a:gdLst/>
              <a:ahLst/>
              <a:cxnLst/>
              <a:rect l="l" t="t" r="r" b="b"/>
              <a:pathLst>
                <a:path w="10241280" h="536448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Shifter, Schematic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131303" y="6936743"/>
            <a:ext cx="8072123" cy="1086107"/>
            <a:chOff x="0" y="0"/>
            <a:chExt cx="10762831" cy="1448143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10728960" cy="1414272"/>
            </a:xfrm>
            <a:custGeom>
              <a:avLst/>
              <a:gdLst/>
              <a:ahLst/>
              <a:cxnLst/>
              <a:rect l="l" t="t" r="r" b="b"/>
              <a:pathLst>
                <a:path w="10728960" h="1414272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10762742" cy="1448054"/>
            </a:xfrm>
            <a:custGeom>
              <a:avLst/>
              <a:gdLst/>
              <a:ahLst/>
              <a:cxnLst/>
              <a:rect l="l" t="t" r="r" b="b"/>
              <a:pathLst>
                <a:path w="10762742" h="144805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9131303" y="6936743"/>
            <a:ext cx="135131" cy="1086107"/>
            <a:chOff x="0" y="0"/>
            <a:chExt cx="180175" cy="144814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418320" y="6986016"/>
            <a:ext cx="7680960" cy="512064"/>
            <a:chOff x="0" y="0"/>
            <a:chExt cx="10241280" cy="68275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Ahmed Abdel Fattah Elmallah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418320" y="7498080"/>
            <a:ext cx="7680960" cy="402336"/>
            <a:chOff x="0" y="0"/>
            <a:chExt cx="1024128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241280" cy="536448"/>
            </a:xfrm>
            <a:custGeom>
              <a:avLst/>
              <a:gdLst/>
              <a:ahLst/>
              <a:cxnLst/>
              <a:rect l="l" t="t" r="r" b="b"/>
              <a:pathLst>
                <a:path w="10241280" h="536448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ALU, Schematic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31303" y="8216903"/>
            <a:ext cx="8072123" cy="1086107"/>
            <a:chOff x="0" y="0"/>
            <a:chExt cx="10762831" cy="1448143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10728960" cy="1414272"/>
            </a:xfrm>
            <a:custGeom>
              <a:avLst/>
              <a:gdLst/>
              <a:ahLst/>
              <a:cxnLst/>
              <a:rect l="l" t="t" r="r" b="b"/>
              <a:pathLst>
                <a:path w="10728960" h="1414272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43B55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10762742" cy="1448054"/>
            </a:xfrm>
            <a:custGeom>
              <a:avLst/>
              <a:gdLst/>
              <a:ahLst/>
              <a:cxnLst/>
              <a:rect l="l" t="t" r="r" b="b"/>
              <a:pathLst>
                <a:path w="10762742" h="144805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2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9131303" y="8216903"/>
            <a:ext cx="135131" cy="1086107"/>
            <a:chOff x="0" y="0"/>
            <a:chExt cx="180175" cy="1448143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C6D7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D7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9418320" y="8266176"/>
            <a:ext cx="7680960" cy="512064"/>
            <a:chOff x="0" y="0"/>
            <a:chExt cx="10241280" cy="68275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Wateen Walid Mohamed Baree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418320" y="8778240"/>
            <a:ext cx="7680960" cy="402336"/>
            <a:chOff x="0" y="0"/>
            <a:chExt cx="10241280" cy="53644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241280" cy="536448"/>
            </a:xfrm>
            <a:custGeom>
              <a:avLst/>
              <a:gdLst/>
              <a:ahLst/>
              <a:cxnLst/>
              <a:rect l="l" t="t" r="r" b="b"/>
              <a:pathLst>
                <a:path w="10241280" h="536448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dirty="0">
                  <a:solidFill>
                    <a:srgbClr val="8FA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 file, Report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1520" y="9656064"/>
            <a:ext cx="16459200" cy="457200"/>
            <a:chOff x="0" y="0"/>
            <a:chExt cx="21945600" cy="6096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1945600" cy="609600"/>
            </a:xfrm>
            <a:custGeom>
              <a:avLst/>
              <a:gdLst/>
              <a:ahLst/>
              <a:cxnLst/>
              <a:rect l="l" t="t" r="r" b="b"/>
              <a:pathLst>
                <a:path w="21945600" h="609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b="-651461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226 — Hardware Design  •  Zagazig University</a:t>
              </a: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8DBEC569-DD4B-5919-4DCD-BD9D4472B0BD}"/>
              </a:ext>
            </a:extLst>
          </p:cNvPr>
          <p:cNvSpPr txBox="1"/>
          <p:nvPr/>
        </p:nvSpPr>
        <p:spPr>
          <a:xfrm>
            <a:off x="910867" y="5771606"/>
            <a:ext cx="9298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 (MS) Bold"/>
                <a:cs typeface="Calibri (MS) Bold"/>
                <a:sym typeface="Calibri (MS) Bold"/>
              </a:rPr>
              <a:t>Ahmed Mahmoud Abdel Fattah</a:t>
            </a:r>
            <a:endParaRPr lang="en-US" sz="2400" b="1" dirty="0">
              <a:solidFill>
                <a:srgbClr val="FFFFFF"/>
              </a:solidFill>
              <a:latin typeface="Calibri (MS) Bold"/>
              <a:cs typeface="Calibri (MS)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1816</Words>
  <Application>Microsoft Office PowerPoint</Application>
  <PresentationFormat>Custom</PresentationFormat>
  <Paragraphs>567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Calibri (MS) Light</vt:lpstr>
      <vt:lpstr>Arial</vt:lpstr>
      <vt:lpstr>Calibri (MS) Bold</vt:lpstr>
      <vt:lpstr>Calibri (MS) Bold Italics</vt:lpstr>
      <vt:lpstr>Consolas Bold</vt:lpstr>
      <vt:lpstr>Calibri</vt:lpstr>
      <vt:lpstr>Inter Bold</vt:lpstr>
      <vt:lpstr>Inter Light Italics</vt:lpstr>
      <vt:lpstr>Antonio</vt:lpstr>
      <vt:lpstr>Courier New</vt:lpstr>
      <vt:lpstr>Calibri (MS)</vt:lpstr>
      <vt:lpstr>Calibri (MS) Italics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Crypto16_Presentation.pptx</dc:title>
  <cp:lastModifiedBy>20812023100052</cp:lastModifiedBy>
  <cp:revision>12</cp:revision>
  <dcterms:created xsi:type="dcterms:W3CDTF">2006-08-16T00:00:00Z</dcterms:created>
  <dcterms:modified xsi:type="dcterms:W3CDTF">2026-05-16T09:02:40Z</dcterms:modified>
  <dc:identifier>DAHI3mGRgHI</dc:identifier>
</cp:coreProperties>
</file>